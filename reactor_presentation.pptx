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114"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283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18.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1.png"/><Relationship Id="rId3" Type="http://schemas.openxmlformats.org/officeDocument/2006/relationships/image" Target="../media/image17.png"/><Relationship Id="rId7" Type="http://schemas.openxmlformats.org/officeDocument/2006/relationships/image" Target="../media/image46.png"/><Relationship Id="rId12"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49.png"/><Relationship Id="rId5" Type="http://schemas.openxmlformats.org/officeDocument/2006/relationships/image" Target="../media/image27.png"/><Relationship Id="rId15" Type="http://schemas.openxmlformats.org/officeDocument/2006/relationships/image" Target="../media/image53.png"/><Relationship Id="rId10" Type="http://schemas.openxmlformats.org/officeDocument/2006/relationships/image" Target="../media/image19.png"/><Relationship Id="rId4" Type="http://schemas.openxmlformats.org/officeDocument/2006/relationships/image" Target="../media/image45.png"/><Relationship Id="rId9" Type="http://schemas.openxmlformats.org/officeDocument/2006/relationships/image" Target="../media/image48.png"/><Relationship Id="rId14"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55.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8.png"/><Relationship Id="rId7"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43.png"/><Relationship Id="rId10" Type="http://schemas.openxmlformats.org/officeDocument/2006/relationships/image" Target="../media/image57.png"/><Relationship Id="rId4" Type="http://schemas.openxmlformats.org/officeDocument/2006/relationships/image" Target="../media/image27.png"/><Relationship Id="rId9" Type="http://schemas.openxmlformats.org/officeDocument/2006/relationships/image" Target="../media/image56.png"/></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2103120" y="3840480"/>
            <a:ext cx="4937760" cy="4937760"/>
          </a:xfrm>
          <a:prstGeom prst="ellipse">
            <a:avLst/>
          </a:prstGeom>
          <a:solidFill>
            <a:srgbClr val="112C52"/>
          </a:solidFill>
          <a:ln/>
        </p:spPr>
      </p:sp>
      <p:sp>
        <p:nvSpPr>
          <p:cNvPr id="3" name="Shape 1"/>
          <p:cNvSpPr/>
          <p:nvPr/>
        </p:nvSpPr>
        <p:spPr>
          <a:xfrm>
            <a:off x="-1188720" y="4754880"/>
            <a:ext cx="3108960" cy="3108960"/>
          </a:xfrm>
          <a:prstGeom prst="ellipse">
            <a:avLst/>
          </a:prstGeom>
          <a:solidFill>
            <a:srgbClr val="16396B"/>
          </a:solidFill>
          <a:ln/>
        </p:spPr>
      </p:sp>
      <p:sp>
        <p:nvSpPr>
          <p:cNvPr id="4" name="Shape 2"/>
          <p:cNvSpPr/>
          <p:nvPr/>
        </p:nvSpPr>
        <p:spPr>
          <a:xfrm>
            <a:off x="-411480" y="5532120"/>
            <a:ext cx="1554480" cy="1554480"/>
          </a:xfrm>
          <a:prstGeom prst="ellipse">
            <a:avLst/>
          </a:prstGeom>
          <a:solidFill>
            <a:srgbClr val="0E7C7B"/>
          </a:solidFill>
          <a:ln/>
        </p:spPr>
      </p:sp>
      <p:sp>
        <p:nvSpPr>
          <p:cNvPr id="5" name="Shape 3"/>
          <p:cNvSpPr/>
          <p:nvPr/>
        </p:nvSpPr>
        <p:spPr>
          <a:xfrm>
            <a:off x="10241280" y="-1920240"/>
            <a:ext cx="4206240" cy="4206240"/>
          </a:xfrm>
          <a:prstGeom prst="ellipse">
            <a:avLst/>
          </a:prstGeom>
          <a:solidFill>
            <a:srgbClr val="112C52"/>
          </a:solidFill>
          <a:ln/>
        </p:spPr>
      </p:sp>
      <p:sp>
        <p:nvSpPr>
          <p:cNvPr id="6" name="Text 4"/>
          <p:cNvSpPr/>
          <p:nvPr/>
        </p:nvSpPr>
        <p:spPr>
          <a:xfrm>
            <a:off x="822960" y="960120"/>
            <a:ext cx="10515600" cy="457200"/>
          </a:xfrm>
          <a:prstGeom prst="rect">
            <a:avLst/>
          </a:prstGeom>
          <a:noFill/>
          <a:ln/>
        </p:spPr>
        <p:txBody>
          <a:bodyPr wrap="square" lIns="0" tIns="0" rIns="0" bIns="0" rtlCol="0" anchor="ctr"/>
          <a:lstStyle/>
          <a:p>
            <a:pPr marL="0" indent="0" algn="r">
              <a:buNone/>
            </a:pPr>
            <a:r>
              <a:rPr lang="en-US" sz="1500" b="1" kern="0" spc="100" dirty="0">
                <a:solidFill>
                  <a:srgbClr val="8FB8E8"/>
                </a:solidFill>
                <a:latin typeface="Calibri" pitchFamily="34" charset="0"/>
                <a:ea typeface="Calibri" pitchFamily="34" charset="-122"/>
                <a:cs typeface="Calibri" pitchFamily="34" charset="-120"/>
              </a:rPr>
              <a:t>دانشکده شیمی و نفت و گاز  ·  دانشگاه سمنان</a:t>
            </a:r>
            <a:endParaRPr lang="en-US" sz="1500" dirty="0"/>
          </a:p>
        </p:txBody>
      </p:sp>
      <p:sp>
        <p:nvSpPr>
          <p:cNvPr id="7" name="Text 5"/>
          <p:cNvSpPr/>
          <p:nvPr/>
        </p:nvSpPr>
        <p:spPr>
          <a:xfrm>
            <a:off x="822960" y="2377440"/>
            <a:ext cx="10515600" cy="1188720"/>
          </a:xfrm>
          <a:prstGeom prst="rect">
            <a:avLst/>
          </a:prstGeom>
          <a:noFill/>
          <a:ln/>
        </p:spPr>
        <p:txBody>
          <a:bodyPr wrap="square" lIns="0" tIns="0" rIns="0" bIns="0" rtlCol="0" anchor="ctr"/>
          <a:lstStyle/>
          <a:p>
            <a:pPr marL="0" indent="0" algn="r">
              <a:buNone/>
            </a:pPr>
            <a:r>
              <a:rPr lang="en-US" sz="4400" b="1" dirty="0">
                <a:solidFill>
                  <a:srgbClr val="FFFFFF"/>
                </a:solidFill>
                <a:latin typeface="Calibri" pitchFamily="34" charset="0"/>
                <a:ea typeface="Calibri" pitchFamily="34" charset="-122"/>
                <a:cs typeface="Calibri" pitchFamily="34" charset="-120"/>
              </a:rPr>
              <a:t>بررسی جامع انواع راکتورهای شیمیایی</a:t>
            </a:r>
            <a:endParaRPr lang="en-US" sz="4400" dirty="0"/>
          </a:p>
        </p:txBody>
      </p:sp>
      <p:sp>
        <p:nvSpPr>
          <p:cNvPr id="8" name="Text 6"/>
          <p:cNvSpPr/>
          <p:nvPr/>
        </p:nvSpPr>
        <p:spPr>
          <a:xfrm>
            <a:off x="822960" y="3474720"/>
            <a:ext cx="10515600" cy="640080"/>
          </a:xfrm>
          <a:prstGeom prst="rect">
            <a:avLst/>
          </a:prstGeom>
          <a:noFill/>
          <a:ln/>
        </p:spPr>
        <p:txBody>
          <a:bodyPr wrap="square" lIns="0" tIns="0" rIns="0" bIns="0" rtlCol="0" anchor="ctr"/>
          <a:lstStyle/>
          <a:p>
            <a:pPr marL="0" indent="0" algn="r">
              <a:buNone/>
            </a:pPr>
            <a:r>
              <a:rPr lang="en-US" sz="1900" dirty="0">
                <a:solidFill>
                  <a:srgbClr val="C7D9EE"/>
                </a:solidFill>
                <a:latin typeface="Calibri" pitchFamily="34" charset="0"/>
                <a:ea typeface="Calibri" pitchFamily="34" charset="-122"/>
                <a:cs typeface="Calibri" pitchFamily="34" charset="-120"/>
              </a:rPr>
              <a:t>طبقه‌بندی، اجزا، تجهیزات کنترلی و کاربردهای صنعتی</a:t>
            </a:r>
            <a:endParaRPr lang="en-US" sz="1900" dirty="0"/>
          </a:p>
        </p:txBody>
      </p:sp>
      <p:pic>
        <p:nvPicPr>
          <p:cNvPr id="9" name="Image 0" descr="/home/claude/reactor_pptx/icons/flask_teal.png"/>
          <p:cNvPicPr>
            <a:picLocks noChangeAspect="1"/>
          </p:cNvPicPr>
          <p:nvPr/>
        </p:nvPicPr>
        <p:blipFill>
          <a:blip r:embed="rId3"/>
          <a:stretch>
            <a:fillRect/>
          </a:stretch>
        </p:blipFill>
        <p:spPr>
          <a:xfrm>
            <a:off x="822960" y="4553712"/>
            <a:ext cx="274320" cy="274320"/>
          </a:xfrm>
          <a:prstGeom prst="rect">
            <a:avLst/>
          </a:prstGeom>
        </p:spPr>
      </p:pic>
      <p:sp>
        <p:nvSpPr>
          <p:cNvPr id="10" name="Text 7"/>
          <p:cNvSpPr/>
          <p:nvPr/>
        </p:nvSpPr>
        <p:spPr>
          <a:xfrm>
            <a:off x="1188720" y="4526280"/>
            <a:ext cx="2103120" cy="329184"/>
          </a:xfrm>
          <a:prstGeom prst="rect">
            <a:avLst/>
          </a:prstGeom>
          <a:noFill/>
          <a:ln/>
        </p:spPr>
        <p:txBody>
          <a:bodyPr wrap="square" lIns="0" tIns="0" rIns="0" bIns="0" rtlCol="0" anchor="ctr"/>
          <a:lstStyle/>
          <a:p>
            <a:pPr marL="0" indent="0" algn="r">
              <a:buNone/>
            </a:pPr>
            <a:r>
              <a:rPr lang="en-US" sz="1250" dirty="0">
                <a:solidFill>
                  <a:srgbClr val="C7D9EE"/>
                </a:solidFill>
                <a:latin typeface="Calibri" pitchFamily="34" charset="0"/>
                <a:ea typeface="Calibri" pitchFamily="34" charset="-122"/>
                <a:cs typeface="Calibri" pitchFamily="34" charset="-120"/>
              </a:rPr>
              <a:t>راکتور و طبقه‌بندی</a:t>
            </a:r>
            <a:endParaRPr lang="en-US" sz="1250" dirty="0"/>
          </a:p>
        </p:txBody>
      </p:sp>
      <p:pic>
        <p:nvPicPr>
          <p:cNvPr id="11" name="Image 1" descr="/home/claude/reactor_pptx/icons/cogs_teal.png"/>
          <p:cNvPicPr>
            <a:picLocks noChangeAspect="1"/>
          </p:cNvPicPr>
          <p:nvPr/>
        </p:nvPicPr>
        <p:blipFill>
          <a:blip r:embed="rId4"/>
          <a:stretch>
            <a:fillRect/>
          </a:stretch>
        </p:blipFill>
        <p:spPr>
          <a:xfrm>
            <a:off x="3429000" y="4553712"/>
            <a:ext cx="274320" cy="274320"/>
          </a:xfrm>
          <a:prstGeom prst="rect">
            <a:avLst/>
          </a:prstGeom>
        </p:spPr>
      </p:pic>
      <p:sp>
        <p:nvSpPr>
          <p:cNvPr id="12" name="Text 8"/>
          <p:cNvSpPr/>
          <p:nvPr/>
        </p:nvSpPr>
        <p:spPr>
          <a:xfrm>
            <a:off x="3794760" y="4526280"/>
            <a:ext cx="2103120" cy="329184"/>
          </a:xfrm>
          <a:prstGeom prst="rect">
            <a:avLst/>
          </a:prstGeom>
          <a:noFill/>
          <a:ln/>
        </p:spPr>
        <p:txBody>
          <a:bodyPr wrap="square" lIns="0" tIns="0" rIns="0" bIns="0" rtlCol="0" anchor="ctr"/>
          <a:lstStyle/>
          <a:p>
            <a:pPr marL="0" indent="0" algn="r">
              <a:buNone/>
            </a:pPr>
            <a:r>
              <a:rPr lang="en-US" sz="1250" dirty="0">
                <a:solidFill>
                  <a:srgbClr val="C7D9EE"/>
                </a:solidFill>
                <a:latin typeface="Calibri" pitchFamily="34" charset="0"/>
                <a:ea typeface="Calibri" pitchFamily="34" charset="-122"/>
                <a:cs typeface="Calibri" pitchFamily="34" charset="-120"/>
              </a:rPr>
              <a:t>اجزا و تجهیزات</a:t>
            </a:r>
            <a:endParaRPr lang="en-US" sz="1250" dirty="0"/>
          </a:p>
        </p:txBody>
      </p:sp>
      <p:pic>
        <p:nvPicPr>
          <p:cNvPr id="13" name="Image 2" descr="/home/claude/reactor_pptx/icons/shield_teal.png"/>
          <p:cNvPicPr>
            <a:picLocks noChangeAspect="1"/>
          </p:cNvPicPr>
          <p:nvPr/>
        </p:nvPicPr>
        <p:blipFill>
          <a:blip r:embed="rId5"/>
          <a:stretch>
            <a:fillRect/>
          </a:stretch>
        </p:blipFill>
        <p:spPr>
          <a:xfrm>
            <a:off x="6035040" y="4553712"/>
            <a:ext cx="274320" cy="274320"/>
          </a:xfrm>
          <a:prstGeom prst="rect">
            <a:avLst/>
          </a:prstGeom>
        </p:spPr>
      </p:pic>
      <p:sp>
        <p:nvSpPr>
          <p:cNvPr id="14" name="Text 9"/>
          <p:cNvSpPr/>
          <p:nvPr/>
        </p:nvSpPr>
        <p:spPr>
          <a:xfrm>
            <a:off x="6400800" y="4526280"/>
            <a:ext cx="2103120" cy="329184"/>
          </a:xfrm>
          <a:prstGeom prst="rect">
            <a:avLst/>
          </a:prstGeom>
          <a:noFill/>
          <a:ln/>
        </p:spPr>
        <p:txBody>
          <a:bodyPr wrap="square" lIns="0" tIns="0" rIns="0" bIns="0" rtlCol="0" anchor="ctr"/>
          <a:lstStyle/>
          <a:p>
            <a:pPr marL="0" indent="0" algn="r">
              <a:buNone/>
            </a:pPr>
            <a:r>
              <a:rPr lang="en-US" sz="1250" dirty="0">
                <a:solidFill>
                  <a:srgbClr val="C7D9EE"/>
                </a:solidFill>
                <a:latin typeface="Calibri" pitchFamily="34" charset="0"/>
                <a:ea typeface="Calibri" pitchFamily="34" charset="-122"/>
                <a:cs typeface="Calibri" pitchFamily="34" charset="-120"/>
              </a:rPr>
              <a:t>ایمنی و کنترل</a:t>
            </a:r>
            <a:endParaRPr lang="en-US" sz="1250" dirty="0"/>
          </a:p>
        </p:txBody>
      </p:sp>
      <p:pic>
        <p:nvPicPr>
          <p:cNvPr id="15" name="Image 3" descr="/home/claude/reactor_pptx/icons/industry_teal.png"/>
          <p:cNvPicPr>
            <a:picLocks noChangeAspect="1"/>
          </p:cNvPicPr>
          <p:nvPr/>
        </p:nvPicPr>
        <p:blipFill>
          <a:blip r:embed="rId6"/>
          <a:stretch>
            <a:fillRect/>
          </a:stretch>
        </p:blipFill>
        <p:spPr>
          <a:xfrm>
            <a:off x="8641080" y="4553712"/>
            <a:ext cx="274320" cy="274320"/>
          </a:xfrm>
          <a:prstGeom prst="rect">
            <a:avLst/>
          </a:prstGeom>
        </p:spPr>
      </p:pic>
      <p:sp>
        <p:nvSpPr>
          <p:cNvPr id="16" name="Text 10"/>
          <p:cNvSpPr/>
          <p:nvPr/>
        </p:nvSpPr>
        <p:spPr>
          <a:xfrm>
            <a:off x="9006840" y="4526280"/>
            <a:ext cx="2103120" cy="329184"/>
          </a:xfrm>
          <a:prstGeom prst="rect">
            <a:avLst/>
          </a:prstGeom>
          <a:noFill/>
          <a:ln/>
        </p:spPr>
        <p:txBody>
          <a:bodyPr wrap="square" lIns="0" tIns="0" rIns="0" bIns="0" rtlCol="0" anchor="ctr"/>
          <a:lstStyle/>
          <a:p>
            <a:pPr marL="0" indent="0" algn="r">
              <a:buNone/>
            </a:pPr>
            <a:r>
              <a:rPr lang="en-US" sz="1250" dirty="0">
                <a:solidFill>
                  <a:srgbClr val="C7D9EE"/>
                </a:solidFill>
                <a:latin typeface="Calibri" pitchFamily="34" charset="0"/>
                <a:ea typeface="Calibri" pitchFamily="34" charset="-122"/>
                <a:cs typeface="Calibri" pitchFamily="34" charset="-120"/>
              </a:rPr>
              <a:t>کاربرد صنعتی</a:t>
            </a:r>
            <a:endParaRPr lang="en-US" sz="1250" dirty="0"/>
          </a:p>
        </p:txBody>
      </p:sp>
      <p:sp>
        <p:nvSpPr>
          <p:cNvPr id="17" name="Text 11"/>
          <p:cNvSpPr/>
          <p:nvPr/>
        </p:nvSpPr>
        <p:spPr>
          <a:xfrm>
            <a:off x="822960" y="5532120"/>
            <a:ext cx="5486400" cy="1005840"/>
          </a:xfrm>
          <a:prstGeom prst="rect">
            <a:avLst/>
          </a:prstGeom>
          <a:noFill/>
          <a:ln/>
        </p:spPr>
        <p:txBody>
          <a:bodyPr wrap="square" lIns="0" tIns="0" rIns="0" bIns="0" rtlCol="0" anchor="ctr"/>
          <a:lstStyle/>
          <a:p>
            <a:pPr marL="0" indent="0" algn="r">
              <a:lnSpc>
                <a:spcPct val="135000"/>
              </a:lnSpc>
              <a:buNone/>
            </a:pPr>
            <a:r>
              <a:rPr lang="en-US" sz="1300" dirty="0">
                <a:solidFill>
                  <a:srgbClr val="9FB3C8"/>
                </a:solidFill>
                <a:latin typeface="Calibri" pitchFamily="34" charset="0"/>
                <a:ea typeface="Calibri" pitchFamily="34" charset="-122"/>
                <a:cs typeface="Calibri" pitchFamily="34" charset="-120"/>
              </a:rPr>
              <a:t>نگارش: محمد حسن ربیعی</a:t>
            </a:r>
            <a:endParaRPr lang="en-US" sz="1300" dirty="0"/>
          </a:p>
          <a:p>
            <a:pPr marL="0" indent="0" algn="r">
              <a:lnSpc>
                <a:spcPct val="135000"/>
              </a:lnSpc>
              <a:buNone/>
            </a:pPr>
            <a:r>
              <a:rPr lang="en-US" sz="1300" dirty="0">
                <a:solidFill>
                  <a:srgbClr val="9FB3C8"/>
                </a:solidFill>
                <a:latin typeface="Calibri" pitchFamily="34" charset="0"/>
                <a:ea typeface="Calibri" pitchFamily="34" charset="-122"/>
                <a:cs typeface="Calibri" pitchFamily="34" charset="-120"/>
              </a:rPr>
              <a:t>استاد راهنما: دکتر محمد نادر لطف‌الهی</a:t>
            </a:r>
            <a:endParaRPr lang="en-US" sz="1300" dirty="0"/>
          </a:p>
          <a:p>
            <a:pPr marL="0" indent="0" algn="r">
              <a:lnSpc>
                <a:spcPct val="135000"/>
              </a:lnSpc>
              <a:buNone/>
            </a:pPr>
            <a:r>
              <a:rPr lang="en-US" sz="1300" dirty="0">
                <a:solidFill>
                  <a:srgbClr val="9FB3C8"/>
                </a:solidFill>
                <a:latin typeface="Calibri" pitchFamily="34" charset="0"/>
                <a:ea typeface="Calibri" pitchFamily="34" charset="-122"/>
                <a:cs typeface="Calibri" pitchFamily="34" charset="-120"/>
              </a:rPr>
              <a:t>خرداد ۱۴۰۵</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نقشه راه ارائه</a:t>
            </a:r>
            <a:endParaRPr lang="en-US" sz="1300" dirty="0"/>
          </a:p>
        </p:txBody>
      </p:sp>
      <p:sp>
        <p:nvSpPr>
          <p:cNvPr id="3" name="Text 1"/>
          <p:cNvSpPr/>
          <p:nvPr/>
        </p:nvSpPr>
        <p:spPr>
          <a:xfrm>
            <a:off x="640080" y="841248"/>
            <a:ext cx="1091153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فهرست مطالب</a:t>
            </a:r>
            <a:endParaRPr lang="en-US" sz="2800" dirty="0"/>
          </a:p>
        </p:txBody>
      </p:sp>
      <p:sp>
        <p:nvSpPr>
          <p:cNvPr id="4" name="Shape 2"/>
          <p:cNvSpPr/>
          <p:nvPr/>
        </p:nvSpPr>
        <p:spPr>
          <a:xfrm>
            <a:off x="6324448" y="1783080"/>
            <a:ext cx="5227168" cy="841248"/>
          </a:xfrm>
          <a:prstGeom prst="roundRect">
            <a:avLst>
              <a:gd name="adj" fmla="val 8696"/>
            </a:avLst>
          </a:prstGeom>
          <a:solidFill>
            <a:srgbClr val="F7F9FA"/>
          </a:solidFill>
          <a:ln/>
        </p:spPr>
      </p:sp>
      <p:sp>
        <p:nvSpPr>
          <p:cNvPr id="5" name="Text 3"/>
          <p:cNvSpPr/>
          <p:nvPr/>
        </p:nvSpPr>
        <p:spPr>
          <a:xfrm>
            <a:off x="10591495" y="1783080"/>
            <a:ext cx="777240" cy="841248"/>
          </a:xfrm>
          <a:prstGeom prst="rect">
            <a:avLst/>
          </a:prstGeom>
          <a:noFill/>
          <a:ln/>
        </p:spPr>
        <p:txBody>
          <a:bodyPr wrap="square" lIns="0" tIns="0" rIns="0" bIns="0" rtlCol="0" anchor="ctr"/>
          <a:lstStyle/>
          <a:p>
            <a:pPr marL="0" indent="0" algn="r">
              <a:buNone/>
            </a:pPr>
            <a:r>
              <a:rPr lang="en-US" sz="2200" b="1" dirty="0">
                <a:solidFill>
                  <a:srgbClr val="0E7C7B"/>
                </a:solidFill>
                <a:latin typeface="Calibri" pitchFamily="34" charset="0"/>
                <a:ea typeface="Calibri" pitchFamily="34" charset="-122"/>
                <a:cs typeface="Calibri" pitchFamily="34" charset="-120"/>
              </a:rPr>
              <a:t>۰۱</a:t>
            </a:r>
            <a:endParaRPr lang="en-US" sz="2200" dirty="0"/>
          </a:p>
        </p:txBody>
      </p:sp>
      <p:pic>
        <p:nvPicPr>
          <p:cNvPr id="6" name="Image 0" descr="/home/claude/reactor_pptx/icons/flask_navy.png"/>
          <p:cNvPicPr>
            <a:picLocks noChangeAspect="1"/>
          </p:cNvPicPr>
          <p:nvPr/>
        </p:nvPicPr>
        <p:blipFill>
          <a:blip r:embed="rId3"/>
          <a:stretch>
            <a:fillRect/>
          </a:stretch>
        </p:blipFill>
        <p:spPr>
          <a:xfrm>
            <a:off x="6553048" y="2048256"/>
            <a:ext cx="310896" cy="310896"/>
          </a:xfrm>
          <a:prstGeom prst="rect">
            <a:avLst/>
          </a:prstGeom>
        </p:spPr>
      </p:pic>
      <p:sp>
        <p:nvSpPr>
          <p:cNvPr id="7" name="Text 4"/>
          <p:cNvSpPr/>
          <p:nvPr/>
        </p:nvSpPr>
        <p:spPr>
          <a:xfrm>
            <a:off x="6964528" y="1783080"/>
            <a:ext cx="3535528" cy="841248"/>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مفاهیم پایه راکتورهای شیمیایی</a:t>
            </a:r>
            <a:endParaRPr lang="en-US" sz="1450" dirty="0"/>
          </a:p>
        </p:txBody>
      </p:sp>
      <p:sp>
        <p:nvSpPr>
          <p:cNvPr id="8" name="Shape 5"/>
          <p:cNvSpPr/>
          <p:nvPr/>
        </p:nvSpPr>
        <p:spPr>
          <a:xfrm>
            <a:off x="640080" y="1783080"/>
            <a:ext cx="5227168" cy="841248"/>
          </a:xfrm>
          <a:prstGeom prst="roundRect">
            <a:avLst>
              <a:gd name="adj" fmla="val 8696"/>
            </a:avLst>
          </a:prstGeom>
          <a:solidFill>
            <a:srgbClr val="F7F9FA"/>
          </a:solidFill>
          <a:ln/>
        </p:spPr>
      </p:sp>
      <p:sp>
        <p:nvSpPr>
          <p:cNvPr id="9" name="Text 6"/>
          <p:cNvSpPr/>
          <p:nvPr/>
        </p:nvSpPr>
        <p:spPr>
          <a:xfrm>
            <a:off x="4907128" y="1783080"/>
            <a:ext cx="777240" cy="841248"/>
          </a:xfrm>
          <a:prstGeom prst="rect">
            <a:avLst/>
          </a:prstGeom>
          <a:noFill/>
          <a:ln/>
        </p:spPr>
        <p:txBody>
          <a:bodyPr wrap="square" lIns="0" tIns="0" rIns="0" bIns="0" rtlCol="0" anchor="ctr"/>
          <a:lstStyle/>
          <a:p>
            <a:pPr marL="0" indent="0" algn="r">
              <a:buNone/>
            </a:pPr>
            <a:r>
              <a:rPr lang="en-US" sz="2200" b="1" dirty="0">
                <a:solidFill>
                  <a:srgbClr val="0E7C7B"/>
                </a:solidFill>
                <a:latin typeface="Calibri" pitchFamily="34" charset="0"/>
                <a:ea typeface="Calibri" pitchFamily="34" charset="-122"/>
                <a:cs typeface="Calibri" pitchFamily="34" charset="-120"/>
              </a:rPr>
              <a:t>۰۲</a:t>
            </a:r>
            <a:endParaRPr lang="en-US" sz="2200" dirty="0"/>
          </a:p>
        </p:txBody>
      </p:sp>
      <p:pic>
        <p:nvPicPr>
          <p:cNvPr id="10" name="Image 1" descr="/home/claude/reactor_pptx/icons/diagram_navy.png"/>
          <p:cNvPicPr>
            <a:picLocks noChangeAspect="1"/>
          </p:cNvPicPr>
          <p:nvPr/>
        </p:nvPicPr>
        <p:blipFill>
          <a:blip r:embed="rId4"/>
          <a:stretch>
            <a:fillRect/>
          </a:stretch>
        </p:blipFill>
        <p:spPr>
          <a:xfrm>
            <a:off x="868680" y="2048256"/>
            <a:ext cx="310896" cy="310896"/>
          </a:xfrm>
          <a:prstGeom prst="rect">
            <a:avLst/>
          </a:prstGeom>
        </p:spPr>
      </p:pic>
      <p:sp>
        <p:nvSpPr>
          <p:cNvPr id="11" name="Text 7"/>
          <p:cNvSpPr/>
          <p:nvPr/>
        </p:nvSpPr>
        <p:spPr>
          <a:xfrm>
            <a:off x="1280160" y="1783080"/>
            <a:ext cx="3535528" cy="841248"/>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معیارهای طبقه‌بندی راکتورها</a:t>
            </a:r>
            <a:endParaRPr lang="en-US" sz="1450" dirty="0"/>
          </a:p>
        </p:txBody>
      </p:sp>
      <p:sp>
        <p:nvSpPr>
          <p:cNvPr id="12" name="Shape 8"/>
          <p:cNvSpPr/>
          <p:nvPr/>
        </p:nvSpPr>
        <p:spPr>
          <a:xfrm>
            <a:off x="6324448" y="2734056"/>
            <a:ext cx="5227168" cy="841248"/>
          </a:xfrm>
          <a:prstGeom prst="roundRect">
            <a:avLst>
              <a:gd name="adj" fmla="val 8696"/>
            </a:avLst>
          </a:prstGeom>
          <a:solidFill>
            <a:srgbClr val="F7F9FA"/>
          </a:solidFill>
          <a:ln/>
        </p:spPr>
      </p:sp>
      <p:sp>
        <p:nvSpPr>
          <p:cNvPr id="13" name="Text 9"/>
          <p:cNvSpPr/>
          <p:nvPr/>
        </p:nvSpPr>
        <p:spPr>
          <a:xfrm>
            <a:off x="10591495" y="2734056"/>
            <a:ext cx="777240" cy="841248"/>
          </a:xfrm>
          <a:prstGeom prst="rect">
            <a:avLst/>
          </a:prstGeom>
          <a:noFill/>
          <a:ln/>
        </p:spPr>
        <p:txBody>
          <a:bodyPr wrap="square" lIns="0" tIns="0" rIns="0" bIns="0" rtlCol="0" anchor="ctr"/>
          <a:lstStyle/>
          <a:p>
            <a:pPr marL="0" indent="0" algn="r">
              <a:buNone/>
            </a:pPr>
            <a:r>
              <a:rPr lang="en-US" sz="2200" b="1" dirty="0">
                <a:solidFill>
                  <a:srgbClr val="0E7C7B"/>
                </a:solidFill>
                <a:latin typeface="Calibri" pitchFamily="34" charset="0"/>
                <a:ea typeface="Calibri" pitchFamily="34" charset="-122"/>
                <a:cs typeface="Calibri" pitchFamily="34" charset="-120"/>
              </a:rPr>
              <a:t>۰۳</a:t>
            </a:r>
            <a:endParaRPr lang="en-US" sz="2200" dirty="0"/>
          </a:p>
        </p:txBody>
      </p:sp>
      <p:pic>
        <p:nvPicPr>
          <p:cNvPr id="14" name="Image 2" descr="/home/claude/reactor_pptx/icons/exchange_navy.png"/>
          <p:cNvPicPr>
            <a:picLocks noChangeAspect="1"/>
          </p:cNvPicPr>
          <p:nvPr/>
        </p:nvPicPr>
        <p:blipFill>
          <a:blip r:embed="rId5"/>
          <a:stretch>
            <a:fillRect/>
          </a:stretch>
        </p:blipFill>
        <p:spPr>
          <a:xfrm>
            <a:off x="6553048" y="2999232"/>
            <a:ext cx="310896" cy="310896"/>
          </a:xfrm>
          <a:prstGeom prst="rect">
            <a:avLst/>
          </a:prstGeom>
        </p:spPr>
      </p:pic>
      <p:sp>
        <p:nvSpPr>
          <p:cNvPr id="15" name="Text 10"/>
          <p:cNvSpPr/>
          <p:nvPr/>
        </p:nvSpPr>
        <p:spPr>
          <a:xfrm>
            <a:off x="6964528" y="2734056"/>
            <a:ext cx="3535528" cy="841248"/>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جریان سیال، هندسه و فازها</a:t>
            </a:r>
            <a:endParaRPr lang="en-US" sz="1450" dirty="0"/>
          </a:p>
        </p:txBody>
      </p:sp>
      <p:sp>
        <p:nvSpPr>
          <p:cNvPr id="16" name="Shape 11"/>
          <p:cNvSpPr/>
          <p:nvPr/>
        </p:nvSpPr>
        <p:spPr>
          <a:xfrm>
            <a:off x="640080" y="2734056"/>
            <a:ext cx="5227168" cy="841248"/>
          </a:xfrm>
          <a:prstGeom prst="roundRect">
            <a:avLst>
              <a:gd name="adj" fmla="val 8696"/>
            </a:avLst>
          </a:prstGeom>
          <a:solidFill>
            <a:srgbClr val="F7F9FA"/>
          </a:solidFill>
          <a:ln/>
        </p:spPr>
      </p:sp>
      <p:sp>
        <p:nvSpPr>
          <p:cNvPr id="17" name="Text 12"/>
          <p:cNvSpPr/>
          <p:nvPr/>
        </p:nvSpPr>
        <p:spPr>
          <a:xfrm>
            <a:off x="4907128" y="2734056"/>
            <a:ext cx="777240" cy="841248"/>
          </a:xfrm>
          <a:prstGeom prst="rect">
            <a:avLst/>
          </a:prstGeom>
          <a:noFill/>
          <a:ln/>
        </p:spPr>
        <p:txBody>
          <a:bodyPr wrap="square" lIns="0" tIns="0" rIns="0" bIns="0" rtlCol="0" anchor="ctr"/>
          <a:lstStyle/>
          <a:p>
            <a:pPr marL="0" indent="0" algn="r">
              <a:buNone/>
            </a:pPr>
            <a:r>
              <a:rPr lang="en-US" sz="2200" b="1" dirty="0">
                <a:solidFill>
                  <a:srgbClr val="0E7C7B"/>
                </a:solidFill>
                <a:latin typeface="Calibri" pitchFamily="34" charset="0"/>
                <a:ea typeface="Calibri" pitchFamily="34" charset="-122"/>
                <a:cs typeface="Calibri" pitchFamily="34" charset="-120"/>
              </a:rPr>
              <a:t>۰۴</a:t>
            </a:r>
            <a:endParaRPr lang="en-US" sz="2200" dirty="0"/>
          </a:p>
        </p:txBody>
      </p:sp>
      <p:pic>
        <p:nvPicPr>
          <p:cNvPr id="18" name="Image 3" descr="/home/claude/reactor_pptx/icons/atom_navy.png"/>
          <p:cNvPicPr>
            <a:picLocks noChangeAspect="1"/>
          </p:cNvPicPr>
          <p:nvPr/>
        </p:nvPicPr>
        <p:blipFill>
          <a:blip r:embed="rId6"/>
          <a:stretch>
            <a:fillRect/>
          </a:stretch>
        </p:blipFill>
        <p:spPr>
          <a:xfrm>
            <a:off x="868680" y="2999232"/>
            <a:ext cx="310896" cy="310896"/>
          </a:xfrm>
          <a:prstGeom prst="rect">
            <a:avLst/>
          </a:prstGeom>
        </p:spPr>
      </p:pic>
      <p:sp>
        <p:nvSpPr>
          <p:cNvPr id="19" name="Text 13"/>
          <p:cNvSpPr/>
          <p:nvPr/>
        </p:nvSpPr>
        <p:spPr>
          <a:xfrm>
            <a:off x="1280160" y="2734056"/>
            <a:ext cx="3535528" cy="841248"/>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راکتورهای کاتالیستی</a:t>
            </a:r>
            <a:endParaRPr lang="en-US" sz="1450" dirty="0"/>
          </a:p>
        </p:txBody>
      </p:sp>
      <p:sp>
        <p:nvSpPr>
          <p:cNvPr id="20" name="Shape 14"/>
          <p:cNvSpPr/>
          <p:nvPr/>
        </p:nvSpPr>
        <p:spPr>
          <a:xfrm>
            <a:off x="6324448" y="3685032"/>
            <a:ext cx="5227168" cy="841248"/>
          </a:xfrm>
          <a:prstGeom prst="roundRect">
            <a:avLst>
              <a:gd name="adj" fmla="val 8696"/>
            </a:avLst>
          </a:prstGeom>
          <a:solidFill>
            <a:srgbClr val="F7F9FA"/>
          </a:solidFill>
          <a:ln/>
        </p:spPr>
      </p:sp>
      <p:sp>
        <p:nvSpPr>
          <p:cNvPr id="21" name="Text 15"/>
          <p:cNvSpPr/>
          <p:nvPr/>
        </p:nvSpPr>
        <p:spPr>
          <a:xfrm>
            <a:off x="10591495" y="3685032"/>
            <a:ext cx="777240" cy="841248"/>
          </a:xfrm>
          <a:prstGeom prst="rect">
            <a:avLst/>
          </a:prstGeom>
          <a:noFill/>
          <a:ln/>
        </p:spPr>
        <p:txBody>
          <a:bodyPr wrap="square" lIns="0" tIns="0" rIns="0" bIns="0" rtlCol="0" anchor="ctr"/>
          <a:lstStyle/>
          <a:p>
            <a:pPr marL="0" indent="0" algn="r">
              <a:buNone/>
            </a:pPr>
            <a:r>
              <a:rPr lang="en-US" sz="2200" b="1" dirty="0">
                <a:solidFill>
                  <a:srgbClr val="0E7C7B"/>
                </a:solidFill>
                <a:latin typeface="Calibri" pitchFamily="34" charset="0"/>
                <a:ea typeface="Calibri" pitchFamily="34" charset="-122"/>
                <a:cs typeface="Calibri" pitchFamily="34" charset="-120"/>
              </a:rPr>
              <a:t>۰۵</a:t>
            </a:r>
            <a:endParaRPr lang="en-US" sz="2200" dirty="0"/>
          </a:p>
        </p:txBody>
      </p:sp>
      <p:pic>
        <p:nvPicPr>
          <p:cNvPr id="22" name="Image 4" descr="/home/claude/reactor_pptx/icons/chartline_navy.png"/>
          <p:cNvPicPr>
            <a:picLocks noChangeAspect="1"/>
          </p:cNvPicPr>
          <p:nvPr/>
        </p:nvPicPr>
        <p:blipFill>
          <a:blip r:embed="rId7"/>
          <a:stretch>
            <a:fillRect/>
          </a:stretch>
        </p:blipFill>
        <p:spPr>
          <a:xfrm>
            <a:off x="6553048" y="3950208"/>
            <a:ext cx="310896" cy="310896"/>
          </a:xfrm>
          <a:prstGeom prst="rect">
            <a:avLst/>
          </a:prstGeom>
        </p:spPr>
      </p:pic>
      <p:sp>
        <p:nvSpPr>
          <p:cNvPr id="23" name="Text 16"/>
          <p:cNvSpPr/>
          <p:nvPr/>
        </p:nvSpPr>
        <p:spPr>
          <a:xfrm>
            <a:off x="6964528" y="3685032"/>
            <a:ext cx="3535528" cy="841248"/>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راکتورهای ایده‌آل و غیرایده‌آل</a:t>
            </a:r>
            <a:endParaRPr lang="en-US" sz="1450" dirty="0"/>
          </a:p>
        </p:txBody>
      </p:sp>
      <p:sp>
        <p:nvSpPr>
          <p:cNvPr id="24" name="Shape 17"/>
          <p:cNvSpPr/>
          <p:nvPr/>
        </p:nvSpPr>
        <p:spPr>
          <a:xfrm>
            <a:off x="640080" y="3685032"/>
            <a:ext cx="5227168" cy="841248"/>
          </a:xfrm>
          <a:prstGeom prst="roundRect">
            <a:avLst>
              <a:gd name="adj" fmla="val 8696"/>
            </a:avLst>
          </a:prstGeom>
          <a:solidFill>
            <a:srgbClr val="F7F9FA"/>
          </a:solidFill>
          <a:ln/>
        </p:spPr>
      </p:sp>
      <p:sp>
        <p:nvSpPr>
          <p:cNvPr id="25" name="Text 18"/>
          <p:cNvSpPr/>
          <p:nvPr/>
        </p:nvSpPr>
        <p:spPr>
          <a:xfrm>
            <a:off x="4907128" y="3685032"/>
            <a:ext cx="777240" cy="841248"/>
          </a:xfrm>
          <a:prstGeom prst="rect">
            <a:avLst/>
          </a:prstGeom>
          <a:noFill/>
          <a:ln/>
        </p:spPr>
        <p:txBody>
          <a:bodyPr wrap="square" lIns="0" tIns="0" rIns="0" bIns="0" rtlCol="0" anchor="ctr"/>
          <a:lstStyle/>
          <a:p>
            <a:pPr marL="0" indent="0" algn="r">
              <a:buNone/>
            </a:pPr>
            <a:r>
              <a:rPr lang="en-US" sz="2200" b="1" dirty="0">
                <a:solidFill>
                  <a:srgbClr val="0E7C7B"/>
                </a:solidFill>
                <a:latin typeface="Calibri" pitchFamily="34" charset="0"/>
                <a:ea typeface="Calibri" pitchFamily="34" charset="-122"/>
                <a:cs typeface="Calibri" pitchFamily="34" charset="-120"/>
              </a:rPr>
              <a:t>۰۶</a:t>
            </a:r>
            <a:endParaRPr lang="en-US" sz="2200" dirty="0"/>
          </a:p>
        </p:txBody>
      </p:sp>
      <p:pic>
        <p:nvPicPr>
          <p:cNvPr id="26" name="Image 5" descr="/home/claude/reactor_pptx/icons/cube_navy.png"/>
          <p:cNvPicPr>
            <a:picLocks noChangeAspect="1"/>
          </p:cNvPicPr>
          <p:nvPr/>
        </p:nvPicPr>
        <p:blipFill>
          <a:blip r:embed="rId8"/>
          <a:stretch>
            <a:fillRect/>
          </a:stretch>
        </p:blipFill>
        <p:spPr>
          <a:xfrm>
            <a:off x="868680" y="3950208"/>
            <a:ext cx="310896" cy="310896"/>
          </a:xfrm>
          <a:prstGeom prst="rect">
            <a:avLst/>
          </a:prstGeom>
        </p:spPr>
      </p:pic>
      <p:sp>
        <p:nvSpPr>
          <p:cNvPr id="27" name="Text 19"/>
          <p:cNvSpPr/>
          <p:nvPr/>
        </p:nvSpPr>
        <p:spPr>
          <a:xfrm>
            <a:off x="1280160" y="3685032"/>
            <a:ext cx="3535528" cy="841248"/>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جنس راکتورها بر اساس محیط واکنش</a:t>
            </a:r>
            <a:endParaRPr lang="en-US" sz="1450" dirty="0"/>
          </a:p>
        </p:txBody>
      </p:sp>
      <p:sp>
        <p:nvSpPr>
          <p:cNvPr id="28" name="Shape 20"/>
          <p:cNvSpPr/>
          <p:nvPr/>
        </p:nvSpPr>
        <p:spPr>
          <a:xfrm>
            <a:off x="6324448" y="4636008"/>
            <a:ext cx="5227168" cy="841248"/>
          </a:xfrm>
          <a:prstGeom prst="roundRect">
            <a:avLst>
              <a:gd name="adj" fmla="val 8696"/>
            </a:avLst>
          </a:prstGeom>
          <a:solidFill>
            <a:srgbClr val="F7F9FA"/>
          </a:solidFill>
          <a:ln/>
        </p:spPr>
      </p:sp>
      <p:sp>
        <p:nvSpPr>
          <p:cNvPr id="29" name="Text 21"/>
          <p:cNvSpPr/>
          <p:nvPr/>
        </p:nvSpPr>
        <p:spPr>
          <a:xfrm>
            <a:off x="10591495" y="4636008"/>
            <a:ext cx="777240" cy="841248"/>
          </a:xfrm>
          <a:prstGeom prst="rect">
            <a:avLst/>
          </a:prstGeom>
          <a:noFill/>
          <a:ln/>
        </p:spPr>
        <p:txBody>
          <a:bodyPr wrap="square" lIns="0" tIns="0" rIns="0" bIns="0" rtlCol="0" anchor="ctr"/>
          <a:lstStyle/>
          <a:p>
            <a:pPr marL="0" indent="0" algn="r">
              <a:buNone/>
            </a:pPr>
            <a:r>
              <a:rPr lang="en-US" sz="2200" b="1" dirty="0">
                <a:solidFill>
                  <a:srgbClr val="0E7C7B"/>
                </a:solidFill>
                <a:latin typeface="Calibri" pitchFamily="34" charset="0"/>
                <a:ea typeface="Calibri" pitchFamily="34" charset="-122"/>
                <a:cs typeface="Calibri" pitchFamily="34" charset="-120"/>
              </a:rPr>
              <a:t>۰۷</a:t>
            </a:r>
            <a:endParaRPr lang="en-US" sz="2200" dirty="0"/>
          </a:p>
        </p:txBody>
      </p:sp>
      <p:pic>
        <p:nvPicPr>
          <p:cNvPr id="30" name="Image 6" descr="/home/claude/reactor_pptx/icons/cogs_navy.png"/>
          <p:cNvPicPr>
            <a:picLocks noChangeAspect="1"/>
          </p:cNvPicPr>
          <p:nvPr/>
        </p:nvPicPr>
        <p:blipFill>
          <a:blip r:embed="rId9"/>
          <a:stretch>
            <a:fillRect/>
          </a:stretch>
        </p:blipFill>
        <p:spPr>
          <a:xfrm>
            <a:off x="6553048" y="4901184"/>
            <a:ext cx="310896" cy="310896"/>
          </a:xfrm>
          <a:prstGeom prst="rect">
            <a:avLst/>
          </a:prstGeom>
        </p:spPr>
      </p:pic>
      <p:sp>
        <p:nvSpPr>
          <p:cNvPr id="31" name="Text 22"/>
          <p:cNvSpPr/>
          <p:nvPr/>
        </p:nvSpPr>
        <p:spPr>
          <a:xfrm>
            <a:off x="6964528" y="4636008"/>
            <a:ext cx="3535528" cy="841248"/>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اجزا و تجهیزات اندازه‌گیری</a:t>
            </a:r>
            <a:endParaRPr lang="en-US" sz="1450" dirty="0"/>
          </a:p>
        </p:txBody>
      </p:sp>
      <p:sp>
        <p:nvSpPr>
          <p:cNvPr id="32" name="Shape 23"/>
          <p:cNvSpPr/>
          <p:nvPr/>
        </p:nvSpPr>
        <p:spPr>
          <a:xfrm>
            <a:off x="640080" y="4636008"/>
            <a:ext cx="5227168" cy="841248"/>
          </a:xfrm>
          <a:prstGeom prst="roundRect">
            <a:avLst>
              <a:gd name="adj" fmla="val 8696"/>
            </a:avLst>
          </a:prstGeom>
          <a:solidFill>
            <a:srgbClr val="F7F9FA"/>
          </a:solidFill>
          <a:ln/>
        </p:spPr>
      </p:sp>
      <p:sp>
        <p:nvSpPr>
          <p:cNvPr id="33" name="Text 24"/>
          <p:cNvSpPr/>
          <p:nvPr/>
        </p:nvSpPr>
        <p:spPr>
          <a:xfrm>
            <a:off x="4907128" y="4636008"/>
            <a:ext cx="777240" cy="841248"/>
          </a:xfrm>
          <a:prstGeom prst="rect">
            <a:avLst/>
          </a:prstGeom>
          <a:noFill/>
          <a:ln/>
        </p:spPr>
        <p:txBody>
          <a:bodyPr wrap="square" lIns="0" tIns="0" rIns="0" bIns="0" rtlCol="0" anchor="ctr"/>
          <a:lstStyle/>
          <a:p>
            <a:pPr marL="0" indent="0" algn="r">
              <a:buNone/>
            </a:pPr>
            <a:r>
              <a:rPr lang="en-US" sz="2200" b="1" dirty="0">
                <a:solidFill>
                  <a:srgbClr val="0E7C7B"/>
                </a:solidFill>
                <a:latin typeface="Calibri" pitchFamily="34" charset="0"/>
                <a:ea typeface="Calibri" pitchFamily="34" charset="-122"/>
                <a:cs typeface="Calibri" pitchFamily="34" charset="-120"/>
              </a:rPr>
              <a:t>۰۸</a:t>
            </a:r>
            <a:endParaRPr lang="en-US" sz="2200" dirty="0"/>
          </a:p>
        </p:txBody>
      </p:sp>
      <p:pic>
        <p:nvPicPr>
          <p:cNvPr id="34" name="Image 7" descr="/home/claude/reactor_pptx/icons/microchip_navy.png"/>
          <p:cNvPicPr>
            <a:picLocks noChangeAspect="1"/>
          </p:cNvPicPr>
          <p:nvPr/>
        </p:nvPicPr>
        <p:blipFill>
          <a:blip r:embed="rId10"/>
          <a:stretch>
            <a:fillRect/>
          </a:stretch>
        </p:blipFill>
        <p:spPr>
          <a:xfrm>
            <a:off x="868680" y="4901184"/>
            <a:ext cx="310896" cy="310896"/>
          </a:xfrm>
          <a:prstGeom prst="rect">
            <a:avLst/>
          </a:prstGeom>
        </p:spPr>
      </p:pic>
      <p:sp>
        <p:nvSpPr>
          <p:cNvPr id="35" name="Text 25"/>
          <p:cNvSpPr/>
          <p:nvPr/>
        </p:nvSpPr>
        <p:spPr>
          <a:xfrm>
            <a:off x="1280160" y="4636008"/>
            <a:ext cx="3535528" cy="841248"/>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تجهیزات کنترلی راکتورها</a:t>
            </a:r>
            <a:endParaRPr lang="en-US" sz="1450" dirty="0"/>
          </a:p>
        </p:txBody>
      </p:sp>
      <p:sp>
        <p:nvSpPr>
          <p:cNvPr id="36" name="Shape 26"/>
          <p:cNvSpPr/>
          <p:nvPr/>
        </p:nvSpPr>
        <p:spPr>
          <a:xfrm>
            <a:off x="6324448" y="5586984"/>
            <a:ext cx="5227168" cy="841248"/>
          </a:xfrm>
          <a:prstGeom prst="roundRect">
            <a:avLst>
              <a:gd name="adj" fmla="val 8696"/>
            </a:avLst>
          </a:prstGeom>
          <a:solidFill>
            <a:srgbClr val="F7F9FA"/>
          </a:solidFill>
          <a:ln/>
        </p:spPr>
      </p:sp>
      <p:sp>
        <p:nvSpPr>
          <p:cNvPr id="37" name="Text 27"/>
          <p:cNvSpPr/>
          <p:nvPr/>
        </p:nvSpPr>
        <p:spPr>
          <a:xfrm>
            <a:off x="10591495" y="5586984"/>
            <a:ext cx="777240" cy="841248"/>
          </a:xfrm>
          <a:prstGeom prst="rect">
            <a:avLst/>
          </a:prstGeom>
          <a:noFill/>
          <a:ln/>
        </p:spPr>
        <p:txBody>
          <a:bodyPr wrap="square" lIns="0" tIns="0" rIns="0" bIns="0" rtlCol="0" anchor="ctr"/>
          <a:lstStyle/>
          <a:p>
            <a:pPr marL="0" indent="0" algn="r">
              <a:buNone/>
            </a:pPr>
            <a:r>
              <a:rPr lang="en-US" sz="2200" b="1" dirty="0">
                <a:solidFill>
                  <a:srgbClr val="0E7C7B"/>
                </a:solidFill>
                <a:latin typeface="Calibri" pitchFamily="34" charset="0"/>
                <a:ea typeface="Calibri" pitchFamily="34" charset="-122"/>
                <a:cs typeface="Calibri" pitchFamily="34" charset="-120"/>
              </a:rPr>
              <a:t>۰۹</a:t>
            </a:r>
            <a:endParaRPr lang="en-US" sz="2200" dirty="0"/>
          </a:p>
        </p:txBody>
      </p:sp>
      <p:pic>
        <p:nvPicPr>
          <p:cNvPr id="38" name="Image 8" descr="/home/claude/reactor_pptx/icons/industry_navy.png"/>
          <p:cNvPicPr>
            <a:picLocks noChangeAspect="1"/>
          </p:cNvPicPr>
          <p:nvPr/>
        </p:nvPicPr>
        <p:blipFill>
          <a:blip r:embed="rId11"/>
          <a:stretch>
            <a:fillRect/>
          </a:stretch>
        </p:blipFill>
        <p:spPr>
          <a:xfrm>
            <a:off x="6553048" y="5852160"/>
            <a:ext cx="310896" cy="310896"/>
          </a:xfrm>
          <a:prstGeom prst="rect">
            <a:avLst/>
          </a:prstGeom>
        </p:spPr>
      </p:pic>
      <p:sp>
        <p:nvSpPr>
          <p:cNvPr id="39" name="Text 28"/>
          <p:cNvSpPr/>
          <p:nvPr/>
        </p:nvSpPr>
        <p:spPr>
          <a:xfrm>
            <a:off x="6964528" y="5586984"/>
            <a:ext cx="3535528" cy="841248"/>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کاربرد صنعتی انواع راکتورها</a:t>
            </a:r>
            <a:endParaRPr lang="en-US" sz="1450" dirty="0"/>
          </a:p>
        </p:txBody>
      </p:sp>
      <p:sp>
        <p:nvSpPr>
          <p:cNvPr id="40" name="Text 29"/>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02</a:t>
            </a:r>
            <a:endParaRPr lang="en-US" sz="1000" dirty="0"/>
          </a:p>
        </p:txBody>
      </p:sp>
      <p:sp>
        <p:nvSpPr>
          <p:cNvPr id="41" name="Text 30"/>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چکیده گزارش</a:t>
            </a:r>
            <a:endParaRPr lang="en-US" sz="1300" dirty="0"/>
          </a:p>
        </p:txBody>
      </p:sp>
      <p:sp>
        <p:nvSpPr>
          <p:cNvPr id="3" name="Text 1"/>
          <p:cNvSpPr/>
          <p:nvPr/>
        </p:nvSpPr>
        <p:spPr>
          <a:xfrm>
            <a:off x="640080" y="841248"/>
            <a:ext cx="1091153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راکتور؛ قلب تپنده فرآیندهای صنعتی</a:t>
            </a:r>
            <a:endParaRPr lang="en-US" sz="2800" dirty="0"/>
          </a:p>
        </p:txBody>
      </p:sp>
      <p:sp>
        <p:nvSpPr>
          <p:cNvPr id="4" name="Text 2"/>
          <p:cNvSpPr/>
          <p:nvPr/>
        </p:nvSpPr>
        <p:spPr>
          <a:xfrm>
            <a:off x="640080" y="1691640"/>
            <a:ext cx="10911535" cy="1005840"/>
          </a:xfrm>
          <a:prstGeom prst="rect">
            <a:avLst/>
          </a:prstGeom>
          <a:noFill/>
          <a:ln/>
        </p:spPr>
        <p:txBody>
          <a:bodyPr wrap="square" lIns="0" tIns="0" rIns="0" bIns="0" rtlCol="0" anchor="ctr"/>
          <a:lstStyle/>
          <a:p>
            <a:pPr marL="0" indent="0" algn="r">
              <a:lnSpc>
                <a:spcPct val="135000"/>
              </a:lnSpc>
              <a:buNone/>
            </a:pPr>
            <a:r>
              <a:rPr lang="en-US" sz="1500" dirty="0">
                <a:solidFill>
                  <a:srgbClr val="5C6B73"/>
                </a:solidFill>
                <a:latin typeface="Calibri" pitchFamily="34" charset="0"/>
                <a:ea typeface="Calibri" pitchFamily="34" charset="-122"/>
                <a:cs typeface="Calibri" pitchFamily="34" charset="-120"/>
              </a:rPr>
              <a:t>راکتورهای شیمیایی نقش بی‌بدیلی در تبدیل مواد اولیه به محصولات با ارزش افزوده ایفا می‌کنند. انتخاب صحیح نوع راکتور، طراحی دقیق اجزا و تجهیز مناسب آن به سامانه‌های کنترلی، تأثیر مستقیمی بر کیفیت محصول، ایمنی فرآیند، مصرف انرژی و اقتصاد واحد صنعتی دارد.</a:t>
            </a:r>
            <a:endParaRPr lang="en-US" sz="1500" dirty="0"/>
          </a:p>
        </p:txBody>
      </p:sp>
      <p:sp>
        <p:nvSpPr>
          <p:cNvPr id="5" name="Shape 3"/>
          <p:cNvSpPr/>
          <p:nvPr/>
        </p:nvSpPr>
        <p:spPr>
          <a:xfrm>
            <a:off x="9588764" y="2971800"/>
            <a:ext cx="1962851" cy="1828800"/>
          </a:xfrm>
          <a:prstGeom prst="roundRect">
            <a:avLst>
              <a:gd name="adj" fmla="val 4500"/>
            </a:avLst>
          </a:prstGeom>
          <a:solidFill>
            <a:srgbClr val="0B2545"/>
          </a:solidFill>
          <a:ln/>
          <a:effectLst>
            <a:outerShdw blurRad="101600" dist="38100" dir="2700000" algn="bl" rotWithShape="0">
              <a:srgbClr val="0B2545">
                <a:alpha val="16000"/>
              </a:srgbClr>
            </a:outerShdw>
          </a:effectLst>
        </p:spPr>
      </p:sp>
      <p:pic>
        <p:nvPicPr>
          <p:cNvPr id="6" name="Image 0" descr="/home/claude/reactor_pptx/icons/listul_teal.png"/>
          <p:cNvPicPr>
            <a:picLocks noChangeAspect="1"/>
          </p:cNvPicPr>
          <p:nvPr/>
        </p:nvPicPr>
        <p:blipFill>
          <a:blip r:embed="rId3"/>
          <a:stretch>
            <a:fillRect/>
          </a:stretch>
        </p:blipFill>
        <p:spPr>
          <a:xfrm>
            <a:off x="10387310" y="3227832"/>
            <a:ext cx="365760" cy="365760"/>
          </a:xfrm>
          <a:prstGeom prst="rect">
            <a:avLst/>
          </a:prstGeom>
        </p:spPr>
      </p:pic>
      <p:sp>
        <p:nvSpPr>
          <p:cNvPr id="7" name="Text 4"/>
          <p:cNvSpPr/>
          <p:nvPr/>
        </p:nvSpPr>
        <p:spPr>
          <a:xfrm>
            <a:off x="9588764" y="3685032"/>
            <a:ext cx="1962851"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۹</a:t>
            </a:r>
            <a:endParaRPr lang="en-US" sz="3000" dirty="0"/>
          </a:p>
        </p:txBody>
      </p:sp>
      <p:sp>
        <p:nvSpPr>
          <p:cNvPr id="8" name="Text 5"/>
          <p:cNvSpPr/>
          <p:nvPr/>
        </p:nvSpPr>
        <p:spPr>
          <a:xfrm>
            <a:off x="9680204" y="4270248"/>
            <a:ext cx="1779971" cy="457200"/>
          </a:xfrm>
          <a:prstGeom prst="rect">
            <a:avLst/>
          </a:prstGeom>
          <a:noFill/>
          <a:ln/>
        </p:spPr>
        <p:txBody>
          <a:bodyPr wrap="square" lIns="0" tIns="0" rIns="0" bIns="0" rtlCol="0" anchor="t"/>
          <a:lstStyle/>
          <a:p>
            <a:pPr marL="0" indent="0" algn="ctr">
              <a:buNone/>
            </a:pPr>
            <a:r>
              <a:rPr lang="en-US" sz="1150" dirty="0">
                <a:solidFill>
                  <a:srgbClr val="C7D9EE"/>
                </a:solidFill>
                <a:latin typeface="Calibri" pitchFamily="34" charset="0"/>
                <a:ea typeface="Calibri" pitchFamily="34" charset="-122"/>
                <a:cs typeface="Calibri" pitchFamily="34" charset="-120"/>
              </a:rPr>
              <a:t>فصل تخصصی</a:t>
            </a:r>
            <a:endParaRPr lang="en-US" sz="1150" dirty="0"/>
          </a:p>
        </p:txBody>
      </p:sp>
      <p:sp>
        <p:nvSpPr>
          <p:cNvPr id="9" name="Shape 6"/>
          <p:cNvSpPr/>
          <p:nvPr/>
        </p:nvSpPr>
        <p:spPr>
          <a:xfrm>
            <a:off x="7351593" y="2971800"/>
            <a:ext cx="1962851" cy="1828800"/>
          </a:xfrm>
          <a:prstGeom prst="roundRect">
            <a:avLst>
              <a:gd name="adj" fmla="val 4500"/>
            </a:avLst>
          </a:prstGeom>
          <a:solidFill>
            <a:srgbClr val="0B2545"/>
          </a:solidFill>
          <a:ln/>
          <a:effectLst>
            <a:outerShdw blurRad="101600" dist="38100" dir="2700000" algn="bl" rotWithShape="0">
              <a:srgbClr val="0B2545">
                <a:alpha val="16000"/>
              </a:srgbClr>
            </a:outerShdw>
          </a:effectLst>
        </p:spPr>
      </p:sp>
      <p:pic>
        <p:nvPicPr>
          <p:cNvPr id="10" name="Image 1" descr="/home/claude/reactor_pptx/icons/diagram_teal.png"/>
          <p:cNvPicPr>
            <a:picLocks noChangeAspect="1"/>
          </p:cNvPicPr>
          <p:nvPr/>
        </p:nvPicPr>
        <p:blipFill>
          <a:blip r:embed="rId4"/>
          <a:stretch>
            <a:fillRect/>
          </a:stretch>
        </p:blipFill>
        <p:spPr>
          <a:xfrm>
            <a:off x="8150139" y="3227832"/>
            <a:ext cx="365760" cy="365760"/>
          </a:xfrm>
          <a:prstGeom prst="rect">
            <a:avLst/>
          </a:prstGeom>
        </p:spPr>
      </p:pic>
      <p:sp>
        <p:nvSpPr>
          <p:cNvPr id="11" name="Text 7"/>
          <p:cNvSpPr/>
          <p:nvPr/>
        </p:nvSpPr>
        <p:spPr>
          <a:xfrm>
            <a:off x="7351593" y="3685032"/>
            <a:ext cx="1962851"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۵</a:t>
            </a:r>
            <a:endParaRPr lang="en-US" sz="3000" dirty="0"/>
          </a:p>
        </p:txBody>
      </p:sp>
      <p:sp>
        <p:nvSpPr>
          <p:cNvPr id="12" name="Text 8"/>
          <p:cNvSpPr/>
          <p:nvPr/>
        </p:nvSpPr>
        <p:spPr>
          <a:xfrm>
            <a:off x="7443033" y="4270248"/>
            <a:ext cx="1779971" cy="457200"/>
          </a:xfrm>
          <a:prstGeom prst="rect">
            <a:avLst/>
          </a:prstGeom>
          <a:noFill/>
          <a:ln/>
        </p:spPr>
        <p:txBody>
          <a:bodyPr wrap="square" lIns="0" tIns="0" rIns="0" bIns="0" rtlCol="0" anchor="t"/>
          <a:lstStyle/>
          <a:p>
            <a:pPr marL="0" indent="0" algn="ctr">
              <a:buNone/>
            </a:pPr>
            <a:r>
              <a:rPr lang="en-US" sz="1150" dirty="0">
                <a:solidFill>
                  <a:srgbClr val="C7D9EE"/>
                </a:solidFill>
                <a:latin typeface="Calibri" pitchFamily="34" charset="0"/>
                <a:ea typeface="Calibri" pitchFamily="34" charset="-122"/>
                <a:cs typeface="Calibri" pitchFamily="34" charset="-120"/>
              </a:rPr>
              <a:t>معیار طبقه‌بندی</a:t>
            </a:r>
            <a:endParaRPr lang="en-US" sz="1150" dirty="0"/>
          </a:p>
        </p:txBody>
      </p:sp>
      <p:sp>
        <p:nvSpPr>
          <p:cNvPr id="13" name="Shape 9"/>
          <p:cNvSpPr/>
          <p:nvPr/>
        </p:nvSpPr>
        <p:spPr>
          <a:xfrm>
            <a:off x="5114422" y="2971800"/>
            <a:ext cx="1962851" cy="1828800"/>
          </a:xfrm>
          <a:prstGeom prst="roundRect">
            <a:avLst>
              <a:gd name="adj" fmla="val 4500"/>
            </a:avLst>
          </a:prstGeom>
          <a:solidFill>
            <a:srgbClr val="0B2545"/>
          </a:solidFill>
          <a:ln/>
          <a:effectLst>
            <a:outerShdw blurRad="101600" dist="38100" dir="2700000" algn="bl" rotWithShape="0">
              <a:srgbClr val="0B2545">
                <a:alpha val="16000"/>
              </a:srgbClr>
            </a:outerShdw>
          </a:effectLst>
        </p:spPr>
      </p:sp>
      <p:pic>
        <p:nvPicPr>
          <p:cNvPr id="14" name="Image 2" descr="/home/claude/reactor_pptx/icons/atom_teal.png"/>
          <p:cNvPicPr>
            <a:picLocks noChangeAspect="1"/>
          </p:cNvPicPr>
          <p:nvPr/>
        </p:nvPicPr>
        <p:blipFill>
          <a:blip r:embed="rId5"/>
          <a:stretch>
            <a:fillRect/>
          </a:stretch>
        </p:blipFill>
        <p:spPr>
          <a:xfrm>
            <a:off x="5912968" y="3227832"/>
            <a:ext cx="365760" cy="365760"/>
          </a:xfrm>
          <a:prstGeom prst="rect">
            <a:avLst/>
          </a:prstGeom>
        </p:spPr>
      </p:pic>
      <p:sp>
        <p:nvSpPr>
          <p:cNvPr id="15" name="Text 10"/>
          <p:cNvSpPr/>
          <p:nvPr/>
        </p:nvSpPr>
        <p:spPr>
          <a:xfrm>
            <a:off x="5114422" y="3685032"/>
            <a:ext cx="1962851"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۴</a:t>
            </a:r>
            <a:endParaRPr lang="en-US" sz="3000" dirty="0"/>
          </a:p>
        </p:txBody>
      </p:sp>
      <p:sp>
        <p:nvSpPr>
          <p:cNvPr id="16" name="Text 11"/>
          <p:cNvSpPr/>
          <p:nvPr/>
        </p:nvSpPr>
        <p:spPr>
          <a:xfrm>
            <a:off x="5205862" y="4270248"/>
            <a:ext cx="1779971" cy="457200"/>
          </a:xfrm>
          <a:prstGeom prst="rect">
            <a:avLst/>
          </a:prstGeom>
          <a:noFill/>
          <a:ln/>
        </p:spPr>
        <p:txBody>
          <a:bodyPr wrap="square" lIns="0" tIns="0" rIns="0" bIns="0" rtlCol="0" anchor="t"/>
          <a:lstStyle/>
          <a:p>
            <a:pPr marL="0" indent="0" algn="ctr">
              <a:buNone/>
            </a:pPr>
            <a:r>
              <a:rPr lang="en-US" sz="1150" dirty="0">
                <a:solidFill>
                  <a:srgbClr val="C7D9EE"/>
                </a:solidFill>
                <a:latin typeface="Calibri" pitchFamily="34" charset="0"/>
                <a:ea typeface="Calibri" pitchFamily="34" charset="-122"/>
                <a:cs typeface="Calibri" pitchFamily="34" charset="-120"/>
              </a:rPr>
              <a:t>نوع راکتور کاتالیستی</a:t>
            </a:r>
            <a:endParaRPr lang="en-US" sz="1150" dirty="0"/>
          </a:p>
        </p:txBody>
      </p:sp>
      <p:sp>
        <p:nvSpPr>
          <p:cNvPr id="17" name="Shape 12"/>
          <p:cNvSpPr/>
          <p:nvPr/>
        </p:nvSpPr>
        <p:spPr>
          <a:xfrm>
            <a:off x="2877251" y="2971800"/>
            <a:ext cx="1962851" cy="1828800"/>
          </a:xfrm>
          <a:prstGeom prst="roundRect">
            <a:avLst>
              <a:gd name="adj" fmla="val 4500"/>
            </a:avLst>
          </a:prstGeom>
          <a:solidFill>
            <a:srgbClr val="0B2545"/>
          </a:solidFill>
          <a:ln/>
          <a:effectLst>
            <a:outerShdw blurRad="101600" dist="38100" dir="2700000" algn="bl" rotWithShape="0">
              <a:srgbClr val="0B2545">
                <a:alpha val="16000"/>
              </a:srgbClr>
            </a:outerShdw>
          </a:effectLst>
        </p:spPr>
      </p:sp>
      <p:pic>
        <p:nvPicPr>
          <p:cNvPr id="18" name="Image 3" descr="/home/claude/reactor_pptx/icons/cogs_teal.png"/>
          <p:cNvPicPr>
            <a:picLocks noChangeAspect="1"/>
          </p:cNvPicPr>
          <p:nvPr/>
        </p:nvPicPr>
        <p:blipFill>
          <a:blip r:embed="rId6"/>
          <a:stretch>
            <a:fillRect/>
          </a:stretch>
        </p:blipFill>
        <p:spPr>
          <a:xfrm>
            <a:off x="3675797" y="3227832"/>
            <a:ext cx="365760" cy="365760"/>
          </a:xfrm>
          <a:prstGeom prst="rect">
            <a:avLst/>
          </a:prstGeom>
        </p:spPr>
      </p:pic>
      <p:sp>
        <p:nvSpPr>
          <p:cNvPr id="19" name="Text 13"/>
          <p:cNvSpPr/>
          <p:nvPr/>
        </p:nvSpPr>
        <p:spPr>
          <a:xfrm>
            <a:off x="2877251" y="3685032"/>
            <a:ext cx="1962851"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۱۳</a:t>
            </a:r>
            <a:endParaRPr lang="en-US" sz="3000" dirty="0"/>
          </a:p>
        </p:txBody>
      </p:sp>
      <p:sp>
        <p:nvSpPr>
          <p:cNvPr id="20" name="Text 14"/>
          <p:cNvSpPr/>
          <p:nvPr/>
        </p:nvSpPr>
        <p:spPr>
          <a:xfrm>
            <a:off x="2968691" y="4270248"/>
            <a:ext cx="1779971" cy="457200"/>
          </a:xfrm>
          <a:prstGeom prst="rect">
            <a:avLst/>
          </a:prstGeom>
          <a:noFill/>
          <a:ln/>
        </p:spPr>
        <p:txBody>
          <a:bodyPr wrap="square" lIns="0" tIns="0" rIns="0" bIns="0" rtlCol="0" anchor="t"/>
          <a:lstStyle/>
          <a:p>
            <a:pPr marL="0" indent="0" algn="ctr">
              <a:buNone/>
            </a:pPr>
            <a:r>
              <a:rPr lang="en-US" sz="1150" dirty="0">
                <a:solidFill>
                  <a:srgbClr val="C7D9EE"/>
                </a:solidFill>
                <a:latin typeface="Calibri" pitchFamily="34" charset="0"/>
                <a:ea typeface="Calibri" pitchFamily="34" charset="-122"/>
                <a:cs typeface="Calibri" pitchFamily="34" charset="-120"/>
              </a:rPr>
              <a:t>جزء ساختاری و ابزار دقیق</a:t>
            </a:r>
            <a:endParaRPr lang="en-US" sz="1150" dirty="0"/>
          </a:p>
        </p:txBody>
      </p:sp>
      <p:sp>
        <p:nvSpPr>
          <p:cNvPr id="21" name="Shape 15"/>
          <p:cNvSpPr/>
          <p:nvPr/>
        </p:nvSpPr>
        <p:spPr>
          <a:xfrm>
            <a:off x="640080" y="2971800"/>
            <a:ext cx="1962851" cy="1828800"/>
          </a:xfrm>
          <a:prstGeom prst="roundRect">
            <a:avLst>
              <a:gd name="adj" fmla="val 4500"/>
            </a:avLst>
          </a:prstGeom>
          <a:solidFill>
            <a:srgbClr val="0B2545"/>
          </a:solidFill>
          <a:ln/>
          <a:effectLst>
            <a:outerShdw blurRad="101600" dist="38100" dir="2700000" algn="bl" rotWithShape="0">
              <a:srgbClr val="0B2545">
                <a:alpha val="16000"/>
              </a:srgbClr>
            </a:outerShdw>
          </a:effectLst>
        </p:spPr>
      </p:sp>
      <p:pic>
        <p:nvPicPr>
          <p:cNvPr id="22" name="Image 4" descr="/home/claude/reactor_pptx/icons/industry_teal.png"/>
          <p:cNvPicPr>
            <a:picLocks noChangeAspect="1"/>
          </p:cNvPicPr>
          <p:nvPr/>
        </p:nvPicPr>
        <p:blipFill>
          <a:blip r:embed="rId7"/>
          <a:stretch>
            <a:fillRect/>
          </a:stretch>
        </p:blipFill>
        <p:spPr>
          <a:xfrm>
            <a:off x="1438626" y="3227832"/>
            <a:ext cx="365760" cy="365760"/>
          </a:xfrm>
          <a:prstGeom prst="rect">
            <a:avLst/>
          </a:prstGeom>
        </p:spPr>
      </p:pic>
      <p:sp>
        <p:nvSpPr>
          <p:cNvPr id="23" name="Text 16"/>
          <p:cNvSpPr/>
          <p:nvPr/>
        </p:nvSpPr>
        <p:spPr>
          <a:xfrm>
            <a:off x="640080" y="3685032"/>
            <a:ext cx="1962851"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۸</a:t>
            </a:r>
            <a:endParaRPr lang="en-US" sz="3000" dirty="0"/>
          </a:p>
        </p:txBody>
      </p:sp>
      <p:sp>
        <p:nvSpPr>
          <p:cNvPr id="24" name="Text 17"/>
          <p:cNvSpPr/>
          <p:nvPr/>
        </p:nvSpPr>
        <p:spPr>
          <a:xfrm>
            <a:off x="731520" y="4270248"/>
            <a:ext cx="1779971" cy="457200"/>
          </a:xfrm>
          <a:prstGeom prst="rect">
            <a:avLst/>
          </a:prstGeom>
          <a:noFill/>
          <a:ln/>
        </p:spPr>
        <p:txBody>
          <a:bodyPr wrap="square" lIns="0" tIns="0" rIns="0" bIns="0" rtlCol="0" anchor="t"/>
          <a:lstStyle/>
          <a:p>
            <a:pPr marL="0" indent="0" algn="ctr">
              <a:buNone/>
            </a:pPr>
            <a:r>
              <a:rPr lang="en-US" sz="1150" dirty="0">
                <a:solidFill>
                  <a:srgbClr val="C7D9EE"/>
                </a:solidFill>
                <a:latin typeface="Calibri" pitchFamily="34" charset="0"/>
                <a:ea typeface="Calibri" pitchFamily="34" charset="-122"/>
                <a:cs typeface="Calibri" pitchFamily="34" charset="-120"/>
              </a:rPr>
              <a:t>حوزه کاربرد صنعتی</a:t>
            </a:r>
            <a:endParaRPr lang="en-US" sz="1150" dirty="0"/>
          </a:p>
        </p:txBody>
      </p:sp>
      <p:sp>
        <p:nvSpPr>
          <p:cNvPr id="25" name="Text 18"/>
          <p:cNvSpPr/>
          <p:nvPr/>
        </p:nvSpPr>
        <p:spPr>
          <a:xfrm>
            <a:off x="640080" y="5257800"/>
            <a:ext cx="10911535" cy="777240"/>
          </a:xfrm>
          <a:prstGeom prst="rect">
            <a:avLst/>
          </a:prstGeom>
          <a:noFill/>
          <a:ln/>
        </p:spPr>
        <p:txBody>
          <a:bodyPr wrap="square" lIns="0" tIns="0" rIns="0" bIns="0" rtlCol="0" anchor="ctr"/>
          <a:lstStyle/>
          <a:p>
            <a:pPr marL="0" indent="0" algn="r">
              <a:lnSpc>
                <a:spcPct val="130000"/>
              </a:lnSpc>
              <a:buNone/>
            </a:pPr>
            <a:r>
              <a:rPr lang="en-US" sz="1350" i="1" dirty="0">
                <a:solidFill>
                  <a:srgbClr val="D98E3F"/>
                </a:solidFill>
                <a:latin typeface="Calibri" pitchFamily="34" charset="0"/>
                <a:ea typeface="Calibri" pitchFamily="34" charset="-122"/>
                <a:cs typeface="Calibri" pitchFamily="34" charset="-120"/>
              </a:rPr>
              <a:t>نتیجه کلیدی: هیچ نوع راکتوری به‌طور مطلق برتر از سایرین نیست — انتخاب بهینه باید بر اساس ماهیت واکنش، مقیاس تولید، الزامات ایمنی، محدودیت اقتصادی و اهداف کیفی محصول صورت گیرد.</a:t>
            </a:r>
            <a:endParaRPr lang="en-US" sz="1350" dirty="0"/>
          </a:p>
        </p:txBody>
      </p:sp>
      <p:sp>
        <p:nvSpPr>
          <p:cNvPr id="26" name="Text 19"/>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03</a:t>
            </a:r>
            <a:endParaRPr lang="en-US" sz="1000" dirty="0"/>
          </a:p>
        </p:txBody>
      </p:sp>
      <p:sp>
        <p:nvSpPr>
          <p:cNvPr id="27" name="Text 20"/>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144000" y="-1645920"/>
            <a:ext cx="5029200" cy="5029200"/>
          </a:xfrm>
          <a:prstGeom prst="ellipse">
            <a:avLst/>
          </a:prstGeom>
          <a:solidFill>
            <a:srgbClr val="112C52"/>
          </a:solidFill>
          <a:ln/>
        </p:spPr>
      </p:sp>
      <p:sp>
        <p:nvSpPr>
          <p:cNvPr id="3" name="Shape 1"/>
          <p:cNvSpPr/>
          <p:nvPr/>
        </p:nvSpPr>
        <p:spPr>
          <a:xfrm>
            <a:off x="-1828800" y="4572000"/>
            <a:ext cx="3657600" cy="3657600"/>
          </a:xfrm>
          <a:prstGeom prst="ellipse">
            <a:avLst/>
          </a:prstGeom>
          <a:solidFill>
            <a:srgbClr val="16396B"/>
          </a:solidFill>
          <a:ln/>
        </p:spPr>
      </p:sp>
      <p:sp>
        <p:nvSpPr>
          <p:cNvPr id="4" name="Text 2"/>
          <p:cNvSpPr/>
          <p:nvPr/>
        </p:nvSpPr>
        <p:spPr>
          <a:xfrm>
            <a:off x="822960" y="2011680"/>
            <a:ext cx="5486400" cy="457200"/>
          </a:xfrm>
          <a:prstGeom prst="rect">
            <a:avLst/>
          </a:prstGeom>
          <a:noFill/>
          <a:ln/>
        </p:spPr>
        <p:txBody>
          <a:bodyPr wrap="square" lIns="0" tIns="0" rIns="0" bIns="0" rtlCol="0" anchor="ctr"/>
          <a:lstStyle/>
          <a:p>
            <a:pPr marL="0" indent="0" algn="r">
              <a:buNone/>
            </a:pPr>
            <a:r>
              <a:rPr lang="en-US" sz="1600" b="1" kern="0" spc="100" dirty="0">
                <a:solidFill>
                  <a:srgbClr val="D98E3F"/>
                </a:solidFill>
                <a:latin typeface="Calibri" pitchFamily="34" charset="0"/>
                <a:ea typeface="Calibri" pitchFamily="34" charset="-122"/>
                <a:cs typeface="Calibri" pitchFamily="34" charset="-120"/>
              </a:rPr>
              <a:t>فصل اول</a:t>
            </a:r>
            <a:endParaRPr lang="en-US" sz="1600" dirty="0"/>
          </a:p>
        </p:txBody>
      </p:sp>
      <p:sp>
        <p:nvSpPr>
          <p:cNvPr id="5" name="Text 3"/>
          <p:cNvSpPr/>
          <p:nvPr/>
        </p:nvSpPr>
        <p:spPr>
          <a:xfrm>
            <a:off x="822960" y="2468880"/>
            <a:ext cx="9875520" cy="1097280"/>
          </a:xfrm>
          <a:prstGeom prst="rect">
            <a:avLst/>
          </a:prstGeom>
          <a:noFill/>
          <a:ln/>
        </p:spPr>
        <p:txBody>
          <a:bodyPr wrap="square" lIns="0" tIns="0" rIns="0" bIns="0" rtlCol="0" anchor="ctr"/>
          <a:lstStyle/>
          <a:p>
            <a:pPr marL="0" indent="0" algn="r">
              <a:buNone/>
            </a:pPr>
            <a:r>
              <a:rPr lang="en-US" sz="3800" b="1" dirty="0">
                <a:solidFill>
                  <a:srgbClr val="FFFFFF"/>
                </a:solidFill>
                <a:latin typeface="Calibri" pitchFamily="34" charset="0"/>
                <a:ea typeface="Calibri" pitchFamily="34" charset="-122"/>
                <a:cs typeface="Calibri" pitchFamily="34" charset="-120"/>
              </a:rPr>
              <a:t>مفاهیم پایه راکتورهای شیمیایی</a:t>
            </a:r>
            <a:endParaRPr lang="en-US" sz="3800" dirty="0"/>
          </a:p>
        </p:txBody>
      </p:sp>
      <p:sp>
        <p:nvSpPr>
          <p:cNvPr id="6" name="Text 4"/>
          <p:cNvSpPr/>
          <p:nvPr/>
        </p:nvSpPr>
        <p:spPr>
          <a:xfrm>
            <a:off x="822960" y="3429000"/>
            <a:ext cx="8686800" cy="548640"/>
          </a:xfrm>
          <a:prstGeom prst="rect">
            <a:avLst/>
          </a:prstGeom>
          <a:noFill/>
          <a:ln/>
        </p:spPr>
        <p:txBody>
          <a:bodyPr wrap="square" lIns="0" tIns="0" rIns="0" bIns="0" rtlCol="0" anchor="ctr"/>
          <a:lstStyle/>
          <a:p>
            <a:pPr marL="0" indent="0" algn="r">
              <a:buNone/>
            </a:pPr>
            <a:r>
              <a:rPr lang="en-US" sz="1600" dirty="0">
                <a:solidFill>
                  <a:srgbClr val="C7D9EE"/>
                </a:solidFill>
                <a:latin typeface="Calibri" pitchFamily="34" charset="0"/>
                <a:ea typeface="Calibri" pitchFamily="34" charset="-122"/>
                <a:cs typeface="Calibri" pitchFamily="34" charset="-120"/>
              </a:rPr>
              <a:t>تعریف، اهمیت صنعتی و پارامترهای مؤثر در طراحی راکتور</a:t>
            </a:r>
            <a:endParaRPr lang="en-US" sz="1600" dirty="0"/>
          </a:p>
        </p:txBody>
      </p:sp>
      <p:pic>
        <p:nvPicPr>
          <p:cNvPr id="7" name="Image 0" descr="/home/claude/reactor_pptx/icons/flask_teal.png"/>
          <p:cNvPicPr>
            <a:picLocks noChangeAspect="1"/>
          </p:cNvPicPr>
          <p:nvPr/>
        </p:nvPicPr>
        <p:blipFill>
          <a:blip r:embed="rId3"/>
          <a:stretch>
            <a:fillRect/>
          </a:stretch>
        </p:blipFill>
        <p:spPr>
          <a:xfrm>
            <a:off x="9814255" y="4297680"/>
            <a:ext cx="1188720" cy="1188720"/>
          </a:xfrm>
          <a:prstGeom prst="rect">
            <a:avLst/>
          </a:prstGeom>
        </p:spPr>
      </p:pic>
      <p:sp>
        <p:nvSpPr>
          <p:cNvPr id="8" name="Text 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8096B0"/>
                </a:solidFill>
                <a:latin typeface="Calibri" pitchFamily="34" charset="0"/>
                <a:ea typeface="Calibri" pitchFamily="34" charset="-122"/>
                <a:cs typeface="Calibri" pitchFamily="34" charset="-120"/>
              </a:rPr>
              <a:t>04</a:t>
            </a:r>
            <a:endParaRPr lang="en-US" sz="1000" dirty="0"/>
          </a:p>
        </p:txBody>
      </p:sp>
      <p:sp>
        <p:nvSpPr>
          <p:cNvPr id="9" name="Text 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8096B0"/>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28016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۱-۱</a:t>
            </a:r>
            <a:endParaRPr lang="en-US" sz="1600" dirty="0"/>
          </a:p>
        </p:txBody>
      </p:sp>
      <p:sp>
        <p:nvSpPr>
          <p:cNvPr id="3" name="Text 1"/>
          <p:cNvSpPr/>
          <p:nvPr/>
        </p:nvSpPr>
        <p:spPr>
          <a:xfrm>
            <a:off x="1371600" y="502920"/>
            <a:ext cx="1018001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تعریف راکتور شیمیایی</a:t>
            </a:r>
            <a:endParaRPr lang="en-US" sz="1300" dirty="0"/>
          </a:p>
        </p:txBody>
      </p:sp>
      <p:sp>
        <p:nvSpPr>
          <p:cNvPr id="4" name="Text 2"/>
          <p:cNvSpPr/>
          <p:nvPr/>
        </p:nvSpPr>
        <p:spPr>
          <a:xfrm>
            <a:off x="1371600" y="841248"/>
            <a:ext cx="1018001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محفظه‌ای برای تبدیل کنترل‌شده مواد</a:t>
            </a:r>
            <a:endParaRPr lang="en-US" sz="2800" dirty="0"/>
          </a:p>
        </p:txBody>
      </p:sp>
      <p:sp>
        <p:nvSpPr>
          <p:cNvPr id="5" name="Text 3"/>
          <p:cNvSpPr/>
          <p:nvPr/>
        </p:nvSpPr>
        <p:spPr>
          <a:xfrm>
            <a:off x="640080" y="1737360"/>
            <a:ext cx="10911535" cy="1051560"/>
          </a:xfrm>
          <a:prstGeom prst="rect">
            <a:avLst/>
          </a:prstGeom>
          <a:noFill/>
          <a:ln/>
        </p:spPr>
        <p:txBody>
          <a:bodyPr wrap="square" lIns="0" tIns="0" rIns="0" bIns="0" rtlCol="0" anchor="ctr"/>
          <a:lstStyle/>
          <a:p>
            <a:pPr marL="0" indent="0" algn="r">
              <a:lnSpc>
                <a:spcPct val="135000"/>
              </a:lnSpc>
              <a:buNone/>
            </a:pPr>
            <a:r>
              <a:rPr lang="en-US" sz="1450" dirty="0">
                <a:solidFill>
                  <a:srgbClr val="5C6B73"/>
                </a:solidFill>
                <a:latin typeface="Calibri" pitchFamily="34" charset="0"/>
                <a:ea typeface="Calibri" pitchFamily="34" charset="-122"/>
                <a:cs typeface="Calibri" pitchFamily="34" charset="-120"/>
              </a:rPr>
              <a:t>راکتور شیمیایی به محفظه یا تجهیزی اطلاق می‌شود که در آن واکنش‌های شیمیایی تحت شرایط کنترل‌شده دما، فشار، غلظت و زمان اقامت انجام می‌گیرد. از منظر مهندسی فرآیند، راکتور قلب هر واحد شیمیایی است؛ تمامی واحدهای پیش‌فرآیند و پس‌فرآیند حول محور عملکرد آن طراحی می‌شوند.</a:t>
            </a:r>
            <a:endParaRPr lang="en-US" sz="1450" dirty="0"/>
          </a:p>
        </p:txBody>
      </p:sp>
      <p:sp>
        <p:nvSpPr>
          <p:cNvPr id="6" name="Shape 4"/>
          <p:cNvSpPr/>
          <p:nvPr/>
        </p:nvSpPr>
        <p:spPr>
          <a:xfrm>
            <a:off x="8127797" y="3063240"/>
            <a:ext cx="3423818" cy="2606040"/>
          </a:xfrm>
          <a:prstGeom prst="roundRect">
            <a:avLst>
              <a:gd name="adj" fmla="val 2807"/>
            </a:avLst>
          </a:prstGeom>
          <a:solidFill>
            <a:srgbClr val="F7F9FA"/>
          </a:solidFill>
          <a:ln/>
        </p:spPr>
      </p:sp>
      <p:sp>
        <p:nvSpPr>
          <p:cNvPr id="7" name="Shape 5"/>
          <p:cNvSpPr/>
          <p:nvPr/>
        </p:nvSpPr>
        <p:spPr>
          <a:xfrm>
            <a:off x="8402117" y="3337560"/>
            <a:ext cx="566928" cy="566928"/>
          </a:xfrm>
          <a:prstGeom prst="ellipse">
            <a:avLst/>
          </a:prstGeom>
          <a:solidFill>
            <a:srgbClr val="0E7C7B"/>
          </a:solidFill>
          <a:ln/>
        </p:spPr>
      </p:sp>
      <p:pic>
        <p:nvPicPr>
          <p:cNvPr id="8" name="Image 0" descr="/home/claude/reactor_pptx/icons/cube_white.png"/>
          <p:cNvPicPr>
            <a:picLocks noChangeAspect="1"/>
          </p:cNvPicPr>
          <p:nvPr/>
        </p:nvPicPr>
        <p:blipFill>
          <a:blip r:embed="rId3"/>
          <a:stretch>
            <a:fillRect/>
          </a:stretch>
        </p:blipFill>
        <p:spPr>
          <a:xfrm>
            <a:off x="8548421" y="3483864"/>
            <a:ext cx="274320" cy="274320"/>
          </a:xfrm>
          <a:prstGeom prst="rect">
            <a:avLst/>
          </a:prstGeom>
        </p:spPr>
      </p:pic>
      <p:sp>
        <p:nvSpPr>
          <p:cNvPr id="9" name="Text 6"/>
          <p:cNvSpPr/>
          <p:nvPr/>
        </p:nvSpPr>
        <p:spPr>
          <a:xfrm>
            <a:off x="8402117" y="4023360"/>
            <a:ext cx="2875178" cy="274320"/>
          </a:xfrm>
          <a:prstGeom prst="rect">
            <a:avLst/>
          </a:prstGeom>
          <a:noFill/>
          <a:ln/>
        </p:spPr>
        <p:txBody>
          <a:bodyPr wrap="square" lIns="0" tIns="0" rIns="0" bIns="0" rtlCol="0" anchor="ctr"/>
          <a:lstStyle/>
          <a:p>
            <a:pPr marL="0" indent="0" algn="r">
              <a:buNone/>
            </a:pPr>
            <a:r>
              <a:rPr lang="en-US" sz="1050" b="1" dirty="0">
                <a:solidFill>
                  <a:srgbClr val="D98E3F"/>
                </a:solidFill>
                <a:latin typeface="Calibri" pitchFamily="34" charset="0"/>
                <a:ea typeface="Calibri" pitchFamily="34" charset="-122"/>
                <a:cs typeface="Calibri" pitchFamily="34" charset="-120"/>
              </a:rPr>
              <a:t>عنصر نخست</a:t>
            </a:r>
            <a:endParaRPr lang="en-US" sz="1050" dirty="0"/>
          </a:p>
        </p:txBody>
      </p:sp>
      <p:sp>
        <p:nvSpPr>
          <p:cNvPr id="10" name="Text 7"/>
          <p:cNvSpPr/>
          <p:nvPr/>
        </p:nvSpPr>
        <p:spPr>
          <a:xfrm>
            <a:off x="8402117" y="4279392"/>
            <a:ext cx="2875178" cy="365760"/>
          </a:xfrm>
          <a:prstGeom prst="rect">
            <a:avLst/>
          </a:prstGeom>
          <a:noFill/>
          <a:ln/>
        </p:spPr>
        <p:txBody>
          <a:bodyPr wrap="square" lIns="0" tIns="0" rIns="0" bIns="0" rtlCol="0" anchor="ctr"/>
          <a:lstStyle/>
          <a:p>
            <a:pPr marL="0" indent="0" algn="r">
              <a:buNone/>
            </a:pPr>
            <a:r>
              <a:rPr lang="en-US" sz="1600" b="1" dirty="0">
                <a:solidFill>
                  <a:srgbClr val="1A2433"/>
                </a:solidFill>
                <a:latin typeface="Calibri" pitchFamily="34" charset="0"/>
                <a:ea typeface="Calibri" pitchFamily="34" charset="-122"/>
                <a:cs typeface="Calibri" pitchFamily="34" charset="-120"/>
              </a:rPr>
              <a:t>محفظه فیزیکی</a:t>
            </a:r>
            <a:endParaRPr lang="en-US" sz="1600" dirty="0"/>
          </a:p>
        </p:txBody>
      </p:sp>
      <p:sp>
        <p:nvSpPr>
          <p:cNvPr id="11" name="Text 8"/>
          <p:cNvSpPr/>
          <p:nvPr/>
        </p:nvSpPr>
        <p:spPr>
          <a:xfrm>
            <a:off x="8402117" y="4645152"/>
            <a:ext cx="2875178" cy="914400"/>
          </a:xfrm>
          <a:prstGeom prst="rect">
            <a:avLst/>
          </a:prstGeom>
          <a:noFill/>
          <a:ln/>
        </p:spPr>
        <p:txBody>
          <a:bodyPr wrap="square" lIns="0" tIns="0" rIns="0" bIns="0" rtlCol="0" anchor="ctr"/>
          <a:lstStyle/>
          <a:p>
            <a:pPr marL="0" indent="0" algn="r">
              <a:lnSpc>
                <a:spcPct val="125000"/>
              </a:lnSpc>
              <a:buNone/>
            </a:pPr>
            <a:r>
              <a:rPr lang="en-US" sz="1150" dirty="0">
                <a:solidFill>
                  <a:srgbClr val="5C6B73"/>
                </a:solidFill>
                <a:latin typeface="Calibri" pitchFamily="34" charset="0"/>
                <a:ea typeface="Calibri" pitchFamily="34" charset="-122"/>
                <a:cs typeface="Calibri" pitchFamily="34" charset="-120"/>
              </a:rPr>
              <a:t>حجم واکنش را در بر می‌گیرد و در برابر شرایط شیمیایی و فیزیکی محیط مقاوم است.</a:t>
            </a:r>
            <a:endParaRPr lang="en-US" sz="1150" dirty="0"/>
          </a:p>
        </p:txBody>
      </p:sp>
      <p:sp>
        <p:nvSpPr>
          <p:cNvPr id="12" name="Shape 9"/>
          <p:cNvSpPr/>
          <p:nvPr/>
        </p:nvSpPr>
        <p:spPr>
          <a:xfrm>
            <a:off x="4383938" y="3063240"/>
            <a:ext cx="3423818" cy="2606040"/>
          </a:xfrm>
          <a:prstGeom prst="roundRect">
            <a:avLst>
              <a:gd name="adj" fmla="val 2807"/>
            </a:avLst>
          </a:prstGeom>
          <a:solidFill>
            <a:srgbClr val="F7F9FA"/>
          </a:solidFill>
          <a:ln/>
        </p:spPr>
      </p:sp>
      <p:sp>
        <p:nvSpPr>
          <p:cNvPr id="13" name="Shape 10"/>
          <p:cNvSpPr/>
          <p:nvPr/>
        </p:nvSpPr>
        <p:spPr>
          <a:xfrm>
            <a:off x="4658258" y="3337560"/>
            <a:ext cx="566928" cy="566928"/>
          </a:xfrm>
          <a:prstGeom prst="ellipse">
            <a:avLst/>
          </a:prstGeom>
          <a:solidFill>
            <a:srgbClr val="0E7C7B"/>
          </a:solidFill>
          <a:ln/>
        </p:spPr>
      </p:sp>
      <p:pic>
        <p:nvPicPr>
          <p:cNvPr id="14" name="Image 1" descr="/home/claude/reactor_pptx/icons/exchange_white.png"/>
          <p:cNvPicPr>
            <a:picLocks noChangeAspect="1"/>
          </p:cNvPicPr>
          <p:nvPr/>
        </p:nvPicPr>
        <p:blipFill>
          <a:blip r:embed="rId4"/>
          <a:stretch>
            <a:fillRect/>
          </a:stretch>
        </p:blipFill>
        <p:spPr>
          <a:xfrm>
            <a:off x="4804562" y="3483864"/>
            <a:ext cx="274320" cy="274320"/>
          </a:xfrm>
          <a:prstGeom prst="rect">
            <a:avLst/>
          </a:prstGeom>
        </p:spPr>
      </p:pic>
      <p:sp>
        <p:nvSpPr>
          <p:cNvPr id="15" name="Text 11"/>
          <p:cNvSpPr/>
          <p:nvPr/>
        </p:nvSpPr>
        <p:spPr>
          <a:xfrm>
            <a:off x="4658258" y="4023360"/>
            <a:ext cx="2875178" cy="274320"/>
          </a:xfrm>
          <a:prstGeom prst="rect">
            <a:avLst/>
          </a:prstGeom>
          <a:noFill/>
          <a:ln/>
        </p:spPr>
        <p:txBody>
          <a:bodyPr wrap="square" lIns="0" tIns="0" rIns="0" bIns="0" rtlCol="0" anchor="ctr"/>
          <a:lstStyle/>
          <a:p>
            <a:pPr marL="0" indent="0" algn="r">
              <a:buNone/>
            </a:pPr>
            <a:r>
              <a:rPr lang="en-US" sz="1050" b="1" dirty="0">
                <a:solidFill>
                  <a:srgbClr val="D98E3F"/>
                </a:solidFill>
                <a:latin typeface="Calibri" pitchFamily="34" charset="0"/>
                <a:ea typeface="Calibri" pitchFamily="34" charset="-122"/>
                <a:cs typeface="Calibri" pitchFamily="34" charset="-120"/>
              </a:rPr>
              <a:t>عنصر دوم</a:t>
            </a:r>
            <a:endParaRPr lang="en-US" sz="1050" dirty="0"/>
          </a:p>
        </p:txBody>
      </p:sp>
      <p:sp>
        <p:nvSpPr>
          <p:cNvPr id="16" name="Text 12"/>
          <p:cNvSpPr/>
          <p:nvPr/>
        </p:nvSpPr>
        <p:spPr>
          <a:xfrm>
            <a:off x="4658258" y="4279392"/>
            <a:ext cx="2875178" cy="365760"/>
          </a:xfrm>
          <a:prstGeom prst="rect">
            <a:avLst/>
          </a:prstGeom>
          <a:noFill/>
          <a:ln/>
        </p:spPr>
        <p:txBody>
          <a:bodyPr wrap="square" lIns="0" tIns="0" rIns="0" bIns="0" rtlCol="0" anchor="ctr"/>
          <a:lstStyle/>
          <a:p>
            <a:pPr marL="0" indent="0" algn="r">
              <a:buNone/>
            </a:pPr>
            <a:r>
              <a:rPr lang="en-US" sz="1600" b="1" dirty="0">
                <a:solidFill>
                  <a:srgbClr val="1A2433"/>
                </a:solidFill>
                <a:latin typeface="Calibri" pitchFamily="34" charset="0"/>
                <a:ea typeface="Calibri" pitchFamily="34" charset="-122"/>
                <a:cs typeface="Calibri" pitchFamily="34" charset="-120"/>
              </a:rPr>
              <a:t>انتقال جرم و حرارت</a:t>
            </a:r>
            <a:endParaRPr lang="en-US" sz="1600" dirty="0"/>
          </a:p>
        </p:txBody>
      </p:sp>
      <p:sp>
        <p:nvSpPr>
          <p:cNvPr id="17" name="Text 13"/>
          <p:cNvSpPr/>
          <p:nvPr/>
        </p:nvSpPr>
        <p:spPr>
          <a:xfrm>
            <a:off x="4658258" y="4645152"/>
            <a:ext cx="2875178" cy="914400"/>
          </a:xfrm>
          <a:prstGeom prst="rect">
            <a:avLst/>
          </a:prstGeom>
          <a:noFill/>
          <a:ln/>
        </p:spPr>
        <p:txBody>
          <a:bodyPr wrap="square" lIns="0" tIns="0" rIns="0" bIns="0" rtlCol="0" anchor="ctr"/>
          <a:lstStyle/>
          <a:p>
            <a:pPr marL="0" indent="0" algn="r">
              <a:lnSpc>
                <a:spcPct val="125000"/>
              </a:lnSpc>
              <a:buNone/>
            </a:pPr>
            <a:r>
              <a:rPr lang="en-US" sz="1150" dirty="0">
                <a:solidFill>
                  <a:srgbClr val="5C6B73"/>
                </a:solidFill>
                <a:latin typeface="Calibri" pitchFamily="34" charset="0"/>
                <a:ea typeface="Calibri" pitchFamily="34" charset="-122"/>
                <a:cs typeface="Calibri" pitchFamily="34" charset="-120"/>
              </a:rPr>
              <a:t>اختلاط مناسب واکنش‌دهنده‌ها و حفظ دمای مطلوب در سراسر حجم راکتور را تضمین می‌کند.</a:t>
            </a:r>
            <a:endParaRPr lang="en-US" sz="1150" dirty="0"/>
          </a:p>
        </p:txBody>
      </p:sp>
      <p:sp>
        <p:nvSpPr>
          <p:cNvPr id="18" name="Shape 14"/>
          <p:cNvSpPr/>
          <p:nvPr/>
        </p:nvSpPr>
        <p:spPr>
          <a:xfrm>
            <a:off x="640080" y="3063240"/>
            <a:ext cx="3423818" cy="2606040"/>
          </a:xfrm>
          <a:prstGeom prst="roundRect">
            <a:avLst>
              <a:gd name="adj" fmla="val 2807"/>
            </a:avLst>
          </a:prstGeom>
          <a:solidFill>
            <a:srgbClr val="F7F9FA"/>
          </a:solidFill>
          <a:ln/>
        </p:spPr>
      </p:sp>
      <p:sp>
        <p:nvSpPr>
          <p:cNvPr id="19" name="Shape 15"/>
          <p:cNvSpPr/>
          <p:nvPr/>
        </p:nvSpPr>
        <p:spPr>
          <a:xfrm>
            <a:off x="914400" y="3337560"/>
            <a:ext cx="566928" cy="566928"/>
          </a:xfrm>
          <a:prstGeom prst="ellipse">
            <a:avLst/>
          </a:prstGeom>
          <a:solidFill>
            <a:srgbClr val="0E7C7B"/>
          </a:solidFill>
          <a:ln/>
        </p:spPr>
      </p:sp>
      <p:pic>
        <p:nvPicPr>
          <p:cNvPr id="20" name="Image 2" descr="/home/claude/reactor_pptx/icons/tachometer_white.png"/>
          <p:cNvPicPr>
            <a:picLocks noChangeAspect="1"/>
          </p:cNvPicPr>
          <p:nvPr/>
        </p:nvPicPr>
        <p:blipFill>
          <a:blip r:embed="rId5"/>
          <a:stretch>
            <a:fillRect/>
          </a:stretch>
        </p:blipFill>
        <p:spPr>
          <a:xfrm>
            <a:off x="1060704" y="3483864"/>
            <a:ext cx="274320" cy="274320"/>
          </a:xfrm>
          <a:prstGeom prst="rect">
            <a:avLst/>
          </a:prstGeom>
        </p:spPr>
      </p:pic>
      <p:sp>
        <p:nvSpPr>
          <p:cNvPr id="21" name="Text 16"/>
          <p:cNvSpPr/>
          <p:nvPr/>
        </p:nvSpPr>
        <p:spPr>
          <a:xfrm>
            <a:off x="914400" y="4023360"/>
            <a:ext cx="2875178" cy="274320"/>
          </a:xfrm>
          <a:prstGeom prst="rect">
            <a:avLst/>
          </a:prstGeom>
          <a:noFill/>
          <a:ln/>
        </p:spPr>
        <p:txBody>
          <a:bodyPr wrap="square" lIns="0" tIns="0" rIns="0" bIns="0" rtlCol="0" anchor="ctr"/>
          <a:lstStyle/>
          <a:p>
            <a:pPr marL="0" indent="0" algn="r">
              <a:buNone/>
            </a:pPr>
            <a:r>
              <a:rPr lang="en-US" sz="1050" b="1" dirty="0">
                <a:solidFill>
                  <a:srgbClr val="D98E3F"/>
                </a:solidFill>
                <a:latin typeface="Calibri" pitchFamily="34" charset="0"/>
                <a:ea typeface="Calibri" pitchFamily="34" charset="-122"/>
                <a:cs typeface="Calibri" pitchFamily="34" charset="-120"/>
              </a:rPr>
              <a:t>عنصر سوم</a:t>
            </a:r>
            <a:endParaRPr lang="en-US" sz="1050" dirty="0"/>
          </a:p>
        </p:txBody>
      </p:sp>
      <p:sp>
        <p:nvSpPr>
          <p:cNvPr id="22" name="Text 17"/>
          <p:cNvSpPr/>
          <p:nvPr/>
        </p:nvSpPr>
        <p:spPr>
          <a:xfrm>
            <a:off x="914400" y="4279392"/>
            <a:ext cx="2875178" cy="365760"/>
          </a:xfrm>
          <a:prstGeom prst="rect">
            <a:avLst/>
          </a:prstGeom>
          <a:noFill/>
          <a:ln/>
        </p:spPr>
        <p:txBody>
          <a:bodyPr wrap="square" lIns="0" tIns="0" rIns="0" bIns="0" rtlCol="0" anchor="ctr"/>
          <a:lstStyle/>
          <a:p>
            <a:pPr marL="0" indent="0" algn="r">
              <a:buNone/>
            </a:pPr>
            <a:r>
              <a:rPr lang="en-US" sz="1600" b="1" dirty="0">
                <a:solidFill>
                  <a:srgbClr val="1A2433"/>
                </a:solidFill>
                <a:latin typeface="Calibri" pitchFamily="34" charset="0"/>
                <a:ea typeface="Calibri" pitchFamily="34" charset="-122"/>
                <a:cs typeface="Calibri" pitchFamily="34" charset="-120"/>
              </a:rPr>
              <a:t>اندازه‌گیری و کنترل</a:t>
            </a:r>
            <a:endParaRPr lang="en-US" sz="1600" dirty="0"/>
          </a:p>
        </p:txBody>
      </p:sp>
      <p:sp>
        <p:nvSpPr>
          <p:cNvPr id="23" name="Text 18"/>
          <p:cNvSpPr/>
          <p:nvPr/>
        </p:nvSpPr>
        <p:spPr>
          <a:xfrm>
            <a:off x="914400" y="4645152"/>
            <a:ext cx="2875178" cy="914400"/>
          </a:xfrm>
          <a:prstGeom prst="rect">
            <a:avLst/>
          </a:prstGeom>
          <a:noFill/>
          <a:ln/>
        </p:spPr>
        <p:txBody>
          <a:bodyPr wrap="square" lIns="0" tIns="0" rIns="0" bIns="0" rtlCol="0" anchor="ctr"/>
          <a:lstStyle/>
          <a:p>
            <a:pPr marL="0" indent="0" algn="r">
              <a:lnSpc>
                <a:spcPct val="125000"/>
              </a:lnSpc>
              <a:buNone/>
            </a:pPr>
            <a:r>
              <a:rPr lang="en-US" sz="1150" dirty="0">
                <a:solidFill>
                  <a:srgbClr val="5C6B73"/>
                </a:solidFill>
                <a:latin typeface="Calibri" pitchFamily="34" charset="0"/>
                <a:ea typeface="Calibri" pitchFamily="34" charset="-122"/>
                <a:cs typeface="Calibri" pitchFamily="34" charset="-120"/>
              </a:rPr>
              <a:t>پایش و تنظیم پیوسته شرایط عملیاتی راکتور را امکان‌پذیر می‌سازد.</a:t>
            </a:r>
            <a:endParaRPr lang="en-US" sz="1150" dirty="0"/>
          </a:p>
        </p:txBody>
      </p:sp>
      <p:sp>
        <p:nvSpPr>
          <p:cNvPr id="24" name="Text 19"/>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05</a:t>
            </a:r>
            <a:endParaRPr lang="en-US" sz="1000" dirty="0"/>
          </a:p>
        </p:txBody>
      </p:sp>
      <p:sp>
        <p:nvSpPr>
          <p:cNvPr id="25" name="Text 20"/>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28016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۱-۲</a:t>
            </a:r>
            <a:endParaRPr lang="en-US" sz="1600" dirty="0"/>
          </a:p>
        </p:txBody>
      </p:sp>
      <p:sp>
        <p:nvSpPr>
          <p:cNvPr id="3" name="Text 1"/>
          <p:cNvSpPr/>
          <p:nvPr/>
        </p:nvSpPr>
        <p:spPr>
          <a:xfrm>
            <a:off x="1371600" y="502920"/>
            <a:ext cx="1018001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اهمیت راکتورها در صنایع شیمیایی</a:t>
            </a:r>
            <a:endParaRPr lang="en-US" sz="1300" dirty="0"/>
          </a:p>
        </p:txBody>
      </p:sp>
      <p:sp>
        <p:nvSpPr>
          <p:cNvPr id="4" name="Text 2"/>
          <p:cNvSpPr/>
          <p:nvPr/>
        </p:nvSpPr>
        <p:spPr>
          <a:xfrm>
            <a:off x="1371600" y="841248"/>
            <a:ext cx="1018001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پنج جنبه اهمیت راکتور در صنعت</a:t>
            </a:r>
            <a:endParaRPr lang="en-US" sz="2800" dirty="0"/>
          </a:p>
        </p:txBody>
      </p:sp>
      <p:sp>
        <p:nvSpPr>
          <p:cNvPr id="5" name="Shape 3"/>
          <p:cNvSpPr/>
          <p:nvPr/>
        </p:nvSpPr>
        <p:spPr>
          <a:xfrm>
            <a:off x="9574134" y="1828800"/>
            <a:ext cx="1977481" cy="4160520"/>
          </a:xfrm>
          <a:prstGeom prst="roundRect">
            <a:avLst>
              <a:gd name="adj" fmla="val 4162"/>
            </a:avLst>
          </a:prstGeom>
          <a:solidFill>
            <a:srgbClr val="F7F9FA"/>
          </a:solidFill>
          <a:ln/>
        </p:spPr>
      </p:sp>
      <p:sp>
        <p:nvSpPr>
          <p:cNvPr id="6" name="Shape 4"/>
          <p:cNvSpPr/>
          <p:nvPr/>
        </p:nvSpPr>
        <p:spPr>
          <a:xfrm>
            <a:off x="10311414" y="2103120"/>
            <a:ext cx="502920" cy="502920"/>
          </a:xfrm>
          <a:prstGeom prst="ellipse">
            <a:avLst/>
          </a:prstGeom>
          <a:solidFill>
            <a:srgbClr val="0B2545"/>
          </a:solidFill>
          <a:ln/>
        </p:spPr>
      </p:sp>
      <p:pic>
        <p:nvPicPr>
          <p:cNvPr id="7" name="Image 0" descr="/home/claude/reactor_pptx/icons/balance_teal.png"/>
          <p:cNvPicPr>
            <a:picLocks noChangeAspect="1"/>
          </p:cNvPicPr>
          <p:nvPr/>
        </p:nvPicPr>
        <p:blipFill>
          <a:blip r:embed="rId3"/>
          <a:stretch>
            <a:fillRect/>
          </a:stretch>
        </p:blipFill>
        <p:spPr>
          <a:xfrm>
            <a:off x="10434858" y="2226564"/>
            <a:ext cx="256032" cy="256032"/>
          </a:xfrm>
          <a:prstGeom prst="rect">
            <a:avLst/>
          </a:prstGeom>
        </p:spPr>
      </p:pic>
      <p:sp>
        <p:nvSpPr>
          <p:cNvPr id="8" name="Text 5"/>
          <p:cNvSpPr/>
          <p:nvPr/>
        </p:nvSpPr>
        <p:spPr>
          <a:xfrm>
            <a:off x="9711294" y="2788920"/>
            <a:ext cx="1703161" cy="502920"/>
          </a:xfrm>
          <a:prstGeom prst="rect">
            <a:avLst/>
          </a:prstGeom>
          <a:noFill/>
          <a:ln/>
        </p:spPr>
        <p:txBody>
          <a:bodyPr wrap="square" lIns="0" tIns="0" rIns="0" bIns="0" rtlCol="0" anchor="t"/>
          <a:lstStyle/>
          <a:p>
            <a:pPr marL="0" indent="0" algn="ctr">
              <a:buNone/>
            </a:pPr>
            <a:r>
              <a:rPr lang="en-US" sz="1450" b="1" dirty="0">
                <a:solidFill>
                  <a:srgbClr val="1A2433"/>
                </a:solidFill>
                <a:latin typeface="Calibri" pitchFamily="34" charset="0"/>
                <a:ea typeface="Calibri" pitchFamily="34" charset="-122"/>
                <a:cs typeface="Calibri" pitchFamily="34" charset="-120"/>
              </a:rPr>
              <a:t>اقتصادی</a:t>
            </a:r>
            <a:endParaRPr lang="en-US" sz="1450" dirty="0"/>
          </a:p>
        </p:txBody>
      </p:sp>
      <p:sp>
        <p:nvSpPr>
          <p:cNvPr id="9" name="Text 6"/>
          <p:cNvSpPr/>
          <p:nvPr/>
        </p:nvSpPr>
        <p:spPr>
          <a:xfrm>
            <a:off x="9757014" y="3337560"/>
            <a:ext cx="1611721" cy="2560320"/>
          </a:xfrm>
          <a:prstGeom prst="rect">
            <a:avLst/>
          </a:prstGeom>
          <a:noFill/>
          <a:ln/>
        </p:spPr>
        <p:txBody>
          <a:bodyPr wrap="square" lIns="0" tIns="0" rIns="0" bIns="0" rtlCol="0" anchor="ctr"/>
          <a:lstStyle/>
          <a:p>
            <a:pPr marL="0" indent="0" algn="r">
              <a:lnSpc>
                <a:spcPct val="128000"/>
              </a:lnSpc>
              <a:buNone/>
            </a:pPr>
            <a:r>
              <a:rPr lang="en-US" sz="1080" dirty="0">
                <a:solidFill>
                  <a:srgbClr val="5C6B73"/>
                </a:solidFill>
                <a:latin typeface="Calibri" pitchFamily="34" charset="0"/>
                <a:ea typeface="Calibri" pitchFamily="34" charset="-122"/>
                <a:cs typeface="Calibri" pitchFamily="34" charset="-120"/>
              </a:rPr>
              <a:t>پرهزینه‌ترین و پیچیده‌ترین تجهیز فرآیندی؛ طراحی نادرست هزینه سرمایه‌ای و عملیاتی را افزایش می‌دهد.</a:t>
            </a:r>
            <a:endParaRPr lang="en-US" sz="1080" dirty="0"/>
          </a:p>
        </p:txBody>
      </p:sp>
      <p:sp>
        <p:nvSpPr>
          <p:cNvPr id="10" name="Shape 7"/>
          <p:cNvSpPr/>
          <p:nvPr/>
        </p:nvSpPr>
        <p:spPr>
          <a:xfrm>
            <a:off x="7340620" y="1828800"/>
            <a:ext cx="1977481" cy="4160520"/>
          </a:xfrm>
          <a:prstGeom prst="roundRect">
            <a:avLst>
              <a:gd name="adj" fmla="val 4162"/>
            </a:avLst>
          </a:prstGeom>
          <a:solidFill>
            <a:srgbClr val="F7F9FA"/>
          </a:solidFill>
          <a:ln/>
        </p:spPr>
      </p:sp>
      <p:sp>
        <p:nvSpPr>
          <p:cNvPr id="11" name="Shape 8"/>
          <p:cNvSpPr/>
          <p:nvPr/>
        </p:nvSpPr>
        <p:spPr>
          <a:xfrm>
            <a:off x="8077901" y="2103120"/>
            <a:ext cx="502920" cy="502920"/>
          </a:xfrm>
          <a:prstGeom prst="ellipse">
            <a:avLst/>
          </a:prstGeom>
          <a:solidFill>
            <a:srgbClr val="0B2545"/>
          </a:solidFill>
          <a:ln/>
        </p:spPr>
      </p:sp>
      <p:pic>
        <p:nvPicPr>
          <p:cNvPr id="12" name="Image 1" descr="/home/claude/reactor_pptx/icons/checkcircle_teal.png"/>
          <p:cNvPicPr>
            <a:picLocks noChangeAspect="1"/>
          </p:cNvPicPr>
          <p:nvPr/>
        </p:nvPicPr>
        <p:blipFill>
          <a:blip r:embed="rId4"/>
          <a:stretch>
            <a:fillRect/>
          </a:stretch>
        </p:blipFill>
        <p:spPr>
          <a:xfrm>
            <a:off x="8201345" y="2226564"/>
            <a:ext cx="256032" cy="256032"/>
          </a:xfrm>
          <a:prstGeom prst="rect">
            <a:avLst/>
          </a:prstGeom>
        </p:spPr>
      </p:pic>
      <p:sp>
        <p:nvSpPr>
          <p:cNvPr id="13" name="Text 9"/>
          <p:cNvSpPr/>
          <p:nvPr/>
        </p:nvSpPr>
        <p:spPr>
          <a:xfrm>
            <a:off x="7477780" y="2788920"/>
            <a:ext cx="1703161" cy="502920"/>
          </a:xfrm>
          <a:prstGeom prst="rect">
            <a:avLst/>
          </a:prstGeom>
          <a:noFill/>
          <a:ln/>
        </p:spPr>
        <p:txBody>
          <a:bodyPr wrap="square" lIns="0" tIns="0" rIns="0" bIns="0" rtlCol="0" anchor="t"/>
          <a:lstStyle/>
          <a:p>
            <a:pPr marL="0" indent="0" algn="ctr">
              <a:buNone/>
            </a:pPr>
            <a:r>
              <a:rPr lang="en-US" sz="1450" b="1" dirty="0">
                <a:solidFill>
                  <a:srgbClr val="1A2433"/>
                </a:solidFill>
                <a:latin typeface="Calibri" pitchFamily="34" charset="0"/>
                <a:ea typeface="Calibri" pitchFamily="34" charset="-122"/>
                <a:cs typeface="Calibri" pitchFamily="34" charset="-120"/>
              </a:rPr>
              <a:t>کیفیت محصول</a:t>
            </a:r>
            <a:endParaRPr lang="en-US" sz="1450" dirty="0"/>
          </a:p>
        </p:txBody>
      </p:sp>
      <p:sp>
        <p:nvSpPr>
          <p:cNvPr id="14" name="Text 10"/>
          <p:cNvSpPr/>
          <p:nvPr/>
        </p:nvSpPr>
        <p:spPr>
          <a:xfrm>
            <a:off x="7523500" y="3337560"/>
            <a:ext cx="1611721" cy="2560320"/>
          </a:xfrm>
          <a:prstGeom prst="rect">
            <a:avLst/>
          </a:prstGeom>
          <a:noFill/>
          <a:ln/>
        </p:spPr>
        <p:txBody>
          <a:bodyPr wrap="square" lIns="0" tIns="0" rIns="0" bIns="0" rtlCol="0" anchor="ctr"/>
          <a:lstStyle/>
          <a:p>
            <a:pPr marL="0" indent="0" algn="r">
              <a:lnSpc>
                <a:spcPct val="128000"/>
              </a:lnSpc>
              <a:buNone/>
            </a:pPr>
            <a:r>
              <a:rPr lang="en-US" sz="1080" dirty="0">
                <a:solidFill>
                  <a:srgbClr val="5C6B73"/>
                </a:solidFill>
                <a:latin typeface="Calibri" pitchFamily="34" charset="0"/>
                <a:ea typeface="Calibri" pitchFamily="34" charset="-122"/>
                <a:cs typeface="Calibri" pitchFamily="34" charset="-120"/>
              </a:rPr>
              <a:t>عملکرد راکتور بر خلوص، یکنواختی و خواص فیزیکی-شیمیایی محصول نهایی تأثیر مستقیم دارد.</a:t>
            </a:r>
            <a:endParaRPr lang="en-US" sz="1080" dirty="0"/>
          </a:p>
        </p:txBody>
      </p:sp>
      <p:sp>
        <p:nvSpPr>
          <p:cNvPr id="15" name="Shape 11"/>
          <p:cNvSpPr/>
          <p:nvPr/>
        </p:nvSpPr>
        <p:spPr>
          <a:xfrm>
            <a:off x="5107107" y="1828800"/>
            <a:ext cx="1977481" cy="4160520"/>
          </a:xfrm>
          <a:prstGeom prst="roundRect">
            <a:avLst>
              <a:gd name="adj" fmla="val 4162"/>
            </a:avLst>
          </a:prstGeom>
          <a:solidFill>
            <a:srgbClr val="F7F9FA"/>
          </a:solidFill>
          <a:ln/>
        </p:spPr>
      </p:sp>
      <p:sp>
        <p:nvSpPr>
          <p:cNvPr id="16" name="Shape 12"/>
          <p:cNvSpPr/>
          <p:nvPr/>
        </p:nvSpPr>
        <p:spPr>
          <a:xfrm>
            <a:off x="5844388" y="2103120"/>
            <a:ext cx="502920" cy="502920"/>
          </a:xfrm>
          <a:prstGeom prst="ellipse">
            <a:avLst/>
          </a:prstGeom>
          <a:solidFill>
            <a:srgbClr val="0B2545"/>
          </a:solidFill>
          <a:ln/>
        </p:spPr>
      </p:sp>
      <p:pic>
        <p:nvPicPr>
          <p:cNvPr id="17" name="Image 2" descr="/home/claude/reactor_pptx/icons/warning_teal.png"/>
          <p:cNvPicPr>
            <a:picLocks noChangeAspect="1"/>
          </p:cNvPicPr>
          <p:nvPr/>
        </p:nvPicPr>
        <p:blipFill>
          <a:blip r:embed="rId5"/>
          <a:stretch>
            <a:fillRect/>
          </a:stretch>
        </p:blipFill>
        <p:spPr>
          <a:xfrm>
            <a:off x="5967832" y="2226564"/>
            <a:ext cx="256032" cy="256032"/>
          </a:xfrm>
          <a:prstGeom prst="rect">
            <a:avLst/>
          </a:prstGeom>
        </p:spPr>
      </p:pic>
      <p:sp>
        <p:nvSpPr>
          <p:cNvPr id="18" name="Text 13"/>
          <p:cNvSpPr/>
          <p:nvPr/>
        </p:nvSpPr>
        <p:spPr>
          <a:xfrm>
            <a:off x="5244267" y="2788920"/>
            <a:ext cx="1703161" cy="502920"/>
          </a:xfrm>
          <a:prstGeom prst="rect">
            <a:avLst/>
          </a:prstGeom>
          <a:noFill/>
          <a:ln/>
        </p:spPr>
        <p:txBody>
          <a:bodyPr wrap="square" lIns="0" tIns="0" rIns="0" bIns="0" rtlCol="0" anchor="t"/>
          <a:lstStyle/>
          <a:p>
            <a:pPr marL="0" indent="0" algn="ctr">
              <a:buNone/>
            </a:pPr>
            <a:r>
              <a:rPr lang="en-US" sz="1450" b="1" dirty="0">
                <a:solidFill>
                  <a:srgbClr val="1A2433"/>
                </a:solidFill>
                <a:latin typeface="Calibri" pitchFamily="34" charset="0"/>
                <a:ea typeface="Calibri" pitchFamily="34" charset="-122"/>
                <a:cs typeface="Calibri" pitchFamily="34" charset="-120"/>
              </a:rPr>
              <a:t>ایمنی فرآیند</a:t>
            </a:r>
            <a:endParaRPr lang="en-US" sz="1450" dirty="0"/>
          </a:p>
        </p:txBody>
      </p:sp>
      <p:sp>
        <p:nvSpPr>
          <p:cNvPr id="19" name="Text 14"/>
          <p:cNvSpPr/>
          <p:nvPr/>
        </p:nvSpPr>
        <p:spPr>
          <a:xfrm>
            <a:off x="5289987" y="3337560"/>
            <a:ext cx="1611721" cy="2560320"/>
          </a:xfrm>
          <a:prstGeom prst="rect">
            <a:avLst/>
          </a:prstGeom>
          <a:noFill/>
          <a:ln/>
        </p:spPr>
        <p:txBody>
          <a:bodyPr wrap="square" lIns="0" tIns="0" rIns="0" bIns="0" rtlCol="0" anchor="ctr"/>
          <a:lstStyle/>
          <a:p>
            <a:pPr marL="0" indent="0" algn="r">
              <a:lnSpc>
                <a:spcPct val="128000"/>
              </a:lnSpc>
              <a:buNone/>
            </a:pPr>
            <a:r>
              <a:rPr lang="en-US" sz="1080" dirty="0">
                <a:solidFill>
                  <a:srgbClr val="5C6B73"/>
                </a:solidFill>
                <a:latin typeface="Calibri" pitchFamily="34" charset="0"/>
                <a:ea typeface="Calibri" pitchFamily="34" charset="-122"/>
                <a:cs typeface="Calibri" pitchFamily="34" charset="-120"/>
              </a:rPr>
              <a:t>کنترل نامناسب می‌تواند به افزایش دما، نشت یا انفجار منجر شود (نمونه: فاجعه بوپال).</a:t>
            </a:r>
            <a:endParaRPr lang="en-US" sz="1080" dirty="0"/>
          </a:p>
        </p:txBody>
      </p:sp>
      <p:sp>
        <p:nvSpPr>
          <p:cNvPr id="20" name="Shape 15"/>
          <p:cNvSpPr/>
          <p:nvPr/>
        </p:nvSpPr>
        <p:spPr>
          <a:xfrm>
            <a:off x="2873593" y="1828800"/>
            <a:ext cx="1977481" cy="4160520"/>
          </a:xfrm>
          <a:prstGeom prst="roundRect">
            <a:avLst>
              <a:gd name="adj" fmla="val 4162"/>
            </a:avLst>
          </a:prstGeom>
          <a:solidFill>
            <a:srgbClr val="F7F9FA"/>
          </a:solidFill>
          <a:ln/>
        </p:spPr>
      </p:sp>
      <p:sp>
        <p:nvSpPr>
          <p:cNvPr id="21" name="Shape 16"/>
          <p:cNvSpPr/>
          <p:nvPr/>
        </p:nvSpPr>
        <p:spPr>
          <a:xfrm>
            <a:off x="3610874" y="2103120"/>
            <a:ext cx="502920" cy="502920"/>
          </a:xfrm>
          <a:prstGeom prst="ellipse">
            <a:avLst/>
          </a:prstGeom>
          <a:solidFill>
            <a:srgbClr val="0B2545"/>
          </a:solidFill>
          <a:ln/>
        </p:spPr>
      </p:sp>
      <p:pic>
        <p:nvPicPr>
          <p:cNvPr id="22" name="Image 3" descr="/home/claude/reactor_pptx/icons/recycle_teal.png"/>
          <p:cNvPicPr>
            <a:picLocks noChangeAspect="1"/>
          </p:cNvPicPr>
          <p:nvPr/>
        </p:nvPicPr>
        <p:blipFill>
          <a:blip r:embed="rId6"/>
          <a:stretch>
            <a:fillRect/>
          </a:stretch>
        </p:blipFill>
        <p:spPr>
          <a:xfrm>
            <a:off x="3734318" y="2226564"/>
            <a:ext cx="256032" cy="256032"/>
          </a:xfrm>
          <a:prstGeom prst="rect">
            <a:avLst/>
          </a:prstGeom>
        </p:spPr>
      </p:pic>
      <p:sp>
        <p:nvSpPr>
          <p:cNvPr id="23" name="Text 17"/>
          <p:cNvSpPr/>
          <p:nvPr/>
        </p:nvSpPr>
        <p:spPr>
          <a:xfrm>
            <a:off x="3010753" y="2788920"/>
            <a:ext cx="1703161" cy="502920"/>
          </a:xfrm>
          <a:prstGeom prst="rect">
            <a:avLst/>
          </a:prstGeom>
          <a:noFill/>
          <a:ln/>
        </p:spPr>
        <p:txBody>
          <a:bodyPr wrap="square" lIns="0" tIns="0" rIns="0" bIns="0" rtlCol="0" anchor="t"/>
          <a:lstStyle/>
          <a:p>
            <a:pPr marL="0" indent="0" algn="ctr">
              <a:buNone/>
            </a:pPr>
            <a:r>
              <a:rPr lang="en-US" sz="1450" b="1" dirty="0">
                <a:solidFill>
                  <a:srgbClr val="1A2433"/>
                </a:solidFill>
                <a:latin typeface="Calibri" pitchFamily="34" charset="0"/>
                <a:ea typeface="Calibri" pitchFamily="34" charset="-122"/>
                <a:cs typeface="Calibri" pitchFamily="34" charset="-120"/>
              </a:rPr>
              <a:t>زیست‌محیطی</a:t>
            </a:r>
            <a:endParaRPr lang="en-US" sz="1450" dirty="0"/>
          </a:p>
        </p:txBody>
      </p:sp>
      <p:sp>
        <p:nvSpPr>
          <p:cNvPr id="24" name="Text 18"/>
          <p:cNvSpPr/>
          <p:nvPr/>
        </p:nvSpPr>
        <p:spPr>
          <a:xfrm>
            <a:off x="3056473" y="3337560"/>
            <a:ext cx="1611721" cy="2560320"/>
          </a:xfrm>
          <a:prstGeom prst="rect">
            <a:avLst/>
          </a:prstGeom>
          <a:noFill/>
          <a:ln/>
        </p:spPr>
        <p:txBody>
          <a:bodyPr wrap="square" lIns="0" tIns="0" rIns="0" bIns="0" rtlCol="0" anchor="ctr"/>
          <a:lstStyle/>
          <a:p>
            <a:pPr marL="0" indent="0" algn="r">
              <a:lnSpc>
                <a:spcPct val="128000"/>
              </a:lnSpc>
              <a:buNone/>
            </a:pPr>
            <a:r>
              <a:rPr lang="en-US" sz="1080" dirty="0">
                <a:solidFill>
                  <a:srgbClr val="5C6B73"/>
                </a:solidFill>
                <a:latin typeface="Calibri" pitchFamily="34" charset="0"/>
                <a:ea typeface="Calibri" pitchFamily="34" charset="-122"/>
                <a:cs typeface="Calibri" pitchFamily="34" charset="-120"/>
              </a:rPr>
              <a:t>طراحی بهینه با افزایش بازده تبدیل، مصرف انرژی و تولید پساب را به حداقل می‌رساند.</a:t>
            </a:r>
            <a:endParaRPr lang="en-US" sz="1080" dirty="0"/>
          </a:p>
        </p:txBody>
      </p:sp>
      <p:sp>
        <p:nvSpPr>
          <p:cNvPr id="25" name="Shape 19"/>
          <p:cNvSpPr/>
          <p:nvPr/>
        </p:nvSpPr>
        <p:spPr>
          <a:xfrm>
            <a:off x="640080" y="1828800"/>
            <a:ext cx="1977481" cy="4160520"/>
          </a:xfrm>
          <a:prstGeom prst="roundRect">
            <a:avLst>
              <a:gd name="adj" fmla="val 4162"/>
            </a:avLst>
          </a:prstGeom>
          <a:solidFill>
            <a:srgbClr val="F7F9FA"/>
          </a:solidFill>
          <a:ln/>
        </p:spPr>
      </p:sp>
      <p:sp>
        <p:nvSpPr>
          <p:cNvPr id="26" name="Shape 20"/>
          <p:cNvSpPr/>
          <p:nvPr/>
        </p:nvSpPr>
        <p:spPr>
          <a:xfrm>
            <a:off x="1377361" y="2103120"/>
            <a:ext cx="502920" cy="502920"/>
          </a:xfrm>
          <a:prstGeom prst="ellipse">
            <a:avLst/>
          </a:prstGeom>
          <a:solidFill>
            <a:srgbClr val="0B2545"/>
          </a:solidFill>
          <a:ln/>
        </p:spPr>
      </p:sp>
      <p:pic>
        <p:nvPicPr>
          <p:cNvPr id="27" name="Image 4" descr="/home/claude/reactor_pptx/icons/chartline_teal.png"/>
          <p:cNvPicPr>
            <a:picLocks noChangeAspect="1"/>
          </p:cNvPicPr>
          <p:nvPr/>
        </p:nvPicPr>
        <p:blipFill>
          <a:blip r:embed="rId7"/>
          <a:stretch>
            <a:fillRect/>
          </a:stretch>
        </p:blipFill>
        <p:spPr>
          <a:xfrm>
            <a:off x="1500805" y="2226564"/>
            <a:ext cx="256032" cy="256032"/>
          </a:xfrm>
          <a:prstGeom prst="rect">
            <a:avLst/>
          </a:prstGeom>
        </p:spPr>
      </p:pic>
      <p:sp>
        <p:nvSpPr>
          <p:cNvPr id="28" name="Text 21"/>
          <p:cNvSpPr/>
          <p:nvPr/>
        </p:nvSpPr>
        <p:spPr>
          <a:xfrm>
            <a:off x="777240" y="2788920"/>
            <a:ext cx="1703161" cy="502920"/>
          </a:xfrm>
          <a:prstGeom prst="rect">
            <a:avLst/>
          </a:prstGeom>
          <a:noFill/>
          <a:ln/>
        </p:spPr>
        <p:txBody>
          <a:bodyPr wrap="square" lIns="0" tIns="0" rIns="0" bIns="0" rtlCol="0" anchor="t"/>
          <a:lstStyle/>
          <a:p>
            <a:pPr marL="0" indent="0" algn="ctr">
              <a:buNone/>
            </a:pPr>
            <a:r>
              <a:rPr lang="en-US" sz="1450" b="1" dirty="0">
                <a:solidFill>
                  <a:srgbClr val="1A2433"/>
                </a:solidFill>
                <a:latin typeface="Calibri" pitchFamily="34" charset="0"/>
                <a:ea typeface="Calibri" pitchFamily="34" charset="-122"/>
                <a:cs typeface="Calibri" pitchFamily="34" charset="-120"/>
              </a:rPr>
              <a:t>رقابت‌پذیری</a:t>
            </a:r>
            <a:endParaRPr lang="en-US" sz="1450" dirty="0"/>
          </a:p>
        </p:txBody>
      </p:sp>
      <p:sp>
        <p:nvSpPr>
          <p:cNvPr id="29" name="Text 22"/>
          <p:cNvSpPr/>
          <p:nvPr/>
        </p:nvSpPr>
        <p:spPr>
          <a:xfrm>
            <a:off x="822960" y="3337560"/>
            <a:ext cx="1611721" cy="2560320"/>
          </a:xfrm>
          <a:prstGeom prst="rect">
            <a:avLst/>
          </a:prstGeom>
          <a:noFill/>
          <a:ln/>
        </p:spPr>
        <p:txBody>
          <a:bodyPr wrap="square" lIns="0" tIns="0" rIns="0" bIns="0" rtlCol="0" anchor="ctr"/>
          <a:lstStyle/>
          <a:p>
            <a:pPr marL="0" indent="0" algn="r">
              <a:lnSpc>
                <a:spcPct val="128000"/>
              </a:lnSpc>
              <a:buNone/>
            </a:pPr>
            <a:r>
              <a:rPr lang="en-US" sz="1080" dirty="0">
                <a:solidFill>
                  <a:srgbClr val="5C6B73"/>
                </a:solidFill>
                <a:latin typeface="Calibri" pitchFamily="34" charset="0"/>
                <a:ea typeface="Calibri" pitchFamily="34" charset="-122"/>
                <a:cs typeface="Calibri" pitchFamily="34" charset="-120"/>
              </a:rPr>
              <a:t>فناوری‌های نوین راکتور هزینه پایین‌تر و کیفیت بالاتر را برای ورود سریع‌تر به بازار فراهم می‌کنند.</a:t>
            </a:r>
            <a:endParaRPr lang="en-US" sz="1080" dirty="0"/>
          </a:p>
        </p:txBody>
      </p:sp>
      <p:sp>
        <p:nvSpPr>
          <p:cNvPr id="30" name="Text 23"/>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06</a:t>
            </a:r>
            <a:endParaRPr lang="en-US" sz="1000" dirty="0"/>
          </a:p>
        </p:txBody>
      </p:sp>
      <p:sp>
        <p:nvSpPr>
          <p:cNvPr id="31" name="Text 24"/>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144000" y="-1645920"/>
            <a:ext cx="5029200" cy="5029200"/>
          </a:xfrm>
          <a:prstGeom prst="ellipse">
            <a:avLst/>
          </a:prstGeom>
          <a:solidFill>
            <a:srgbClr val="112C52"/>
          </a:solidFill>
          <a:ln/>
        </p:spPr>
      </p:sp>
      <p:sp>
        <p:nvSpPr>
          <p:cNvPr id="3" name="Shape 1"/>
          <p:cNvSpPr/>
          <p:nvPr/>
        </p:nvSpPr>
        <p:spPr>
          <a:xfrm>
            <a:off x="-1828800" y="4572000"/>
            <a:ext cx="3657600" cy="3657600"/>
          </a:xfrm>
          <a:prstGeom prst="ellipse">
            <a:avLst/>
          </a:prstGeom>
          <a:solidFill>
            <a:srgbClr val="16396B"/>
          </a:solidFill>
          <a:ln/>
        </p:spPr>
      </p:sp>
      <p:sp>
        <p:nvSpPr>
          <p:cNvPr id="4" name="Text 2"/>
          <p:cNvSpPr/>
          <p:nvPr/>
        </p:nvSpPr>
        <p:spPr>
          <a:xfrm>
            <a:off x="822960" y="2011680"/>
            <a:ext cx="5486400" cy="457200"/>
          </a:xfrm>
          <a:prstGeom prst="rect">
            <a:avLst/>
          </a:prstGeom>
          <a:noFill/>
          <a:ln/>
        </p:spPr>
        <p:txBody>
          <a:bodyPr wrap="square" lIns="0" tIns="0" rIns="0" bIns="0" rtlCol="0" anchor="ctr"/>
          <a:lstStyle/>
          <a:p>
            <a:pPr marL="0" indent="0" algn="r">
              <a:buNone/>
            </a:pPr>
            <a:r>
              <a:rPr lang="en-US" sz="1600" b="1" kern="0" spc="100" dirty="0">
                <a:solidFill>
                  <a:srgbClr val="D98E3F"/>
                </a:solidFill>
                <a:latin typeface="Calibri" pitchFamily="34" charset="0"/>
                <a:ea typeface="Calibri" pitchFamily="34" charset="-122"/>
                <a:cs typeface="Calibri" pitchFamily="34" charset="-120"/>
              </a:rPr>
              <a:t>فصل دوم</a:t>
            </a:r>
            <a:endParaRPr lang="en-US" sz="1600" dirty="0"/>
          </a:p>
        </p:txBody>
      </p:sp>
      <p:sp>
        <p:nvSpPr>
          <p:cNvPr id="5" name="Text 3"/>
          <p:cNvSpPr/>
          <p:nvPr/>
        </p:nvSpPr>
        <p:spPr>
          <a:xfrm>
            <a:off x="822960" y="2468880"/>
            <a:ext cx="9875520" cy="1097280"/>
          </a:xfrm>
          <a:prstGeom prst="rect">
            <a:avLst/>
          </a:prstGeom>
          <a:noFill/>
          <a:ln/>
        </p:spPr>
        <p:txBody>
          <a:bodyPr wrap="square" lIns="0" tIns="0" rIns="0" bIns="0" rtlCol="0" anchor="ctr"/>
          <a:lstStyle/>
          <a:p>
            <a:pPr marL="0" indent="0" algn="r">
              <a:buNone/>
            </a:pPr>
            <a:r>
              <a:rPr lang="en-US" sz="3800" b="1" dirty="0">
                <a:solidFill>
                  <a:srgbClr val="FFFFFF"/>
                </a:solidFill>
                <a:latin typeface="Calibri" pitchFamily="34" charset="0"/>
                <a:ea typeface="Calibri" pitchFamily="34" charset="-122"/>
                <a:cs typeface="Calibri" pitchFamily="34" charset="-120"/>
              </a:rPr>
              <a:t>شاخص‌ها و معیارهای طبقه‌بندی</a:t>
            </a:r>
            <a:endParaRPr lang="en-US" sz="3800" dirty="0"/>
          </a:p>
        </p:txBody>
      </p:sp>
      <p:sp>
        <p:nvSpPr>
          <p:cNvPr id="6" name="Text 4"/>
          <p:cNvSpPr/>
          <p:nvPr/>
        </p:nvSpPr>
        <p:spPr>
          <a:xfrm>
            <a:off x="822960" y="3429000"/>
            <a:ext cx="8686800" cy="548640"/>
          </a:xfrm>
          <a:prstGeom prst="rect">
            <a:avLst/>
          </a:prstGeom>
          <a:noFill/>
          <a:ln/>
        </p:spPr>
        <p:txBody>
          <a:bodyPr wrap="square" lIns="0" tIns="0" rIns="0" bIns="0" rtlCol="0" anchor="ctr"/>
          <a:lstStyle/>
          <a:p>
            <a:pPr marL="0" indent="0" algn="r">
              <a:buNone/>
            </a:pPr>
            <a:r>
              <a:rPr lang="en-US" sz="1600" dirty="0">
                <a:solidFill>
                  <a:srgbClr val="C7D9EE"/>
                </a:solidFill>
                <a:latin typeface="Calibri" pitchFamily="34" charset="0"/>
                <a:ea typeface="Calibri" pitchFamily="34" charset="-122"/>
                <a:cs typeface="Calibri" pitchFamily="34" charset="-120"/>
              </a:rPr>
              <a:t>پنج معیار اصلی برای درک، مقایسه و انتخاب راکتور مناسب</a:t>
            </a:r>
            <a:endParaRPr lang="en-US" sz="1600" dirty="0"/>
          </a:p>
        </p:txBody>
      </p:sp>
      <p:pic>
        <p:nvPicPr>
          <p:cNvPr id="7" name="Image 0" descr="/home/claude/reactor_pptx/icons/diagram_teal.png"/>
          <p:cNvPicPr>
            <a:picLocks noChangeAspect="1"/>
          </p:cNvPicPr>
          <p:nvPr/>
        </p:nvPicPr>
        <p:blipFill>
          <a:blip r:embed="rId3"/>
          <a:stretch>
            <a:fillRect/>
          </a:stretch>
        </p:blipFill>
        <p:spPr>
          <a:xfrm>
            <a:off x="9814255" y="4297680"/>
            <a:ext cx="1188720" cy="1188720"/>
          </a:xfrm>
          <a:prstGeom prst="rect">
            <a:avLst/>
          </a:prstGeom>
        </p:spPr>
      </p:pic>
      <p:sp>
        <p:nvSpPr>
          <p:cNvPr id="8" name="Text 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8096B0"/>
                </a:solidFill>
                <a:latin typeface="Calibri" pitchFamily="34" charset="0"/>
                <a:ea typeface="Calibri" pitchFamily="34" charset="-122"/>
                <a:cs typeface="Calibri" pitchFamily="34" charset="-120"/>
              </a:rPr>
              <a:t>07</a:t>
            </a:r>
            <a:endParaRPr lang="en-US" sz="1000" dirty="0"/>
          </a:p>
        </p:txBody>
      </p:sp>
      <p:sp>
        <p:nvSpPr>
          <p:cNvPr id="9" name="Text 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8096B0"/>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28016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۲-۱ تا ۲-۵</a:t>
            </a:r>
            <a:endParaRPr lang="en-US" sz="1600" dirty="0"/>
          </a:p>
        </p:txBody>
      </p:sp>
      <p:sp>
        <p:nvSpPr>
          <p:cNvPr id="3" name="Text 1"/>
          <p:cNvSpPr/>
          <p:nvPr/>
        </p:nvSpPr>
        <p:spPr>
          <a:xfrm>
            <a:off x="1554480" y="502920"/>
            <a:ext cx="999713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معیارهای طبقه‌بندی راکتورها</a:t>
            </a:r>
            <a:endParaRPr lang="en-US" sz="1300" dirty="0"/>
          </a:p>
        </p:txBody>
      </p:sp>
      <p:sp>
        <p:nvSpPr>
          <p:cNvPr id="4" name="Text 2"/>
          <p:cNvSpPr/>
          <p:nvPr/>
        </p:nvSpPr>
        <p:spPr>
          <a:xfrm>
            <a:off x="1554480" y="841248"/>
            <a:ext cx="999713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پنج معیار اصلی طبقه‌بندی راکتورها</a:t>
            </a:r>
            <a:endParaRPr lang="en-US" sz="2800" dirty="0"/>
          </a:p>
        </p:txBody>
      </p:sp>
      <p:sp>
        <p:nvSpPr>
          <p:cNvPr id="5" name="Shape 3"/>
          <p:cNvSpPr/>
          <p:nvPr/>
        </p:nvSpPr>
        <p:spPr>
          <a:xfrm>
            <a:off x="9574134" y="1920240"/>
            <a:ext cx="1977481" cy="3246120"/>
          </a:xfrm>
          <a:prstGeom prst="roundRect">
            <a:avLst>
              <a:gd name="adj" fmla="val 4162"/>
            </a:avLst>
          </a:prstGeom>
          <a:solidFill>
            <a:srgbClr val="0B2545"/>
          </a:solidFill>
          <a:ln/>
          <a:effectLst>
            <a:outerShdw blurRad="101600" dist="38100" dir="2700000" algn="bl" rotWithShape="0">
              <a:srgbClr val="0B2545">
                <a:alpha val="16000"/>
              </a:srgbClr>
            </a:outerShdw>
          </a:effectLst>
        </p:spPr>
      </p:sp>
      <p:sp>
        <p:nvSpPr>
          <p:cNvPr id="6" name="Text 4"/>
          <p:cNvSpPr/>
          <p:nvPr/>
        </p:nvSpPr>
        <p:spPr>
          <a:xfrm>
            <a:off x="9757014" y="2084832"/>
            <a:ext cx="1611721" cy="411480"/>
          </a:xfrm>
          <a:prstGeom prst="rect">
            <a:avLst/>
          </a:prstGeom>
          <a:noFill/>
          <a:ln/>
        </p:spPr>
        <p:txBody>
          <a:bodyPr wrap="square" lIns="0" tIns="0" rIns="0" bIns="0" rtlCol="0" anchor="ctr"/>
          <a:lstStyle/>
          <a:p>
            <a:pPr marL="0" indent="0" algn="r">
              <a:buNone/>
            </a:pPr>
            <a:r>
              <a:rPr lang="en-US" sz="1800" b="1" dirty="0">
                <a:solidFill>
                  <a:srgbClr val="2E5C8A"/>
                </a:solidFill>
                <a:latin typeface="Calibri" pitchFamily="34" charset="0"/>
                <a:ea typeface="Calibri" pitchFamily="34" charset="-122"/>
                <a:cs typeface="Calibri" pitchFamily="34" charset="-120"/>
              </a:rPr>
              <a:t>01</a:t>
            </a:r>
            <a:endParaRPr lang="en-US" sz="1800" dirty="0"/>
          </a:p>
        </p:txBody>
      </p:sp>
      <p:sp>
        <p:nvSpPr>
          <p:cNvPr id="7" name="Shape 5"/>
          <p:cNvSpPr/>
          <p:nvPr/>
        </p:nvSpPr>
        <p:spPr>
          <a:xfrm>
            <a:off x="10297698" y="2606040"/>
            <a:ext cx="530352" cy="530352"/>
          </a:xfrm>
          <a:prstGeom prst="ellipse">
            <a:avLst/>
          </a:prstGeom>
          <a:solidFill>
            <a:srgbClr val="0E7C7B"/>
          </a:solidFill>
          <a:ln/>
        </p:spPr>
      </p:sp>
      <p:pic>
        <p:nvPicPr>
          <p:cNvPr id="8" name="Image 0" descr="/home/claude/reactor_pptx/icons/atom_white.png"/>
          <p:cNvPicPr>
            <a:picLocks noChangeAspect="1"/>
          </p:cNvPicPr>
          <p:nvPr/>
        </p:nvPicPr>
        <p:blipFill>
          <a:blip r:embed="rId3"/>
          <a:stretch>
            <a:fillRect/>
          </a:stretch>
        </p:blipFill>
        <p:spPr>
          <a:xfrm>
            <a:off x="10425714" y="2734056"/>
            <a:ext cx="274320" cy="274320"/>
          </a:xfrm>
          <a:prstGeom prst="rect">
            <a:avLst/>
          </a:prstGeom>
        </p:spPr>
      </p:pic>
      <p:sp>
        <p:nvSpPr>
          <p:cNvPr id="9" name="Text 6"/>
          <p:cNvSpPr/>
          <p:nvPr/>
        </p:nvSpPr>
        <p:spPr>
          <a:xfrm>
            <a:off x="9711294" y="3337560"/>
            <a:ext cx="1703161"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نوع واکنش</a:t>
            </a:r>
            <a:endParaRPr lang="en-US" sz="1350" dirty="0"/>
          </a:p>
        </p:txBody>
      </p:sp>
      <p:sp>
        <p:nvSpPr>
          <p:cNvPr id="10" name="Text 7"/>
          <p:cNvSpPr/>
          <p:nvPr/>
        </p:nvSpPr>
        <p:spPr>
          <a:xfrm>
            <a:off x="9738726" y="3931920"/>
            <a:ext cx="1648297" cy="1097280"/>
          </a:xfrm>
          <a:prstGeom prst="rect">
            <a:avLst/>
          </a:prstGeom>
          <a:noFill/>
          <a:ln/>
        </p:spPr>
        <p:txBody>
          <a:bodyPr wrap="square" lIns="0" tIns="0" rIns="0" bIns="0" rtlCol="0" anchor="ctr"/>
          <a:lstStyle/>
          <a:p>
            <a:pPr marL="0" indent="0" algn="ctr">
              <a:lnSpc>
                <a:spcPct val="125000"/>
              </a:lnSpc>
              <a:buNone/>
            </a:pPr>
            <a:r>
              <a:rPr lang="en-US" sz="1030" dirty="0">
                <a:solidFill>
                  <a:srgbClr val="C7D9EE"/>
                </a:solidFill>
                <a:latin typeface="Calibri" pitchFamily="34" charset="0"/>
                <a:ea typeface="Calibri" pitchFamily="34" charset="-122"/>
                <a:cs typeface="Calibri" pitchFamily="34" charset="-120"/>
              </a:rPr>
              <a:t>همگن / ناهمگن، برگشت‌پذیر / برگشت‌ناپذیر</a:t>
            </a:r>
            <a:endParaRPr lang="en-US" sz="1030" dirty="0"/>
          </a:p>
        </p:txBody>
      </p:sp>
      <p:sp>
        <p:nvSpPr>
          <p:cNvPr id="11" name="Shape 8"/>
          <p:cNvSpPr/>
          <p:nvPr/>
        </p:nvSpPr>
        <p:spPr>
          <a:xfrm>
            <a:off x="7340620" y="1920240"/>
            <a:ext cx="1977481" cy="3246120"/>
          </a:xfrm>
          <a:prstGeom prst="roundRect">
            <a:avLst>
              <a:gd name="adj" fmla="val 4162"/>
            </a:avLst>
          </a:prstGeom>
          <a:solidFill>
            <a:srgbClr val="0B2545"/>
          </a:solidFill>
          <a:ln/>
          <a:effectLst>
            <a:outerShdw blurRad="101600" dist="38100" dir="2700000" algn="bl" rotWithShape="0">
              <a:srgbClr val="0B2545">
                <a:alpha val="16000"/>
              </a:srgbClr>
            </a:outerShdw>
          </a:effectLst>
        </p:spPr>
      </p:sp>
      <p:sp>
        <p:nvSpPr>
          <p:cNvPr id="12" name="Text 9"/>
          <p:cNvSpPr/>
          <p:nvPr/>
        </p:nvSpPr>
        <p:spPr>
          <a:xfrm>
            <a:off x="7523500" y="2084832"/>
            <a:ext cx="1611721" cy="411480"/>
          </a:xfrm>
          <a:prstGeom prst="rect">
            <a:avLst/>
          </a:prstGeom>
          <a:noFill/>
          <a:ln/>
        </p:spPr>
        <p:txBody>
          <a:bodyPr wrap="square" lIns="0" tIns="0" rIns="0" bIns="0" rtlCol="0" anchor="ctr"/>
          <a:lstStyle/>
          <a:p>
            <a:pPr marL="0" indent="0" algn="r">
              <a:buNone/>
            </a:pPr>
            <a:r>
              <a:rPr lang="en-US" sz="1800" b="1" dirty="0">
                <a:solidFill>
                  <a:srgbClr val="2E5C8A"/>
                </a:solidFill>
                <a:latin typeface="Calibri" pitchFamily="34" charset="0"/>
                <a:ea typeface="Calibri" pitchFamily="34" charset="-122"/>
                <a:cs typeface="Calibri" pitchFamily="34" charset="-120"/>
              </a:rPr>
              <a:t>02</a:t>
            </a:r>
            <a:endParaRPr lang="en-US" sz="1800" dirty="0"/>
          </a:p>
        </p:txBody>
      </p:sp>
      <p:sp>
        <p:nvSpPr>
          <p:cNvPr id="13" name="Shape 10"/>
          <p:cNvSpPr/>
          <p:nvPr/>
        </p:nvSpPr>
        <p:spPr>
          <a:xfrm>
            <a:off x="8064185" y="2606040"/>
            <a:ext cx="530352" cy="530352"/>
          </a:xfrm>
          <a:prstGeom prst="ellipse">
            <a:avLst/>
          </a:prstGeom>
          <a:solidFill>
            <a:srgbClr val="0E7C7B"/>
          </a:solidFill>
          <a:ln/>
        </p:spPr>
      </p:sp>
      <p:pic>
        <p:nvPicPr>
          <p:cNvPr id="14" name="Image 1" descr="/home/claude/reactor_pptx/icons/exchange_white.png"/>
          <p:cNvPicPr>
            <a:picLocks noChangeAspect="1"/>
          </p:cNvPicPr>
          <p:nvPr/>
        </p:nvPicPr>
        <p:blipFill>
          <a:blip r:embed="rId4"/>
          <a:stretch>
            <a:fillRect/>
          </a:stretch>
        </p:blipFill>
        <p:spPr>
          <a:xfrm>
            <a:off x="8192201" y="2734056"/>
            <a:ext cx="274320" cy="274320"/>
          </a:xfrm>
          <a:prstGeom prst="rect">
            <a:avLst/>
          </a:prstGeom>
        </p:spPr>
      </p:pic>
      <p:sp>
        <p:nvSpPr>
          <p:cNvPr id="15" name="Text 11"/>
          <p:cNvSpPr/>
          <p:nvPr/>
        </p:nvSpPr>
        <p:spPr>
          <a:xfrm>
            <a:off x="7477780" y="3337560"/>
            <a:ext cx="1703161"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نحوه اختلاط</a:t>
            </a:r>
            <a:endParaRPr lang="en-US" sz="1350" dirty="0"/>
          </a:p>
        </p:txBody>
      </p:sp>
      <p:sp>
        <p:nvSpPr>
          <p:cNvPr id="16" name="Text 12"/>
          <p:cNvSpPr/>
          <p:nvPr/>
        </p:nvSpPr>
        <p:spPr>
          <a:xfrm>
            <a:off x="7505212" y="3931920"/>
            <a:ext cx="1648297" cy="1097280"/>
          </a:xfrm>
          <a:prstGeom prst="rect">
            <a:avLst/>
          </a:prstGeom>
          <a:noFill/>
          <a:ln/>
        </p:spPr>
        <p:txBody>
          <a:bodyPr wrap="square" lIns="0" tIns="0" rIns="0" bIns="0" rtlCol="0" anchor="ctr"/>
          <a:lstStyle/>
          <a:p>
            <a:pPr marL="0" indent="0" algn="ctr">
              <a:lnSpc>
                <a:spcPct val="125000"/>
              </a:lnSpc>
              <a:buNone/>
            </a:pPr>
            <a:r>
              <a:rPr lang="en-US" sz="1030" dirty="0">
                <a:solidFill>
                  <a:srgbClr val="C7D9EE"/>
                </a:solidFill>
                <a:latin typeface="Calibri" pitchFamily="34" charset="0"/>
                <a:ea typeface="Calibri" pitchFamily="34" charset="-122"/>
                <a:cs typeface="Calibri" pitchFamily="34" charset="-120"/>
              </a:rPr>
              <a:t>اختلاط کامل یا جریان قالبی</a:t>
            </a:r>
            <a:endParaRPr lang="en-US" sz="1030" dirty="0"/>
          </a:p>
        </p:txBody>
      </p:sp>
      <p:sp>
        <p:nvSpPr>
          <p:cNvPr id="17" name="Shape 13"/>
          <p:cNvSpPr/>
          <p:nvPr/>
        </p:nvSpPr>
        <p:spPr>
          <a:xfrm>
            <a:off x="5107107" y="1920240"/>
            <a:ext cx="1977481" cy="3246120"/>
          </a:xfrm>
          <a:prstGeom prst="roundRect">
            <a:avLst>
              <a:gd name="adj" fmla="val 4162"/>
            </a:avLst>
          </a:prstGeom>
          <a:solidFill>
            <a:srgbClr val="0B2545"/>
          </a:solidFill>
          <a:ln/>
          <a:effectLst>
            <a:outerShdw blurRad="101600" dist="38100" dir="2700000" algn="bl" rotWithShape="0">
              <a:srgbClr val="0B2545">
                <a:alpha val="16000"/>
              </a:srgbClr>
            </a:outerShdw>
          </a:effectLst>
        </p:spPr>
      </p:sp>
      <p:sp>
        <p:nvSpPr>
          <p:cNvPr id="18" name="Text 14"/>
          <p:cNvSpPr/>
          <p:nvPr/>
        </p:nvSpPr>
        <p:spPr>
          <a:xfrm>
            <a:off x="5289987" y="2084832"/>
            <a:ext cx="1611721" cy="411480"/>
          </a:xfrm>
          <a:prstGeom prst="rect">
            <a:avLst/>
          </a:prstGeom>
          <a:noFill/>
          <a:ln/>
        </p:spPr>
        <p:txBody>
          <a:bodyPr wrap="square" lIns="0" tIns="0" rIns="0" bIns="0" rtlCol="0" anchor="ctr"/>
          <a:lstStyle/>
          <a:p>
            <a:pPr marL="0" indent="0" algn="r">
              <a:buNone/>
            </a:pPr>
            <a:r>
              <a:rPr lang="en-US" sz="1800" b="1" dirty="0">
                <a:solidFill>
                  <a:srgbClr val="2E5C8A"/>
                </a:solidFill>
                <a:latin typeface="Calibri" pitchFamily="34" charset="0"/>
                <a:ea typeface="Calibri" pitchFamily="34" charset="-122"/>
                <a:cs typeface="Calibri" pitchFamily="34" charset="-120"/>
              </a:rPr>
              <a:t>03</a:t>
            </a:r>
            <a:endParaRPr lang="en-US" sz="1800" dirty="0"/>
          </a:p>
        </p:txBody>
      </p:sp>
      <p:sp>
        <p:nvSpPr>
          <p:cNvPr id="19" name="Shape 15"/>
          <p:cNvSpPr/>
          <p:nvPr/>
        </p:nvSpPr>
        <p:spPr>
          <a:xfrm>
            <a:off x="5830672" y="2606040"/>
            <a:ext cx="530352" cy="530352"/>
          </a:xfrm>
          <a:prstGeom prst="ellipse">
            <a:avLst/>
          </a:prstGeom>
          <a:solidFill>
            <a:srgbClr val="0E7C7B"/>
          </a:solidFill>
          <a:ln/>
        </p:spPr>
      </p:sp>
      <p:pic>
        <p:nvPicPr>
          <p:cNvPr id="20" name="Image 2" descr="/home/claude/reactor_pptx/icons/clock_white.png"/>
          <p:cNvPicPr>
            <a:picLocks noChangeAspect="1"/>
          </p:cNvPicPr>
          <p:nvPr/>
        </p:nvPicPr>
        <p:blipFill>
          <a:blip r:embed="rId5"/>
          <a:stretch>
            <a:fillRect/>
          </a:stretch>
        </p:blipFill>
        <p:spPr>
          <a:xfrm>
            <a:off x="5958688" y="2734056"/>
            <a:ext cx="274320" cy="274320"/>
          </a:xfrm>
          <a:prstGeom prst="rect">
            <a:avLst/>
          </a:prstGeom>
        </p:spPr>
      </p:pic>
      <p:sp>
        <p:nvSpPr>
          <p:cNvPr id="21" name="Text 16"/>
          <p:cNvSpPr/>
          <p:nvPr/>
        </p:nvSpPr>
        <p:spPr>
          <a:xfrm>
            <a:off x="5244267" y="3337560"/>
            <a:ext cx="1703161"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شرایط عملیاتی</a:t>
            </a:r>
            <a:endParaRPr lang="en-US" sz="1350" dirty="0"/>
          </a:p>
        </p:txBody>
      </p:sp>
      <p:sp>
        <p:nvSpPr>
          <p:cNvPr id="22" name="Text 17"/>
          <p:cNvSpPr/>
          <p:nvPr/>
        </p:nvSpPr>
        <p:spPr>
          <a:xfrm>
            <a:off x="5271699" y="3931920"/>
            <a:ext cx="1648297" cy="1097280"/>
          </a:xfrm>
          <a:prstGeom prst="rect">
            <a:avLst/>
          </a:prstGeom>
          <a:noFill/>
          <a:ln/>
        </p:spPr>
        <p:txBody>
          <a:bodyPr wrap="square" lIns="0" tIns="0" rIns="0" bIns="0" rtlCol="0" anchor="ctr"/>
          <a:lstStyle/>
          <a:p>
            <a:pPr marL="0" indent="0" algn="ctr">
              <a:lnSpc>
                <a:spcPct val="125000"/>
              </a:lnSpc>
              <a:buNone/>
            </a:pPr>
            <a:r>
              <a:rPr lang="en-US" sz="1030" dirty="0">
                <a:solidFill>
                  <a:srgbClr val="C7D9EE"/>
                </a:solidFill>
                <a:latin typeface="Calibri" pitchFamily="34" charset="0"/>
                <a:ea typeface="Calibri" pitchFamily="34" charset="-122"/>
                <a:cs typeface="Calibri" pitchFamily="34" charset="-120"/>
              </a:rPr>
              <a:t>ناپیوسته / نیمه‌پیوسته / پیوسته</a:t>
            </a:r>
            <a:endParaRPr lang="en-US" sz="1030" dirty="0"/>
          </a:p>
        </p:txBody>
      </p:sp>
      <p:sp>
        <p:nvSpPr>
          <p:cNvPr id="23" name="Shape 18"/>
          <p:cNvSpPr/>
          <p:nvPr/>
        </p:nvSpPr>
        <p:spPr>
          <a:xfrm>
            <a:off x="2873593" y="1920240"/>
            <a:ext cx="1977481" cy="3246120"/>
          </a:xfrm>
          <a:prstGeom prst="roundRect">
            <a:avLst>
              <a:gd name="adj" fmla="val 4162"/>
            </a:avLst>
          </a:prstGeom>
          <a:solidFill>
            <a:srgbClr val="0B2545"/>
          </a:solidFill>
          <a:ln/>
          <a:effectLst>
            <a:outerShdw blurRad="101600" dist="38100" dir="2700000" algn="bl" rotWithShape="0">
              <a:srgbClr val="0B2545">
                <a:alpha val="16000"/>
              </a:srgbClr>
            </a:outerShdw>
          </a:effectLst>
        </p:spPr>
      </p:sp>
      <p:sp>
        <p:nvSpPr>
          <p:cNvPr id="24" name="Text 19"/>
          <p:cNvSpPr/>
          <p:nvPr/>
        </p:nvSpPr>
        <p:spPr>
          <a:xfrm>
            <a:off x="3056473" y="2084832"/>
            <a:ext cx="1611721" cy="411480"/>
          </a:xfrm>
          <a:prstGeom prst="rect">
            <a:avLst/>
          </a:prstGeom>
          <a:noFill/>
          <a:ln/>
        </p:spPr>
        <p:txBody>
          <a:bodyPr wrap="square" lIns="0" tIns="0" rIns="0" bIns="0" rtlCol="0" anchor="ctr"/>
          <a:lstStyle/>
          <a:p>
            <a:pPr marL="0" indent="0" algn="r">
              <a:buNone/>
            </a:pPr>
            <a:r>
              <a:rPr lang="en-US" sz="1800" b="1" dirty="0">
                <a:solidFill>
                  <a:srgbClr val="2E5C8A"/>
                </a:solidFill>
                <a:latin typeface="Calibri" pitchFamily="34" charset="0"/>
                <a:ea typeface="Calibri" pitchFamily="34" charset="-122"/>
                <a:cs typeface="Calibri" pitchFamily="34" charset="-120"/>
              </a:rPr>
              <a:t>04</a:t>
            </a:r>
            <a:endParaRPr lang="en-US" sz="1800" dirty="0"/>
          </a:p>
        </p:txBody>
      </p:sp>
      <p:sp>
        <p:nvSpPr>
          <p:cNvPr id="25" name="Shape 20"/>
          <p:cNvSpPr/>
          <p:nvPr/>
        </p:nvSpPr>
        <p:spPr>
          <a:xfrm>
            <a:off x="3597158" y="2606040"/>
            <a:ext cx="530352" cy="530352"/>
          </a:xfrm>
          <a:prstGeom prst="ellipse">
            <a:avLst/>
          </a:prstGeom>
          <a:solidFill>
            <a:srgbClr val="0E7C7B"/>
          </a:solidFill>
          <a:ln/>
        </p:spPr>
      </p:sp>
      <p:pic>
        <p:nvPicPr>
          <p:cNvPr id="26" name="Image 3" descr="/home/claude/reactor_pptx/icons/fire_white.png"/>
          <p:cNvPicPr>
            <a:picLocks noChangeAspect="1"/>
          </p:cNvPicPr>
          <p:nvPr/>
        </p:nvPicPr>
        <p:blipFill>
          <a:blip r:embed="rId6"/>
          <a:stretch>
            <a:fillRect/>
          </a:stretch>
        </p:blipFill>
        <p:spPr>
          <a:xfrm>
            <a:off x="3725174" y="2734056"/>
            <a:ext cx="274320" cy="274320"/>
          </a:xfrm>
          <a:prstGeom prst="rect">
            <a:avLst/>
          </a:prstGeom>
        </p:spPr>
      </p:pic>
      <p:sp>
        <p:nvSpPr>
          <p:cNvPr id="27" name="Text 21"/>
          <p:cNvSpPr/>
          <p:nvPr/>
        </p:nvSpPr>
        <p:spPr>
          <a:xfrm>
            <a:off x="3010753" y="3337560"/>
            <a:ext cx="1703161"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انتقال جرم و حرارت</a:t>
            </a:r>
            <a:endParaRPr lang="en-US" sz="1350" dirty="0"/>
          </a:p>
        </p:txBody>
      </p:sp>
      <p:sp>
        <p:nvSpPr>
          <p:cNvPr id="28" name="Text 22"/>
          <p:cNvSpPr/>
          <p:nvPr/>
        </p:nvSpPr>
        <p:spPr>
          <a:xfrm>
            <a:off x="3038185" y="3931920"/>
            <a:ext cx="1648297" cy="1097280"/>
          </a:xfrm>
          <a:prstGeom prst="rect">
            <a:avLst/>
          </a:prstGeom>
          <a:noFill/>
          <a:ln/>
        </p:spPr>
        <p:txBody>
          <a:bodyPr wrap="square" lIns="0" tIns="0" rIns="0" bIns="0" rtlCol="0" anchor="ctr"/>
          <a:lstStyle/>
          <a:p>
            <a:pPr marL="0" indent="0" algn="ctr">
              <a:lnSpc>
                <a:spcPct val="125000"/>
              </a:lnSpc>
              <a:buNone/>
            </a:pPr>
            <a:r>
              <a:rPr lang="en-US" sz="1030" dirty="0">
                <a:solidFill>
                  <a:srgbClr val="C7D9EE"/>
                </a:solidFill>
                <a:latin typeface="Calibri" pitchFamily="34" charset="0"/>
                <a:ea typeface="Calibri" pitchFamily="34" charset="-122"/>
                <a:cs typeface="Calibri" pitchFamily="34" charset="-120"/>
              </a:rPr>
              <a:t>کنترل‌شده توسط واکنش یا انتقال</a:t>
            </a:r>
            <a:endParaRPr lang="en-US" sz="1030" dirty="0"/>
          </a:p>
        </p:txBody>
      </p:sp>
      <p:sp>
        <p:nvSpPr>
          <p:cNvPr id="29" name="Shape 23"/>
          <p:cNvSpPr/>
          <p:nvPr/>
        </p:nvSpPr>
        <p:spPr>
          <a:xfrm>
            <a:off x="640080" y="1920240"/>
            <a:ext cx="1977481" cy="3246120"/>
          </a:xfrm>
          <a:prstGeom prst="roundRect">
            <a:avLst>
              <a:gd name="adj" fmla="val 4162"/>
            </a:avLst>
          </a:prstGeom>
          <a:solidFill>
            <a:srgbClr val="0B2545"/>
          </a:solidFill>
          <a:ln/>
          <a:effectLst>
            <a:outerShdw blurRad="101600" dist="38100" dir="2700000" algn="bl" rotWithShape="0">
              <a:srgbClr val="0B2545">
                <a:alpha val="16000"/>
              </a:srgbClr>
            </a:outerShdw>
          </a:effectLst>
        </p:spPr>
      </p:sp>
      <p:sp>
        <p:nvSpPr>
          <p:cNvPr id="30" name="Text 24"/>
          <p:cNvSpPr/>
          <p:nvPr/>
        </p:nvSpPr>
        <p:spPr>
          <a:xfrm>
            <a:off x="822960" y="2084832"/>
            <a:ext cx="1611721" cy="411480"/>
          </a:xfrm>
          <a:prstGeom prst="rect">
            <a:avLst/>
          </a:prstGeom>
          <a:noFill/>
          <a:ln/>
        </p:spPr>
        <p:txBody>
          <a:bodyPr wrap="square" lIns="0" tIns="0" rIns="0" bIns="0" rtlCol="0" anchor="ctr"/>
          <a:lstStyle/>
          <a:p>
            <a:pPr marL="0" indent="0" algn="r">
              <a:buNone/>
            </a:pPr>
            <a:r>
              <a:rPr lang="en-US" sz="1800" b="1" dirty="0">
                <a:solidFill>
                  <a:srgbClr val="2E5C8A"/>
                </a:solidFill>
                <a:latin typeface="Calibri" pitchFamily="34" charset="0"/>
                <a:ea typeface="Calibri" pitchFamily="34" charset="-122"/>
                <a:cs typeface="Calibri" pitchFamily="34" charset="-120"/>
              </a:rPr>
              <a:t>05</a:t>
            </a:r>
            <a:endParaRPr lang="en-US" sz="1800" dirty="0"/>
          </a:p>
        </p:txBody>
      </p:sp>
      <p:sp>
        <p:nvSpPr>
          <p:cNvPr id="31" name="Shape 25"/>
          <p:cNvSpPr/>
          <p:nvPr/>
        </p:nvSpPr>
        <p:spPr>
          <a:xfrm>
            <a:off x="1363645" y="2606040"/>
            <a:ext cx="530352" cy="530352"/>
          </a:xfrm>
          <a:prstGeom prst="ellipse">
            <a:avLst/>
          </a:prstGeom>
          <a:solidFill>
            <a:srgbClr val="0E7C7B"/>
          </a:solidFill>
          <a:ln/>
        </p:spPr>
      </p:sp>
      <p:pic>
        <p:nvPicPr>
          <p:cNvPr id="32" name="Image 4" descr="/home/claude/reactor_pptx/icons/industry_white.png"/>
          <p:cNvPicPr>
            <a:picLocks noChangeAspect="1"/>
          </p:cNvPicPr>
          <p:nvPr/>
        </p:nvPicPr>
        <p:blipFill>
          <a:blip r:embed="rId7"/>
          <a:stretch>
            <a:fillRect/>
          </a:stretch>
        </p:blipFill>
        <p:spPr>
          <a:xfrm>
            <a:off x="1491661" y="2734056"/>
            <a:ext cx="274320" cy="274320"/>
          </a:xfrm>
          <a:prstGeom prst="rect">
            <a:avLst/>
          </a:prstGeom>
        </p:spPr>
      </p:pic>
      <p:sp>
        <p:nvSpPr>
          <p:cNvPr id="33" name="Text 26"/>
          <p:cNvSpPr/>
          <p:nvPr/>
        </p:nvSpPr>
        <p:spPr>
          <a:xfrm>
            <a:off x="777240" y="3337560"/>
            <a:ext cx="1703161"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مقیاس صنعتی</a:t>
            </a:r>
            <a:endParaRPr lang="en-US" sz="1350" dirty="0"/>
          </a:p>
        </p:txBody>
      </p:sp>
      <p:sp>
        <p:nvSpPr>
          <p:cNvPr id="34" name="Text 27"/>
          <p:cNvSpPr/>
          <p:nvPr/>
        </p:nvSpPr>
        <p:spPr>
          <a:xfrm>
            <a:off x="804672" y="3931920"/>
            <a:ext cx="1648297" cy="1097280"/>
          </a:xfrm>
          <a:prstGeom prst="rect">
            <a:avLst/>
          </a:prstGeom>
          <a:noFill/>
          <a:ln/>
        </p:spPr>
        <p:txBody>
          <a:bodyPr wrap="square" lIns="0" tIns="0" rIns="0" bIns="0" rtlCol="0" anchor="ctr"/>
          <a:lstStyle/>
          <a:p>
            <a:pPr marL="0" indent="0" algn="ctr">
              <a:lnSpc>
                <a:spcPct val="125000"/>
              </a:lnSpc>
              <a:buNone/>
            </a:pPr>
            <a:r>
              <a:rPr lang="en-US" sz="1030" dirty="0">
                <a:solidFill>
                  <a:srgbClr val="C7D9EE"/>
                </a:solidFill>
                <a:latin typeface="Calibri" pitchFamily="34" charset="0"/>
                <a:ea typeface="Calibri" pitchFamily="34" charset="-122"/>
                <a:cs typeface="Calibri" pitchFamily="34" charset="-120"/>
              </a:rPr>
              <a:t>آزمایشگاهی / پایلوت / صنعتی</a:t>
            </a:r>
            <a:endParaRPr lang="en-US" sz="1030" dirty="0"/>
          </a:p>
        </p:txBody>
      </p:sp>
      <p:sp>
        <p:nvSpPr>
          <p:cNvPr id="35" name="Text 28"/>
          <p:cNvSpPr/>
          <p:nvPr/>
        </p:nvSpPr>
        <p:spPr>
          <a:xfrm>
            <a:off x="640080" y="5440680"/>
            <a:ext cx="10911535" cy="457200"/>
          </a:xfrm>
          <a:prstGeom prst="rect">
            <a:avLst/>
          </a:prstGeom>
          <a:noFill/>
          <a:ln/>
        </p:spPr>
        <p:txBody>
          <a:bodyPr wrap="square" lIns="0" tIns="0" rIns="0" bIns="0" rtlCol="0" anchor="ctr"/>
          <a:lstStyle/>
          <a:p>
            <a:pPr marL="0" indent="0" algn="r">
              <a:buNone/>
            </a:pPr>
            <a:r>
              <a:rPr lang="en-US" sz="1250" i="1" dirty="0">
                <a:solidFill>
                  <a:srgbClr val="D98E3F"/>
                </a:solidFill>
                <a:latin typeface="Calibri" pitchFamily="34" charset="0"/>
                <a:ea typeface="Calibri" pitchFamily="34" charset="-122"/>
                <a:cs typeface="Calibri" pitchFamily="34" charset="-120"/>
              </a:rPr>
              <a:t>نکته کلیدی: هیچ معیار به‌تنهایی کافی نیست — راکتورهای صنعتی واقعی معمولاً با ترکیبی از چندین معیار توصیف می‌شوند.</a:t>
            </a:r>
            <a:endParaRPr lang="en-US" sz="1250" dirty="0"/>
          </a:p>
        </p:txBody>
      </p:sp>
      <p:sp>
        <p:nvSpPr>
          <p:cNvPr id="36" name="Text 29"/>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08</a:t>
            </a:r>
            <a:endParaRPr lang="en-US" sz="1000" dirty="0"/>
          </a:p>
        </p:txBody>
      </p:sp>
      <p:sp>
        <p:nvSpPr>
          <p:cNvPr id="37" name="Text 30"/>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28016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۲-۶</a:t>
            </a:r>
            <a:endParaRPr lang="en-US" sz="1600" dirty="0"/>
          </a:p>
        </p:txBody>
      </p:sp>
      <p:sp>
        <p:nvSpPr>
          <p:cNvPr id="3" name="Text 1"/>
          <p:cNvSpPr/>
          <p:nvPr/>
        </p:nvSpPr>
        <p:spPr>
          <a:xfrm>
            <a:off x="1554480" y="502920"/>
            <a:ext cx="999713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مزایا و معایب هر معیار</a:t>
            </a:r>
            <a:endParaRPr lang="en-US" sz="1300" dirty="0"/>
          </a:p>
        </p:txBody>
      </p:sp>
      <p:sp>
        <p:nvSpPr>
          <p:cNvPr id="4" name="Text 2"/>
          <p:cNvSpPr/>
          <p:nvPr/>
        </p:nvSpPr>
        <p:spPr>
          <a:xfrm>
            <a:off x="1554480" y="841248"/>
            <a:ext cx="999713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هیچ معیاری به‌تنهایی کافی نیست</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3291840"/>
        </p:xfrm>
        <a:graphic>
          <a:graphicData uri="http://schemas.openxmlformats.org/drawingml/2006/table">
            <a:tbl>
              <a:tblPr/>
              <a:tblGrid>
                <a:gridCol w="4582845">
                  <a:extLst>
                    <a:ext uri="{9D8B030D-6E8A-4147-A177-3AD203B41FA5}">
                      <a16:colId xmlns:a16="http://schemas.microsoft.com/office/drawing/2014/main" val="20000"/>
                    </a:ext>
                  </a:extLst>
                </a:gridCol>
                <a:gridCol w="3709922">
                  <a:extLst>
                    <a:ext uri="{9D8B030D-6E8A-4147-A177-3AD203B41FA5}">
                      <a16:colId xmlns:a16="http://schemas.microsoft.com/office/drawing/2014/main" val="20001"/>
                    </a:ext>
                  </a:extLst>
                </a:gridCol>
                <a:gridCol w="2618768">
                  <a:extLst>
                    <a:ext uri="{9D8B030D-6E8A-4147-A177-3AD203B41FA5}">
                      <a16:colId xmlns:a16="http://schemas.microsoft.com/office/drawing/2014/main" val="20002"/>
                    </a:ext>
                  </a:extLst>
                </a:gridCol>
              </a:tblGrid>
              <a:tr h="548640">
                <a:tc>
                  <a:txBody>
                    <a:bodyPr/>
                    <a:lstStyle/>
                    <a:p>
                      <a:pPr marL="0" indent="0" algn="r">
                        <a:buNone/>
                      </a:pPr>
                      <a:r>
                        <a:rPr lang="en-US" sz="1250" b="1" dirty="0">
                          <a:solidFill>
                            <a:srgbClr val="FFFFFF"/>
                          </a:solidFill>
                        </a:rPr>
                        <a:t>کاربرد اصلی معیار</a:t>
                      </a:r>
                      <a:endParaRPr lang="en-US" sz="12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B2545"/>
                    </a:solidFill>
                  </a:tcPr>
                </a:tc>
                <a:tc>
                  <a:txBody>
                    <a:bodyPr/>
                    <a:lstStyle/>
                    <a:p>
                      <a:pPr marL="0" indent="0" algn="r">
                        <a:buNone/>
                      </a:pPr>
                      <a:r>
                        <a:rPr lang="en-US" sz="1250" b="1" dirty="0">
                          <a:solidFill>
                            <a:srgbClr val="FFFFFF"/>
                          </a:solidFill>
                        </a:rPr>
                        <a:t>دسته‌های اصلی</a:t>
                      </a:r>
                      <a:endParaRPr lang="en-US" sz="12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B2545"/>
                    </a:solidFill>
                  </a:tcPr>
                </a:tc>
                <a:tc>
                  <a:txBody>
                    <a:bodyPr/>
                    <a:lstStyle/>
                    <a:p>
                      <a:pPr marL="0" indent="0" algn="r">
                        <a:buNone/>
                      </a:pPr>
                      <a:r>
                        <a:rPr lang="en-US" sz="1250" b="1" dirty="0">
                          <a:solidFill>
                            <a:srgbClr val="FFFFFF"/>
                          </a:solidFill>
                        </a:rPr>
                        <a:t>معیار طبقه‌بندی</a:t>
                      </a:r>
                      <a:endParaRPr lang="en-US" sz="12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548640">
                <a:tc>
                  <a:txBody>
                    <a:bodyPr/>
                    <a:lstStyle/>
                    <a:p>
                      <a:pPr marL="0" indent="0" algn="r">
                        <a:buNone/>
                      </a:pPr>
                      <a:r>
                        <a:rPr lang="en-US" sz="1150" dirty="0">
                          <a:solidFill>
                            <a:srgbClr val="5C6B73"/>
                          </a:solidFill>
                        </a:rPr>
                        <a:t>تعیین پیچیدگی مدل‌سازی و محدودیت تبدیل</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50" dirty="0">
                          <a:solidFill>
                            <a:srgbClr val="5C6B73"/>
                          </a:solidFill>
                        </a:rPr>
                        <a:t>همگن/ناهمگن، برگشت‌پذیر/برگشت‌ناپذیر</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50" b="1" dirty="0">
                          <a:solidFill>
                            <a:srgbClr val="1A2433"/>
                          </a:solidFill>
                        </a:rPr>
                        <a:t>نوع واکنش</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extLst>
                  <a:ext uri="{0D108BD9-81ED-4DB2-BD59-A6C34878D82A}">
                    <a16:rowId xmlns:a16="http://schemas.microsoft.com/office/drawing/2014/main" val="10001"/>
                  </a:ext>
                </a:extLst>
              </a:tr>
              <a:tr h="548640">
                <a:tc>
                  <a:txBody>
                    <a:bodyPr/>
                    <a:lstStyle/>
                    <a:p>
                      <a:pPr marL="0" indent="0" algn="r">
                        <a:buNone/>
                      </a:pPr>
                      <a:r>
                        <a:rPr lang="en-US" sz="1150" dirty="0">
                          <a:solidFill>
                            <a:srgbClr val="5C6B73"/>
                          </a:solidFill>
                        </a:rPr>
                        <a:t>انتخاب مدل ریاضی طراحی راکتور</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150" dirty="0">
                          <a:solidFill>
                            <a:srgbClr val="5C6B73"/>
                          </a:solidFill>
                        </a:rPr>
                        <a:t>اختلاط کامل، جریان قالبی</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A2433"/>
                          </a:solidFill>
                        </a:rPr>
                        <a:t>نحوه اختلاط</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r">
                        <a:buNone/>
                      </a:pPr>
                      <a:r>
                        <a:rPr lang="en-US" sz="1150" dirty="0">
                          <a:solidFill>
                            <a:srgbClr val="5C6B73"/>
                          </a:solidFill>
                        </a:rPr>
                        <a:t>تطبیق با مقیاس و نوع تولید</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50" dirty="0">
                          <a:solidFill>
                            <a:srgbClr val="5C6B73"/>
                          </a:solidFill>
                        </a:rPr>
                        <a:t>ناپیوسته/نیمه‌پیوسته/پیوسته</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50" b="1" dirty="0">
                          <a:solidFill>
                            <a:srgbClr val="1A2433"/>
                          </a:solidFill>
                        </a:rPr>
                        <a:t>شرایط عملیاتی</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extLst>
                  <a:ext uri="{0D108BD9-81ED-4DB2-BD59-A6C34878D82A}">
                    <a16:rowId xmlns:a16="http://schemas.microsoft.com/office/drawing/2014/main" val="10003"/>
                  </a:ext>
                </a:extLst>
              </a:tr>
              <a:tr h="548640">
                <a:tc>
                  <a:txBody>
                    <a:bodyPr/>
                    <a:lstStyle/>
                    <a:p>
                      <a:pPr marL="0" indent="0" algn="r">
                        <a:buNone/>
                      </a:pPr>
                      <a:r>
                        <a:rPr lang="en-US" sz="1150" dirty="0">
                          <a:solidFill>
                            <a:srgbClr val="5C6B73"/>
                          </a:solidFill>
                        </a:rPr>
                        <a:t>تعیین راهکار افزایش بازده</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150" dirty="0">
                          <a:solidFill>
                            <a:srgbClr val="5C6B73"/>
                          </a:solidFill>
                        </a:rPr>
                        <a:t>کنترل‌شده توسط واکنش/انتقال</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A2433"/>
                          </a:solidFill>
                        </a:rPr>
                        <a:t>انتقال جرم و حرارت</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lgn="r">
                        <a:buNone/>
                      </a:pPr>
                      <a:r>
                        <a:rPr lang="en-US" sz="1150" dirty="0">
                          <a:solidFill>
                            <a:srgbClr val="5C6B73"/>
                          </a:solidFill>
                        </a:rPr>
                        <a:t>مدیریت ریسک توسعه فناوری</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50" dirty="0">
                          <a:solidFill>
                            <a:srgbClr val="5C6B73"/>
                          </a:solidFill>
                        </a:rPr>
                        <a:t>آزمایشگاهی/پایلوت/صنعتی</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50" b="1" dirty="0">
                          <a:solidFill>
                            <a:srgbClr val="1A2433"/>
                          </a:solidFill>
                        </a:rPr>
                        <a:t>مقیاس صنعتی</a:t>
                      </a:r>
                      <a:endParaRPr lang="en-US" sz="1150" dirty="0"/>
                    </a:p>
                  </a:txBody>
                  <a:tcPr marL="127000" marR="127000" marT="76200" marB="762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extLst>
                  <a:ext uri="{0D108BD9-81ED-4DB2-BD59-A6C34878D82A}">
                    <a16:rowId xmlns:a16="http://schemas.microsoft.com/office/drawing/2014/main" val="10005"/>
                  </a:ext>
                </a:extLst>
              </a:tr>
            </a:tbl>
          </a:graphicData>
        </a:graphic>
      </p:graphicFrame>
      <p:sp>
        <p:nvSpPr>
          <p:cNvPr id="6" name="Text 3"/>
          <p:cNvSpPr/>
          <p:nvPr/>
        </p:nvSpPr>
        <p:spPr>
          <a:xfrm>
            <a:off x="640080" y="5349240"/>
            <a:ext cx="10911535" cy="548640"/>
          </a:xfrm>
          <a:prstGeom prst="rect">
            <a:avLst/>
          </a:prstGeom>
          <a:noFill/>
          <a:ln/>
        </p:spPr>
        <p:txBody>
          <a:bodyPr wrap="square" lIns="0" tIns="0" rIns="0" bIns="0" rtlCol="0" anchor="ctr"/>
          <a:lstStyle/>
          <a:p>
            <a:pPr marL="0" indent="0" algn="r">
              <a:lnSpc>
                <a:spcPct val="130000"/>
              </a:lnSpc>
              <a:buNone/>
            </a:pPr>
            <a:r>
              <a:rPr lang="en-US" sz="1250" dirty="0">
                <a:solidFill>
                  <a:srgbClr val="5C6B73"/>
                </a:solidFill>
                <a:latin typeface="Calibri" pitchFamily="34" charset="0"/>
                <a:ea typeface="Calibri" pitchFamily="34" charset="-122"/>
                <a:cs typeface="Calibri" pitchFamily="34" charset="-120"/>
              </a:rPr>
              <a:t>طبقه‌بندی بر اساس شرایط عملیاتی محبوب‌ترین رویکرد در صنعت و آموزش است، اما به‌تنهایی اطلاعاتی درباره هندسه داخلی یا حضور کاتالیست ارائه نمی‌دهد.</a:t>
            </a:r>
            <a:endParaRPr lang="en-US" sz="1250" dirty="0"/>
          </a:p>
        </p:txBody>
      </p:sp>
      <p:sp>
        <p:nvSpPr>
          <p:cNvPr id="7" name="Text 4"/>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09</a:t>
            </a:r>
            <a:endParaRPr lang="en-US" sz="1000" dirty="0"/>
          </a:p>
        </p:txBody>
      </p:sp>
      <p:sp>
        <p:nvSpPr>
          <p:cNvPr id="8" name="Text 5"/>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144000" y="-1645920"/>
            <a:ext cx="5029200" cy="5029200"/>
          </a:xfrm>
          <a:prstGeom prst="ellipse">
            <a:avLst/>
          </a:prstGeom>
          <a:solidFill>
            <a:srgbClr val="112C52"/>
          </a:solidFill>
          <a:ln/>
        </p:spPr>
      </p:sp>
      <p:sp>
        <p:nvSpPr>
          <p:cNvPr id="3" name="Shape 1"/>
          <p:cNvSpPr/>
          <p:nvPr/>
        </p:nvSpPr>
        <p:spPr>
          <a:xfrm>
            <a:off x="-1828800" y="4572000"/>
            <a:ext cx="3657600" cy="3657600"/>
          </a:xfrm>
          <a:prstGeom prst="ellipse">
            <a:avLst/>
          </a:prstGeom>
          <a:solidFill>
            <a:srgbClr val="16396B"/>
          </a:solidFill>
          <a:ln/>
        </p:spPr>
      </p:sp>
      <p:sp>
        <p:nvSpPr>
          <p:cNvPr id="4" name="Text 2"/>
          <p:cNvSpPr/>
          <p:nvPr/>
        </p:nvSpPr>
        <p:spPr>
          <a:xfrm>
            <a:off x="822960" y="2011680"/>
            <a:ext cx="5486400" cy="457200"/>
          </a:xfrm>
          <a:prstGeom prst="rect">
            <a:avLst/>
          </a:prstGeom>
          <a:noFill/>
          <a:ln/>
        </p:spPr>
        <p:txBody>
          <a:bodyPr wrap="square" lIns="0" tIns="0" rIns="0" bIns="0" rtlCol="0" anchor="ctr"/>
          <a:lstStyle/>
          <a:p>
            <a:pPr marL="0" indent="0" algn="r">
              <a:buNone/>
            </a:pPr>
            <a:r>
              <a:rPr lang="en-US" sz="1600" b="1" kern="0" spc="100" dirty="0">
                <a:solidFill>
                  <a:srgbClr val="D98E3F"/>
                </a:solidFill>
                <a:latin typeface="Calibri" pitchFamily="34" charset="0"/>
                <a:ea typeface="Calibri" pitchFamily="34" charset="-122"/>
                <a:cs typeface="Calibri" pitchFamily="34" charset="-120"/>
              </a:rPr>
              <a:t>فصل سوم</a:t>
            </a:r>
            <a:endParaRPr lang="en-US" sz="1600" dirty="0"/>
          </a:p>
        </p:txBody>
      </p:sp>
      <p:sp>
        <p:nvSpPr>
          <p:cNvPr id="5" name="Text 3"/>
          <p:cNvSpPr/>
          <p:nvPr/>
        </p:nvSpPr>
        <p:spPr>
          <a:xfrm>
            <a:off x="822960" y="2468880"/>
            <a:ext cx="9875520" cy="1097280"/>
          </a:xfrm>
          <a:prstGeom prst="rect">
            <a:avLst/>
          </a:prstGeom>
          <a:noFill/>
          <a:ln/>
        </p:spPr>
        <p:txBody>
          <a:bodyPr wrap="square" lIns="0" tIns="0" rIns="0" bIns="0" rtlCol="0" anchor="ctr"/>
          <a:lstStyle/>
          <a:p>
            <a:pPr marL="0" indent="0" algn="r">
              <a:buNone/>
            </a:pPr>
            <a:r>
              <a:rPr lang="en-US" sz="3800" b="1" dirty="0">
                <a:solidFill>
                  <a:srgbClr val="FFFFFF"/>
                </a:solidFill>
                <a:latin typeface="Calibri" pitchFamily="34" charset="0"/>
                <a:ea typeface="Calibri" pitchFamily="34" charset="-122"/>
                <a:cs typeface="Calibri" pitchFamily="34" charset="-120"/>
              </a:rPr>
              <a:t>جریان سیال، هندسه و تعداد فازها</a:t>
            </a:r>
            <a:endParaRPr lang="en-US" sz="3800" dirty="0"/>
          </a:p>
        </p:txBody>
      </p:sp>
      <p:sp>
        <p:nvSpPr>
          <p:cNvPr id="6" name="Text 4"/>
          <p:cNvSpPr/>
          <p:nvPr/>
        </p:nvSpPr>
        <p:spPr>
          <a:xfrm>
            <a:off x="822960" y="3429000"/>
            <a:ext cx="8686800" cy="548640"/>
          </a:xfrm>
          <a:prstGeom prst="rect">
            <a:avLst/>
          </a:prstGeom>
          <a:noFill/>
          <a:ln/>
        </p:spPr>
        <p:txBody>
          <a:bodyPr wrap="square" lIns="0" tIns="0" rIns="0" bIns="0" rtlCol="0" anchor="ctr"/>
          <a:lstStyle/>
          <a:p>
            <a:pPr marL="0" indent="0" algn="r">
              <a:buNone/>
            </a:pPr>
            <a:r>
              <a:rPr lang="en-US" sz="1600" dirty="0">
                <a:solidFill>
                  <a:srgbClr val="C7D9EE"/>
                </a:solidFill>
                <a:latin typeface="Calibri" pitchFamily="34" charset="0"/>
                <a:ea typeface="Calibri" pitchFamily="34" charset="-122"/>
                <a:cs typeface="Calibri" pitchFamily="34" charset="-120"/>
              </a:rPr>
              <a:t>راکتورهای ناپیوسته، نیمه‌پیوسته، CSTR و PFR</a:t>
            </a:r>
            <a:endParaRPr lang="en-US" sz="1600" dirty="0"/>
          </a:p>
        </p:txBody>
      </p:sp>
      <p:pic>
        <p:nvPicPr>
          <p:cNvPr id="7" name="Image 0" descr="/home/claude/reactor_pptx/icons/exchange_teal.png"/>
          <p:cNvPicPr>
            <a:picLocks noChangeAspect="1"/>
          </p:cNvPicPr>
          <p:nvPr/>
        </p:nvPicPr>
        <p:blipFill>
          <a:blip r:embed="rId3"/>
          <a:stretch>
            <a:fillRect/>
          </a:stretch>
        </p:blipFill>
        <p:spPr>
          <a:xfrm>
            <a:off x="9814255" y="4297680"/>
            <a:ext cx="1188720" cy="1188720"/>
          </a:xfrm>
          <a:prstGeom prst="rect">
            <a:avLst/>
          </a:prstGeom>
        </p:spPr>
      </p:pic>
      <p:sp>
        <p:nvSpPr>
          <p:cNvPr id="8" name="Text 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8096B0"/>
                </a:solidFill>
                <a:latin typeface="Calibri" pitchFamily="34" charset="0"/>
                <a:ea typeface="Calibri" pitchFamily="34" charset="-122"/>
                <a:cs typeface="Calibri" pitchFamily="34" charset="-120"/>
              </a:rPr>
              <a:t>10</a:t>
            </a:r>
            <a:endParaRPr lang="en-US" sz="1000" dirty="0"/>
          </a:p>
        </p:txBody>
      </p:sp>
      <p:sp>
        <p:nvSpPr>
          <p:cNvPr id="9" name="Text 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8096B0"/>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28016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۳-۱ و ۳-۲</a:t>
            </a:r>
            <a:endParaRPr lang="en-US" sz="1600" dirty="0"/>
          </a:p>
        </p:txBody>
      </p:sp>
      <p:sp>
        <p:nvSpPr>
          <p:cNvPr id="3" name="Text 1"/>
          <p:cNvSpPr/>
          <p:nvPr/>
        </p:nvSpPr>
        <p:spPr>
          <a:xfrm>
            <a:off x="1645920" y="502920"/>
            <a:ext cx="990569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طبقه‌بندی بر اساس جریان سیال</a:t>
            </a:r>
            <a:endParaRPr lang="en-US" sz="1300" dirty="0"/>
          </a:p>
        </p:txBody>
      </p:sp>
      <p:sp>
        <p:nvSpPr>
          <p:cNvPr id="4" name="Text 2"/>
          <p:cNvSpPr/>
          <p:nvPr/>
        </p:nvSpPr>
        <p:spPr>
          <a:xfrm>
            <a:off x="1645920" y="841248"/>
            <a:ext cx="990569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راکتور ناپیوسته و نیمه‌پیوسته</a:t>
            </a:r>
            <a:endParaRPr lang="en-US" sz="2800" dirty="0"/>
          </a:p>
        </p:txBody>
      </p:sp>
      <p:sp>
        <p:nvSpPr>
          <p:cNvPr id="5" name="Shape 3"/>
          <p:cNvSpPr/>
          <p:nvPr/>
        </p:nvSpPr>
        <p:spPr>
          <a:xfrm>
            <a:off x="6278728" y="1783080"/>
            <a:ext cx="5272888" cy="4160520"/>
          </a:xfrm>
          <a:prstGeom prst="roundRect">
            <a:avLst>
              <a:gd name="adj" fmla="val 1978"/>
            </a:avLst>
          </a:prstGeom>
          <a:solidFill>
            <a:srgbClr val="F7F9FA"/>
          </a:solidFill>
          <a:ln/>
        </p:spPr>
      </p:sp>
      <p:sp>
        <p:nvSpPr>
          <p:cNvPr id="6" name="Shape 4"/>
          <p:cNvSpPr/>
          <p:nvPr/>
        </p:nvSpPr>
        <p:spPr>
          <a:xfrm>
            <a:off x="10682935" y="2057400"/>
            <a:ext cx="548640" cy="548640"/>
          </a:xfrm>
          <a:prstGeom prst="ellipse">
            <a:avLst/>
          </a:prstGeom>
          <a:solidFill>
            <a:srgbClr val="0B2545"/>
          </a:solidFill>
          <a:ln/>
        </p:spPr>
      </p:sp>
      <p:pic>
        <p:nvPicPr>
          <p:cNvPr id="7" name="Image 0" descr="/home/claude/reactor_pptx/icons/flask_teal.png"/>
          <p:cNvPicPr>
            <a:picLocks noChangeAspect="1"/>
          </p:cNvPicPr>
          <p:nvPr/>
        </p:nvPicPr>
        <p:blipFill>
          <a:blip r:embed="rId3"/>
          <a:stretch>
            <a:fillRect/>
          </a:stretch>
        </p:blipFill>
        <p:spPr>
          <a:xfrm>
            <a:off x="10810951" y="2185416"/>
            <a:ext cx="292608" cy="292608"/>
          </a:xfrm>
          <a:prstGeom prst="rect">
            <a:avLst/>
          </a:prstGeom>
        </p:spPr>
      </p:pic>
      <p:sp>
        <p:nvSpPr>
          <p:cNvPr id="8" name="Text 5"/>
          <p:cNvSpPr/>
          <p:nvPr/>
        </p:nvSpPr>
        <p:spPr>
          <a:xfrm>
            <a:off x="6598768" y="2103120"/>
            <a:ext cx="4084168" cy="457200"/>
          </a:xfrm>
          <a:prstGeom prst="rect">
            <a:avLst/>
          </a:prstGeom>
          <a:noFill/>
          <a:ln/>
        </p:spPr>
        <p:txBody>
          <a:bodyPr wrap="square" lIns="0" tIns="0" rIns="0" bIns="0" rtlCol="0" anchor="ctr"/>
          <a:lstStyle/>
          <a:p>
            <a:pPr marL="0" indent="0" algn="r">
              <a:buNone/>
            </a:pPr>
            <a:r>
              <a:rPr lang="en-US" sz="1700" b="1" dirty="0">
                <a:solidFill>
                  <a:srgbClr val="1A2433"/>
                </a:solidFill>
                <a:latin typeface="Calibri" pitchFamily="34" charset="0"/>
                <a:ea typeface="Calibri" pitchFamily="34" charset="-122"/>
                <a:cs typeface="Calibri" pitchFamily="34" charset="-120"/>
              </a:rPr>
              <a:t>راکتور ناپیوسته (Batch)</a:t>
            </a:r>
            <a:endParaRPr lang="en-US" sz="1700" dirty="0"/>
          </a:p>
        </p:txBody>
      </p:sp>
      <p:sp>
        <p:nvSpPr>
          <p:cNvPr id="9" name="Text 6"/>
          <p:cNvSpPr/>
          <p:nvPr/>
        </p:nvSpPr>
        <p:spPr>
          <a:xfrm>
            <a:off x="6598768" y="2743200"/>
            <a:ext cx="4632808" cy="1188720"/>
          </a:xfrm>
          <a:prstGeom prst="rect">
            <a:avLst/>
          </a:prstGeom>
          <a:noFill/>
          <a:ln/>
        </p:spPr>
        <p:txBody>
          <a:bodyPr wrap="square" lIns="0" tIns="0" rIns="0" bIns="0" rtlCol="0" anchor="ctr"/>
          <a:lstStyle/>
          <a:p>
            <a:pPr marL="0" indent="0" algn="r">
              <a:lnSpc>
                <a:spcPct val="130000"/>
              </a:lnSpc>
              <a:buNone/>
            </a:pPr>
            <a:r>
              <a:rPr lang="en-US" sz="1200" dirty="0">
                <a:solidFill>
                  <a:srgbClr val="5C6B73"/>
                </a:solidFill>
                <a:latin typeface="Calibri" pitchFamily="34" charset="0"/>
                <a:ea typeface="Calibri" pitchFamily="34" charset="-122"/>
                <a:cs typeface="Calibri" pitchFamily="34" charset="-120"/>
              </a:rPr>
              <a:t>تمامی واکنش‌دهنده‌ها در ابتدا بارگیری می‌شوند؛ پس از زمان واکنش مشخص، محصول یکجا تخلیه می‌شود. هیچ جریان ورودی یا خروجی در حین واکنش وجود ندارد.</a:t>
            </a:r>
            <a:endParaRPr lang="en-US" sz="1200" dirty="0"/>
          </a:p>
        </p:txBody>
      </p:sp>
      <p:sp>
        <p:nvSpPr>
          <p:cNvPr id="10" name="Text 7"/>
          <p:cNvSpPr/>
          <p:nvPr/>
        </p:nvSpPr>
        <p:spPr>
          <a:xfrm>
            <a:off x="6598768" y="3977640"/>
            <a:ext cx="4632808" cy="1737360"/>
          </a:xfrm>
          <a:prstGeom prst="rect">
            <a:avLst/>
          </a:prstGeom>
          <a:noFill/>
          <a:ln/>
        </p:spPr>
        <p:txBody>
          <a:bodyPr wrap="square" lIns="0" tIns="0" rIns="0" bIns="0" rtlCol="0" anchor="ctr"/>
          <a:lstStyle/>
          <a:p>
            <a:pPr marL="0" indent="0" algn="r">
              <a:lnSpc>
                <a:spcPct val="150000"/>
              </a:lnSpc>
              <a:spcAft>
                <a:spcPts val="800"/>
              </a:spcAft>
              <a:buNone/>
            </a:pPr>
            <a:r>
              <a:rPr lang="en-US" sz="1150" b="1" dirty="0">
                <a:solidFill>
                  <a:srgbClr val="0E7C7B"/>
                </a:solidFill>
                <a:latin typeface="Calibri" pitchFamily="34" charset="0"/>
                <a:ea typeface="Calibri" pitchFamily="34" charset="-122"/>
                <a:cs typeface="Calibri" pitchFamily="34" charset="-120"/>
              </a:rPr>
              <a:t>مزیت کلیدی   </a:t>
            </a:r>
            <a:r>
              <a:rPr lang="en-US" sz="1150" dirty="0">
                <a:solidFill>
                  <a:srgbClr val="5C6B73"/>
                </a:solidFill>
                <a:latin typeface="Calibri" pitchFamily="34" charset="0"/>
                <a:ea typeface="Calibri" pitchFamily="34" charset="-122"/>
                <a:cs typeface="Calibri" pitchFamily="34" charset="-120"/>
              </a:rPr>
              <a:t>انعطاف‌پذیری بالا، مناسب تولید چندمحصولی</a:t>
            </a:r>
            <a:endParaRPr lang="en-US" sz="1150" dirty="0"/>
          </a:p>
          <a:p>
            <a:pPr marL="0" indent="0" algn="r">
              <a:lnSpc>
                <a:spcPct val="150000"/>
              </a:lnSpc>
              <a:spcAft>
                <a:spcPts val="800"/>
              </a:spcAft>
              <a:buNone/>
            </a:pPr>
            <a:r>
              <a:rPr lang="en-US" sz="1150" b="1" dirty="0">
                <a:solidFill>
                  <a:srgbClr val="D98E3F"/>
                </a:solidFill>
                <a:latin typeface="Calibri" pitchFamily="34" charset="0"/>
                <a:ea typeface="Calibri" pitchFamily="34" charset="-122"/>
                <a:cs typeface="Calibri" pitchFamily="34" charset="-120"/>
              </a:rPr>
              <a:t>محدودیت کلیدی   </a:t>
            </a:r>
            <a:r>
              <a:rPr lang="en-US" sz="1150" dirty="0">
                <a:solidFill>
                  <a:srgbClr val="5C6B73"/>
                </a:solidFill>
                <a:latin typeface="Calibri" pitchFamily="34" charset="0"/>
                <a:ea typeface="Calibri" pitchFamily="34" charset="-122"/>
                <a:cs typeface="Calibri" pitchFamily="34" charset="-120"/>
              </a:rPr>
              <a:t>زمان غیرمولد بالا، بازده پایین‌تر در حجم زیاد</a:t>
            </a:r>
            <a:endParaRPr lang="en-US" sz="1150" dirty="0"/>
          </a:p>
          <a:p>
            <a:pPr marL="0" indent="0" algn="r">
              <a:lnSpc>
                <a:spcPct val="150000"/>
              </a:lnSpc>
              <a:spcAft>
                <a:spcPts val="800"/>
              </a:spcAft>
              <a:buNone/>
            </a:pPr>
            <a:r>
              <a:rPr lang="en-US" sz="1150" b="1" dirty="0">
                <a:solidFill>
                  <a:srgbClr val="0B2545"/>
                </a:solidFill>
                <a:latin typeface="Calibri" pitchFamily="34" charset="0"/>
                <a:ea typeface="Calibri" pitchFamily="34" charset="-122"/>
                <a:cs typeface="Calibri" pitchFamily="34" charset="-120"/>
              </a:rPr>
              <a:t>کاربرد نمونه   </a:t>
            </a:r>
            <a:r>
              <a:rPr lang="en-US" sz="1150" dirty="0">
                <a:solidFill>
                  <a:srgbClr val="5C6B73"/>
                </a:solidFill>
                <a:latin typeface="Calibri" pitchFamily="34" charset="0"/>
                <a:ea typeface="Calibri" pitchFamily="34" charset="-122"/>
                <a:cs typeface="Calibri" pitchFamily="34" charset="-120"/>
              </a:rPr>
              <a:t>داروسازی، مواد شیمیایی ویژه</a:t>
            </a:r>
            <a:endParaRPr lang="en-US" sz="1150" dirty="0"/>
          </a:p>
        </p:txBody>
      </p:sp>
      <p:sp>
        <p:nvSpPr>
          <p:cNvPr id="11" name="Shape 8"/>
          <p:cNvSpPr/>
          <p:nvPr/>
        </p:nvSpPr>
        <p:spPr>
          <a:xfrm>
            <a:off x="640080" y="1783080"/>
            <a:ext cx="5272888" cy="4160520"/>
          </a:xfrm>
          <a:prstGeom prst="roundRect">
            <a:avLst>
              <a:gd name="adj" fmla="val 1978"/>
            </a:avLst>
          </a:prstGeom>
          <a:solidFill>
            <a:srgbClr val="F7F9FA"/>
          </a:solidFill>
          <a:ln/>
        </p:spPr>
      </p:sp>
      <p:sp>
        <p:nvSpPr>
          <p:cNvPr id="12" name="Shape 9"/>
          <p:cNvSpPr/>
          <p:nvPr/>
        </p:nvSpPr>
        <p:spPr>
          <a:xfrm>
            <a:off x="5044288" y="2057400"/>
            <a:ext cx="548640" cy="548640"/>
          </a:xfrm>
          <a:prstGeom prst="ellipse">
            <a:avLst/>
          </a:prstGeom>
          <a:solidFill>
            <a:srgbClr val="0B2545"/>
          </a:solidFill>
          <a:ln/>
        </p:spPr>
      </p:sp>
      <p:pic>
        <p:nvPicPr>
          <p:cNvPr id="13" name="Image 1" descr="/home/claude/reactor_pptx/icons/tint_teal.png"/>
          <p:cNvPicPr>
            <a:picLocks noChangeAspect="1"/>
          </p:cNvPicPr>
          <p:nvPr/>
        </p:nvPicPr>
        <p:blipFill>
          <a:blip r:embed="rId4"/>
          <a:stretch>
            <a:fillRect/>
          </a:stretch>
        </p:blipFill>
        <p:spPr>
          <a:xfrm>
            <a:off x="5172304" y="2185416"/>
            <a:ext cx="292608" cy="292608"/>
          </a:xfrm>
          <a:prstGeom prst="rect">
            <a:avLst/>
          </a:prstGeom>
        </p:spPr>
      </p:pic>
      <p:sp>
        <p:nvSpPr>
          <p:cNvPr id="14" name="Text 10"/>
          <p:cNvSpPr/>
          <p:nvPr/>
        </p:nvSpPr>
        <p:spPr>
          <a:xfrm>
            <a:off x="960120" y="2103120"/>
            <a:ext cx="4084168" cy="457200"/>
          </a:xfrm>
          <a:prstGeom prst="rect">
            <a:avLst/>
          </a:prstGeom>
          <a:noFill/>
          <a:ln/>
        </p:spPr>
        <p:txBody>
          <a:bodyPr wrap="square" lIns="0" tIns="0" rIns="0" bIns="0" rtlCol="0" anchor="ctr"/>
          <a:lstStyle/>
          <a:p>
            <a:pPr marL="0" indent="0" algn="r">
              <a:buNone/>
            </a:pPr>
            <a:r>
              <a:rPr lang="en-US" sz="1700" b="1" dirty="0">
                <a:solidFill>
                  <a:srgbClr val="1A2433"/>
                </a:solidFill>
                <a:latin typeface="Calibri" pitchFamily="34" charset="0"/>
                <a:ea typeface="Calibri" pitchFamily="34" charset="-122"/>
                <a:cs typeface="Calibri" pitchFamily="34" charset="-120"/>
              </a:rPr>
              <a:t>راکتور نیمه‌پیوسته</a:t>
            </a:r>
            <a:endParaRPr lang="en-US" sz="1700" dirty="0"/>
          </a:p>
        </p:txBody>
      </p:sp>
      <p:sp>
        <p:nvSpPr>
          <p:cNvPr id="15" name="Text 11"/>
          <p:cNvSpPr/>
          <p:nvPr/>
        </p:nvSpPr>
        <p:spPr>
          <a:xfrm>
            <a:off x="960120" y="2743200"/>
            <a:ext cx="4632808" cy="1188720"/>
          </a:xfrm>
          <a:prstGeom prst="rect">
            <a:avLst/>
          </a:prstGeom>
          <a:noFill/>
          <a:ln/>
        </p:spPr>
        <p:txBody>
          <a:bodyPr wrap="square" lIns="0" tIns="0" rIns="0" bIns="0" rtlCol="0" anchor="ctr"/>
          <a:lstStyle/>
          <a:p>
            <a:pPr marL="0" indent="0" algn="r">
              <a:lnSpc>
                <a:spcPct val="130000"/>
              </a:lnSpc>
              <a:buNone/>
            </a:pPr>
            <a:r>
              <a:rPr lang="en-US" sz="1200" dirty="0">
                <a:solidFill>
                  <a:srgbClr val="5C6B73"/>
                </a:solidFill>
                <a:latin typeface="Calibri" pitchFamily="34" charset="0"/>
                <a:ea typeface="Calibri" pitchFamily="34" charset="-122"/>
                <a:cs typeface="Calibri" pitchFamily="34" charset="-120"/>
              </a:rPr>
              <a:t>یک یا چند واکنش‌دهنده به‌تدریج در طول زمان افزوده می‌شود، در حالی که محصول تا پایان واکنش در راکتور باقی می‌ماند یا به‌تدریج خارج می‌شود.</a:t>
            </a:r>
            <a:endParaRPr lang="en-US" sz="1200" dirty="0"/>
          </a:p>
        </p:txBody>
      </p:sp>
      <p:sp>
        <p:nvSpPr>
          <p:cNvPr id="16" name="Text 12"/>
          <p:cNvSpPr/>
          <p:nvPr/>
        </p:nvSpPr>
        <p:spPr>
          <a:xfrm>
            <a:off x="960120" y="3977640"/>
            <a:ext cx="4632808" cy="1737360"/>
          </a:xfrm>
          <a:prstGeom prst="rect">
            <a:avLst/>
          </a:prstGeom>
          <a:noFill/>
          <a:ln/>
        </p:spPr>
        <p:txBody>
          <a:bodyPr wrap="square" lIns="0" tIns="0" rIns="0" bIns="0" rtlCol="0" anchor="ctr"/>
          <a:lstStyle/>
          <a:p>
            <a:pPr marL="0" indent="0" algn="r">
              <a:lnSpc>
                <a:spcPct val="150000"/>
              </a:lnSpc>
              <a:spcAft>
                <a:spcPts val="800"/>
              </a:spcAft>
              <a:buNone/>
            </a:pPr>
            <a:r>
              <a:rPr lang="en-US" sz="1150" b="1" dirty="0">
                <a:solidFill>
                  <a:srgbClr val="0E7C7B"/>
                </a:solidFill>
                <a:latin typeface="Calibri" pitchFamily="34" charset="0"/>
                <a:ea typeface="Calibri" pitchFamily="34" charset="-122"/>
                <a:cs typeface="Calibri" pitchFamily="34" charset="-120"/>
              </a:rPr>
              <a:t>مزیت کلیدی   </a:t>
            </a:r>
            <a:r>
              <a:rPr lang="en-US" sz="1150" dirty="0">
                <a:solidFill>
                  <a:srgbClr val="5C6B73"/>
                </a:solidFill>
                <a:latin typeface="Calibri" pitchFamily="34" charset="0"/>
                <a:ea typeface="Calibri" pitchFamily="34" charset="-122"/>
                <a:cs typeface="Calibri" pitchFamily="34" charset="-120"/>
              </a:rPr>
              <a:t>کنترل دقیق واکنش‌های شدیداً گرمازا</a:t>
            </a:r>
            <a:endParaRPr lang="en-US" sz="1150" dirty="0"/>
          </a:p>
          <a:p>
            <a:pPr marL="0" indent="0" algn="r">
              <a:lnSpc>
                <a:spcPct val="150000"/>
              </a:lnSpc>
              <a:spcAft>
                <a:spcPts val="800"/>
              </a:spcAft>
              <a:buNone/>
            </a:pPr>
            <a:r>
              <a:rPr lang="en-US" sz="1150" b="1" dirty="0">
                <a:solidFill>
                  <a:srgbClr val="D98E3F"/>
                </a:solidFill>
                <a:latin typeface="Calibri" pitchFamily="34" charset="0"/>
                <a:ea typeface="Calibri" pitchFamily="34" charset="-122"/>
                <a:cs typeface="Calibri" pitchFamily="34" charset="-120"/>
              </a:rPr>
              <a:t>محدودیت کلیدی   </a:t>
            </a:r>
            <a:r>
              <a:rPr lang="en-US" sz="1150" dirty="0">
                <a:solidFill>
                  <a:srgbClr val="5C6B73"/>
                </a:solidFill>
                <a:latin typeface="Calibri" pitchFamily="34" charset="0"/>
                <a:ea typeface="Calibri" pitchFamily="34" charset="-122"/>
                <a:cs typeface="Calibri" pitchFamily="34" charset="-120"/>
              </a:rPr>
              <a:t>تحلیل ریاضی پیچیده‌تر (حجم متغیر)</a:t>
            </a:r>
            <a:endParaRPr lang="en-US" sz="1150" dirty="0"/>
          </a:p>
          <a:p>
            <a:pPr marL="0" indent="0" algn="r">
              <a:lnSpc>
                <a:spcPct val="150000"/>
              </a:lnSpc>
              <a:spcAft>
                <a:spcPts val="800"/>
              </a:spcAft>
              <a:buNone/>
            </a:pPr>
            <a:r>
              <a:rPr lang="en-US" sz="1150" b="1" dirty="0">
                <a:solidFill>
                  <a:srgbClr val="0B2545"/>
                </a:solidFill>
                <a:latin typeface="Calibri" pitchFamily="34" charset="0"/>
                <a:ea typeface="Calibri" pitchFamily="34" charset="-122"/>
                <a:cs typeface="Calibri" pitchFamily="34" charset="-120"/>
              </a:rPr>
              <a:t>کاربرد نمونه   </a:t>
            </a:r>
            <a:r>
              <a:rPr lang="en-US" sz="1150" dirty="0">
                <a:solidFill>
                  <a:srgbClr val="5C6B73"/>
                </a:solidFill>
                <a:latin typeface="Calibri" pitchFamily="34" charset="0"/>
                <a:ea typeface="Calibri" pitchFamily="34" charset="-122"/>
                <a:cs typeface="Calibri" pitchFamily="34" charset="-120"/>
              </a:rPr>
              <a:t>پلیمریزاسیون، نیتراسیون، تخمیر زیستی</a:t>
            </a:r>
            <a:endParaRPr lang="en-US" sz="1150" dirty="0"/>
          </a:p>
        </p:txBody>
      </p:sp>
      <p:sp>
        <p:nvSpPr>
          <p:cNvPr id="17" name="Text 13"/>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11</a:t>
            </a:r>
            <a:endParaRPr lang="en-US" sz="1000" dirty="0"/>
          </a:p>
        </p:txBody>
      </p:sp>
      <p:sp>
        <p:nvSpPr>
          <p:cNvPr id="18" name="Text 14"/>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28016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۳-۳ و ۳-۴</a:t>
            </a:r>
            <a:endParaRPr lang="en-US" sz="1600" dirty="0"/>
          </a:p>
        </p:txBody>
      </p:sp>
      <p:sp>
        <p:nvSpPr>
          <p:cNvPr id="3" name="Text 1"/>
          <p:cNvSpPr/>
          <p:nvPr/>
        </p:nvSpPr>
        <p:spPr>
          <a:xfrm>
            <a:off x="1645920" y="502920"/>
            <a:ext cx="990569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راکتورهای پیوسته ایده‌آل</a:t>
            </a:r>
            <a:endParaRPr lang="en-US" sz="1300" dirty="0"/>
          </a:p>
        </p:txBody>
      </p:sp>
      <p:sp>
        <p:nvSpPr>
          <p:cNvPr id="4" name="Text 2"/>
          <p:cNvSpPr/>
          <p:nvPr/>
        </p:nvSpPr>
        <p:spPr>
          <a:xfrm>
            <a:off x="1645920" y="841248"/>
            <a:ext cx="990569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CSTR در برابر PFR</a:t>
            </a:r>
            <a:endParaRPr lang="en-US" sz="2800" dirty="0"/>
          </a:p>
        </p:txBody>
      </p:sp>
      <p:sp>
        <p:nvSpPr>
          <p:cNvPr id="5" name="Shape 3"/>
          <p:cNvSpPr/>
          <p:nvPr/>
        </p:nvSpPr>
        <p:spPr>
          <a:xfrm>
            <a:off x="6278728" y="1783080"/>
            <a:ext cx="5272888" cy="4160520"/>
          </a:xfrm>
          <a:prstGeom prst="roundRect">
            <a:avLst>
              <a:gd name="adj" fmla="val 1978"/>
            </a:avLst>
          </a:prstGeom>
          <a:solidFill>
            <a:srgbClr val="F7F9FA"/>
          </a:solidFill>
          <a:ln/>
        </p:spPr>
      </p:sp>
      <p:sp>
        <p:nvSpPr>
          <p:cNvPr id="6" name="Shape 4"/>
          <p:cNvSpPr/>
          <p:nvPr/>
        </p:nvSpPr>
        <p:spPr>
          <a:xfrm>
            <a:off x="10682935" y="2057400"/>
            <a:ext cx="548640" cy="548640"/>
          </a:xfrm>
          <a:prstGeom prst="ellipse">
            <a:avLst/>
          </a:prstGeom>
          <a:solidFill>
            <a:srgbClr val="0B2545"/>
          </a:solidFill>
          <a:ln/>
        </p:spPr>
      </p:sp>
      <p:pic>
        <p:nvPicPr>
          <p:cNvPr id="7" name="Image 0" descr="/home/claude/reactor_pptx/icons/cog_teal.png"/>
          <p:cNvPicPr>
            <a:picLocks noChangeAspect="1"/>
          </p:cNvPicPr>
          <p:nvPr/>
        </p:nvPicPr>
        <p:blipFill>
          <a:blip r:embed="rId3"/>
          <a:stretch>
            <a:fillRect/>
          </a:stretch>
        </p:blipFill>
        <p:spPr>
          <a:xfrm>
            <a:off x="10810951" y="2185416"/>
            <a:ext cx="292608" cy="292608"/>
          </a:xfrm>
          <a:prstGeom prst="rect">
            <a:avLst/>
          </a:prstGeom>
        </p:spPr>
      </p:pic>
      <p:sp>
        <p:nvSpPr>
          <p:cNvPr id="8" name="Text 5"/>
          <p:cNvSpPr/>
          <p:nvPr/>
        </p:nvSpPr>
        <p:spPr>
          <a:xfrm>
            <a:off x="6598768" y="2103120"/>
            <a:ext cx="4084168" cy="457200"/>
          </a:xfrm>
          <a:prstGeom prst="rect">
            <a:avLst/>
          </a:prstGeom>
          <a:noFill/>
          <a:ln/>
        </p:spPr>
        <p:txBody>
          <a:bodyPr wrap="square" lIns="0" tIns="0" rIns="0" bIns="0" rtlCol="0" anchor="ctr"/>
          <a:lstStyle/>
          <a:p>
            <a:pPr marL="0" indent="0" algn="r">
              <a:buNone/>
            </a:pPr>
            <a:r>
              <a:rPr lang="en-US" sz="1600" b="1" dirty="0">
                <a:solidFill>
                  <a:srgbClr val="1A2433"/>
                </a:solidFill>
                <a:latin typeface="Calibri" pitchFamily="34" charset="0"/>
                <a:ea typeface="Calibri" pitchFamily="34" charset="-122"/>
                <a:cs typeface="Calibri" pitchFamily="34" charset="-120"/>
              </a:rPr>
              <a:t>CSTR — مخزنی همزن‌دار پیوسته</a:t>
            </a:r>
            <a:endParaRPr lang="en-US" sz="1600" dirty="0"/>
          </a:p>
        </p:txBody>
      </p:sp>
      <p:sp>
        <p:nvSpPr>
          <p:cNvPr id="9" name="Text 6"/>
          <p:cNvSpPr/>
          <p:nvPr/>
        </p:nvSpPr>
        <p:spPr>
          <a:xfrm>
            <a:off x="6598768" y="2743200"/>
            <a:ext cx="4632808" cy="1188720"/>
          </a:xfrm>
          <a:prstGeom prst="rect">
            <a:avLst/>
          </a:prstGeom>
          <a:noFill/>
          <a:ln/>
        </p:spPr>
        <p:txBody>
          <a:bodyPr wrap="square" lIns="0" tIns="0" rIns="0" bIns="0" rtlCol="0" anchor="ctr"/>
          <a:lstStyle/>
          <a:p>
            <a:pPr marL="0" indent="0" algn="r">
              <a:lnSpc>
                <a:spcPct val="130000"/>
              </a:lnSpc>
              <a:buNone/>
            </a:pPr>
            <a:r>
              <a:rPr lang="en-US" sz="1200" dirty="0">
                <a:solidFill>
                  <a:srgbClr val="5C6B73"/>
                </a:solidFill>
                <a:latin typeface="Calibri" pitchFamily="34" charset="0"/>
                <a:ea typeface="Calibri" pitchFamily="34" charset="-122"/>
                <a:cs typeface="Calibri" pitchFamily="34" charset="-120"/>
              </a:rPr>
              <a:t>خوراک مداوم وارد و محصول مداوم خارج می‌شود. فرض اختلاط کامل: غلظت و دما در سراسر راکتور یکنواخت و برابر با خروجی است.</a:t>
            </a:r>
            <a:endParaRPr lang="en-US" sz="1200" dirty="0"/>
          </a:p>
        </p:txBody>
      </p:sp>
      <p:sp>
        <p:nvSpPr>
          <p:cNvPr id="10" name="Text 7"/>
          <p:cNvSpPr/>
          <p:nvPr/>
        </p:nvSpPr>
        <p:spPr>
          <a:xfrm>
            <a:off x="6598768" y="3977640"/>
            <a:ext cx="4632808" cy="1737360"/>
          </a:xfrm>
          <a:prstGeom prst="rect">
            <a:avLst/>
          </a:prstGeom>
          <a:noFill/>
          <a:ln/>
        </p:spPr>
        <p:txBody>
          <a:bodyPr wrap="square" lIns="0" tIns="0" rIns="0" bIns="0" rtlCol="0" anchor="ctr"/>
          <a:lstStyle/>
          <a:p>
            <a:pPr marL="0" indent="0" algn="r">
              <a:lnSpc>
                <a:spcPct val="150000"/>
              </a:lnSpc>
              <a:spcAft>
                <a:spcPts val="800"/>
              </a:spcAft>
              <a:buNone/>
            </a:pPr>
            <a:r>
              <a:rPr lang="en-US" sz="1150" b="1" dirty="0">
                <a:solidFill>
                  <a:srgbClr val="0E7C7B"/>
                </a:solidFill>
                <a:latin typeface="Calibri" pitchFamily="34" charset="0"/>
                <a:ea typeface="Calibri" pitchFamily="34" charset="-122"/>
                <a:cs typeface="Calibri" pitchFamily="34" charset="-120"/>
              </a:rPr>
              <a:t>مزیت کلیدی   </a:t>
            </a:r>
            <a:r>
              <a:rPr lang="en-US" sz="1150" dirty="0">
                <a:solidFill>
                  <a:srgbClr val="5C6B73"/>
                </a:solidFill>
                <a:latin typeface="Calibri" pitchFamily="34" charset="0"/>
                <a:ea typeface="Calibri" pitchFamily="34" charset="-122"/>
                <a:cs typeface="Calibri" pitchFamily="34" charset="-120"/>
              </a:rPr>
              <a:t>کنترل ساده دما و ترکیب، تولید پیوسته با کیفیت ثابت</a:t>
            </a:r>
            <a:endParaRPr lang="en-US" sz="1150" dirty="0"/>
          </a:p>
          <a:p>
            <a:pPr marL="0" indent="0" algn="r">
              <a:lnSpc>
                <a:spcPct val="150000"/>
              </a:lnSpc>
              <a:spcAft>
                <a:spcPts val="800"/>
              </a:spcAft>
              <a:buNone/>
            </a:pPr>
            <a:r>
              <a:rPr lang="en-US" sz="1150" b="1" dirty="0">
                <a:solidFill>
                  <a:srgbClr val="D98E3F"/>
                </a:solidFill>
                <a:latin typeface="Calibri" pitchFamily="34" charset="0"/>
                <a:ea typeface="Calibri" pitchFamily="34" charset="-122"/>
                <a:cs typeface="Calibri" pitchFamily="34" charset="-120"/>
              </a:rPr>
              <a:t>محدودیت کلیدی   </a:t>
            </a:r>
            <a:r>
              <a:rPr lang="en-US" sz="1150" dirty="0">
                <a:solidFill>
                  <a:srgbClr val="5C6B73"/>
                </a:solidFill>
                <a:latin typeface="Calibri" pitchFamily="34" charset="0"/>
                <a:ea typeface="Calibri" pitchFamily="34" charset="-122"/>
                <a:cs typeface="Calibri" pitchFamily="34" charset="-120"/>
              </a:rPr>
              <a:t>حجم بزرگ‌تر برای تبدیل بالا (کار با غلظت خروجی پایین)</a:t>
            </a:r>
            <a:endParaRPr lang="en-US" sz="1150" dirty="0"/>
          </a:p>
          <a:p>
            <a:pPr marL="0" indent="0" algn="r">
              <a:lnSpc>
                <a:spcPct val="150000"/>
              </a:lnSpc>
              <a:spcAft>
                <a:spcPts val="800"/>
              </a:spcAft>
              <a:buNone/>
            </a:pPr>
            <a:r>
              <a:rPr lang="en-US" sz="1150" b="1" dirty="0">
                <a:solidFill>
                  <a:srgbClr val="0B2545"/>
                </a:solidFill>
                <a:latin typeface="Calibri" pitchFamily="34" charset="0"/>
                <a:ea typeface="Calibri" pitchFamily="34" charset="-122"/>
                <a:cs typeface="Calibri" pitchFamily="34" charset="-120"/>
              </a:rPr>
              <a:t>کاربرد نمونه   </a:t>
            </a:r>
            <a:r>
              <a:rPr lang="en-US" sz="1150" dirty="0">
                <a:solidFill>
                  <a:srgbClr val="5C6B73"/>
                </a:solidFill>
                <a:latin typeface="Calibri" pitchFamily="34" charset="0"/>
                <a:ea typeface="Calibri" pitchFamily="34" charset="-122"/>
                <a:cs typeface="Calibri" pitchFamily="34" charset="-120"/>
              </a:rPr>
              <a:t>تولید پتروشیمی، مقیاس بزرگ</a:t>
            </a:r>
            <a:endParaRPr lang="en-US" sz="1150" dirty="0"/>
          </a:p>
        </p:txBody>
      </p:sp>
      <p:sp>
        <p:nvSpPr>
          <p:cNvPr id="11" name="Shape 8"/>
          <p:cNvSpPr/>
          <p:nvPr/>
        </p:nvSpPr>
        <p:spPr>
          <a:xfrm>
            <a:off x="640080" y="1783080"/>
            <a:ext cx="5272888" cy="4160520"/>
          </a:xfrm>
          <a:prstGeom prst="roundRect">
            <a:avLst>
              <a:gd name="adj" fmla="val 1978"/>
            </a:avLst>
          </a:prstGeom>
          <a:solidFill>
            <a:srgbClr val="F7F9FA"/>
          </a:solidFill>
          <a:ln/>
        </p:spPr>
      </p:sp>
      <p:sp>
        <p:nvSpPr>
          <p:cNvPr id="12" name="Shape 9"/>
          <p:cNvSpPr/>
          <p:nvPr/>
        </p:nvSpPr>
        <p:spPr>
          <a:xfrm>
            <a:off x="5044288" y="2057400"/>
            <a:ext cx="548640" cy="548640"/>
          </a:xfrm>
          <a:prstGeom prst="ellipse">
            <a:avLst/>
          </a:prstGeom>
          <a:solidFill>
            <a:srgbClr val="0B2545"/>
          </a:solidFill>
          <a:ln/>
        </p:spPr>
      </p:sp>
      <p:pic>
        <p:nvPicPr>
          <p:cNvPr id="13" name="Image 1" descr="/home/claude/reactor_pptx/icons/arrowsh_teal.png"/>
          <p:cNvPicPr>
            <a:picLocks noChangeAspect="1"/>
          </p:cNvPicPr>
          <p:nvPr/>
        </p:nvPicPr>
        <p:blipFill>
          <a:blip r:embed="rId4"/>
          <a:stretch>
            <a:fillRect/>
          </a:stretch>
        </p:blipFill>
        <p:spPr>
          <a:xfrm>
            <a:off x="5172304" y="2185416"/>
            <a:ext cx="292608" cy="292608"/>
          </a:xfrm>
          <a:prstGeom prst="rect">
            <a:avLst/>
          </a:prstGeom>
        </p:spPr>
      </p:pic>
      <p:sp>
        <p:nvSpPr>
          <p:cNvPr id="14" name="Text 10"/>
          <p:cNvSpPr/>
          <p:nvPr/>
        </p:nvSpPr>
        <p:spPr>
          <a:xfrm>
            <a:off x="960120" y="2103120"/>
            <a:ext cx="4084168" cy="457200"/>
          </a:xfrm>
          <a:prstGeom prst="rect">
            <a:avLst/>
          </a:prstGeom>
          <a:noFill/>
          <a:ln/>
        </p:spPr>
        <p:txBody>
          <a:bodyPr wrap="square" lIns="0" tIns="0" rIns="0" bIns="0" rtlCol="0" anchor="ctr"/>
          <a:lstStyle/>
          <a:p>
            <a:pPr marL="0" indent="0" algn="r">
              <a:buNone/>
            </a:pPr>
            <a:r>
              <a:rPr lang="en-US" sz="1600" b="1" dirty="0">
                <a:solidFill>
                  <a:srgbClr val="1A2433"/>
                </a:solidFill>
                <a:latin typeface="Calibri" pitchFamily="34" charset="0"/>
                <a:ea typeface="Calibri" pitchFamily="34" charset="-122"/>
                <a:cs typeface="Calibri" pitchFamily="34" charset="-120"/>
              </a:rPr>
              <a:t>PFR — جریان لوله‌ای</a:t>
            </a:r>
            <a:endParaRPr lang="en-US" sz="1600" dirty="0"/>
          </a:p>
        </p:txBody>
      </p:sp>
      <p:sp>
        <p:nvSpPr>
          <p:cNvPr id="15" name="Text 11"/>
          <p:cNvSpPr/>
          <p:nvPr/>
        </p:nvSpPr>
        <p:spPr>
          <a:xfrm>
            <a:off x="960120" y="2743200"/>
            <a:ext cx="4632808" cy="1188720"/>
          </a:xfrm>
          <a:prstGeom prst="rect">
            <a:avLst/>
          </a:prstGeom>
          <a:noFill/>
          <a:ln/>
        </p:spPr>
        <p:txBody>
          <a:bodyPr wrap="square" lIns="0" tIns="0" rIns="0" bIns="0" rtlCol="0" anchor="ctr"/>
          <a:lstStyle/>
          <a:p>
            <a:pPr marL="0" indent="0" algn="r">
              <a:lnSpc>
                <a:spcPct val="130000"/>
              </a:lnSpc>
              <a:buNone/>
            </a:pPr>
            <a:r>
              <a:rPr lang="en-US" sz="1200" dirty="0">
                <a:solidFill>
                  <a:srgbClr val="5C6B73"/>
                </a:solidFill>
                <a:latin typeface="Calibri" pitchFamily="34" charset="0"/>
                <a:ea typeface="Calibri" pitchFamily="34" charset="-122"/>
                <a:cs typeface="Calibri" pitchFamily="34" charset="-120"/>
              </a:rPr>
              <a:t>سیال به‌صورت قالب‌های متوالی بدون اختلاط محوری عبور می‌کند؛ غلظت به‌تدریج در طول مسیر کاهش می‌یابد.</a:t>
            </a:r>
            <a:endParaRPr lang="en-US" sz="1200" dirty="0"/>
          </a:p>
        </p:txBody>
      </p:sp>
      <p:sp>
        <p:nvSpPr>
          <p:cNvPr id="16" name="Text 12"/>
          <p:cNvSpPr/>
          <p:nvPr/>
        </p:nvSpPr>
        <p:spPr>
          <a:xfrm>
            <a:off x="960120" y="3977640"/>
            <a:ext cx="4632808" cy="1737360"/>
          </a:xfrm>
          <a:prstGeom prst="rect">
            <a:avLst/>
          </a:prstGeom>
          <a:noFill/>
          <a:ln/>
        </p:spPr>
        <p:txBody>
          <a:bodyPr wrap="square" lIns="0" tIns="0" rIns="0" bIns="0" rtlCol="0" anchor="ctr"/>
          <a:lstStyle/>
          <a:p>
            <a:pPr marL="0" indent="0" algn="r">
              <a:lnSpc>
                <a:spcPct val="150000"/>
              </a:lnSpc>
              <a:spcAft>
                <a:spcPts val="800"/>
              </a:spcAft>
              <a:buNone/>
            </a:pPr>
            <a:r>
              <a:rPr lang="en-US" sz="1150" b="1" dirty="0">
                <a:solidFill>
                  <a:srgbClr val="0E7C7B"/>
                </a:solidFill>
                <a:latin typeface="Calibri" pitchFamily="34" charset="0"/>
                <a:ea typeface="Calibri" pitchFamily="34" charset="-122"/>
                <a:cs typeface="Calibri" pitchFamily="34" charset="-120"/>
              </a:rPr>
              <a:t>مزیت کلیدی   </a:t>
            </a:r>
            <a:r>
              <a:rPr lang="en-US" sz="1150" dirty="0">
                <a:solidFill>
                  <a:srgbClr val="5C6B73"/>
                </a:solidFill>
                <a:latin typeface="Calibri" pitchFamily="34" charset="0"/>
                <a:ea typeface="Calibri" pitchFamily="34" charset="-122"/>
                <a:cs typeface="Calibri" pitchFamily="34" charset="-120"/>
              </a:rPr>
              <a:t>حجم کمتر برای تبدیل بالا، میانگین غلظت مؤثر بیشتر</a:t>
            </a:r>
            <a:endParaRPr lang="en-US" sz="1150" dirty="0"/>
          </a:p>
          <a:p>
            <a:pPr marL="0" indent="0" algn="r">
              <a:lnSpc>
                <a:spcPct val="150000"/>
              </a:lnSpc>
              <a:spcAft>
                <a:spcPts val="800"/>
              </a:spcAft>
              <a:buNone/>
            </a:pPr>
            <a:r>
              <a:rPr lang="en-US" sz="1150" b="1" dirty="0">
                <a:solidFill>
                  <a:srgbClr val="D98E3F"/>
                </a:solidFill>
                <a:latin typeface="Calibri" pitchFamily="34" charset="0"/>
                <a:ea typeface="Calibri" pitchFamily="34" charset="-122"/>
                <a:cs typeface="Calibri" pitchFamily="34" charset="-120"/>
              </a:rPr>
              <a:t>محدودیت کلیدی   </a:t>
            </a:r>
            <a:r>
              <a:rPr lang="en-US" sz="1150" dirty="0">
                <a:solidFill>
                  <a:srgbClr val="5C6B73"/>
                </a:solidFill>
                <a:latin typeface="Calibri" pitchFamily="34" charset="0"/>
                <a:ea typeface="Calibri" pitchFamily="34" charset="-122"/>
                <a:cs typeface="Calibri" pitchFamily="34" charset="-120"/>
              </a:rPr>
              <a:t>دشواری کنترل دما در طول راکتور (نقاط داغ)</a:t>
            </a:r>
            <a:endParaRPr lang="en-US" sz="1150" dirty="0"/>
          </a:p>
          <a:p>
            <a:pPr marL="0" indent="0" algn="r">
              <a:lnSpc>
                <a:spcPct val="150000"/>
              </a:lnSpc>
              <a:spcAft>
                <a:spcPts val="800"/>
              </a:spcAft>
              <a:buNone/>
            </a:pPr>
            <a:r>
              <a:rPr lang="en-US" sz="1150" b="1" dirty="0">
                <a:solidFill>
                  <a:srgbClr val="0B2545"/>
                </a:solidFill>
                <a:latin typeface="Calibri" pitchFamily="34" charset="0"/>
                <a:ea typeface="Calibri" pitchFamily="34" charset="-122"/>
                <a:cs typeface="Calibri" pitchFamily="34" charset="-120"/>
              </a:rPr>
              <a:t>کاربرد نمونه   </a:t>
            </a:r>
            <a:r>
              <a:rPr lang="en-US" sz="1150" dirty="0">
                <a:solidFill>
                  <a:srgbClr val="5C6B73"/>
                </a:solidFill>
                <a:latin typeface="Calibri" pitchFamily="34" charset="0"/>
                <a:ea typeface="Calibri" pitchFamily="34" charset="-122"/>
                <a:cs typeface="Calibri" pitchFamily="34" charset="-120"/>
              </a:rPr>
              <a:t>کراکینگ حرارتی، سنتز آمونیاک</a:t>
            </a:r>
            <a:endParaRPr lang="en-US" sz="1150" dirty="0"/>
          </a:p>
        </p:txBody>
      </p:sp>
      <p:sp>
        <p:nvSpPr>
          <p:cNvPr id="17" name="Text 13"/>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12</a:t>
            </a:r>
            <a:endParaRPr lang="en-US" sz="1000" dirty="0"/>
          </a:p>
        </p:txBody>
      </p:sp>
      <p:sp>
        <p:nvSpPr>
          <p:cNvPr id="18" name="Text 14"/>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28016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۳-۵ تا ۳-۶</a:t>
            </a:r>
            <a:endParaRPr lang="en-US" sz="1600" dirty="0"/>
          </a:p>
        </p:txBody>
      </p:sp>
      <p:sp>
        <p:nvSpPr>
          <p:cNvPr id="3" name="Text 1"/>
          <p:cNvSpPr/>
          <p:nvPr/>
        </p:nvSpPr>
        <p:spPr>
          <a:xfrm>
            <a:off x="1645920" y="502920"/>
            <a:ext cx="990569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راکتورهای چندمرحله‌ای و هندسه</a:t>
            </a:r>
            <a:endParaRPr lang="en-US" sz="1300" dirty="0"/>
          </a:p>
        </p:txBody>
      </p:sp>
      <p:sp>
        <p:nvSpPr>
          <p:cNvPr id="4" name="Text 2"/>
          <p:cNvSpPr/>
          <p:nvPr/>
        </p:nvSpPr>
        <p:spPr>
          <a:xfrm>
            <a:off x="1645920" y="841248"/>
            <a:ext cx="990569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ترکیب راکتورها برای عملکرد بهتر</a:t>
            </a:r>
            <a:endParaRPr lang="en-US" sz="2800" dirty="0"/>
          </a:p>
        </p:txBody>
      </p:sp>
      <p:sp>
        <p:nvSpPr>
          <p:cNvPr id="5" name="Text 3"/>
          <p:cNvSpPr/>
          <p:nvPr/>
        </p:nvSpPr>
        <p:spPr>
          <a:xfrm>
            <a:off x="640080" y="1737360"/>
            <a:ext cx="10911535" cy="914400"/>
          </a:xfrm>
          <a:prstGeom prst="rect">
            <a:avLst/>
          </a:prstGeom>
          <a:noFill/>
          <a:ln/>
        </p:spPr>
        <p:txBody>
          <a:bodyPr wrap="square" lIns="0" tIns="0" rIns="0" bIns="0" rtlCol="0" anchor="ctr"/>
          <a:lstStyle/>
          <a:p>
            <a:pPr marL="0" indent="0" algn="r">
              <a:lnSpc>
                <a:spcPct val="135000"/>
              </a:lnSpc>
              <a:buNone/>
            </a:pPr>
            <a:r>
              <a:rPr lang="en-US" sz="1350" dirty="0">
                <a:solidFill>
                  <a:srgbClr val="5C6B73"/>
                </a:solidFill>
                <a:latin typeface="Calibri" pitchFamily="34" charset="0"/>
                <a:ea typeface="Calibri" pitchFamily="34" charset="-122"/>
                <a:cs typeface="Calibri" pitchFamily="34" charset="-120"/>
              </a:rPr>
              <a:t>رایج‌ترین پیکربندی، استفاده از چندین CSTR به‌صورت سری است. با افزایش تعداد مراحل، رفتار مجموعه به‌تدریج به رفتار PFR نزدیک می‌شود — این ویژگی، مدل «مخازن در سری» را به ابزاری مهم برای توصیف رفتار غیرایده‌آل تبدیل کرده است.</a:t>
            </a:r>
            <a:endParaRPr lang="en-US" sz="1350" dirty="0"/>
          </a:p>
        </p:txBody>
      </p:sp>
      <p:sp>
        <p:nvSpPr>
          <p:cNvPr id="6" name="Shape 4"/>
          <p:cNvSpPr/>
          <p:nvPr/>
        </p:nvSpPr>
        <p:spPr>
          <a:xfrm>
            <a:off x="10225735" y="2834640"/>
            <a:ext cx="1005840" cy="1005840"/>
          </a:xfrm>
          <a:prstGeom prst="ellipse">
            <a:avLst/>
          </a:prstGeom>
          <a:solidFill>
            <a:srgbClr val="0E7C7B"/>
          </a:solidFill>
          <a:ln/>
        </p:spPr>
      </p:sp>
      <p:sp>
        <p:nvSpPr>
          <p:cNvPr id="7" name="Text 5"/>
          <p:cNvSpPr/>
          <p:nvPr/>
        </p:nvSpPr>
        <p:spPr>
          <a:xfrm>
            <a:off x="10225735" y="2834640"/>
            <a:ext cx="1005840" cy="10058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Shape 6"/>
          <p:cNvSpPr/>
          <p:nvPr/>
        </p:nvSpPr>
        <p:spPr>
          <a:xfrm flipH="1">
            <a:off x="9814255" y="3291840"/>
            <a:ext cx="411480" cy="91440"/>
          </a:xfrm>
          <a:prstGeom prst="rightArrow">
            <a:avLst/>
          </a:prstGeom>
          <a:solidFill>
            <a:srgbClr val="C7D3D9"/>
          </a:solidFill>
          <a:ln/>
        </p:spPr>
      </p:sp>
      <p:sp>
        <p:nvSpPr>
          <p:cNvPr id="9" name="Shape 7"/>
          <p:cNvSpPr/>
          <p:nvPr/>
        </p:nvSpPr>
        <p:spPr>
          <a:xfrm>
            <a:off x="8808415" y="2834640"/>
            <a:ext cx="1005840" cy="1005840"/>
          </a:xfrm>
          <a:prstGeom prst="ellipse">
            <a:avLst/>
          </a:prstGeom>
          <a:solidFill>
            <a:srgbClr val="0E7C7B"/>
          </a:solidFill>
          <a:ln/>
        </p:spPr>
      </p:sp>
      <p:sp>
        <p:nvSpPr>
          <p:cNvPr id="10" name="Text 8"/>
          <p:cNvSpPr/>
          <p:nvPr/>
        </p:nvSpPr>
        <p:spPr>
          <a:xfrm>
            <a:off x="8808415" y="2834640"/>
            <a:ext cx="1005840" cy="10058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Shape 9"/>
          <p:cNvSpPr/>
          <p:nvPr/>
        </p:nvSpPr>
        <p:spPr>
          <a:xfrm flipH="1">
            <a:off x="8396935" y="3291840"/>
            <a:ext cx="411480" cy="91440"/>
          </a:xfrm>
          <a:prstGeom prst="rightArrow">
            <a:avLst/>
          </a:prstGeom>
          <a:solidFill>
            <a:srgbClr val="C7D3D9"/>
          </a:solidFill>
          <a:ln/>
        </p:spPr>
      </p:sp>
      <p:sp>
        <p:nvSpPr>
          <p:cNvPr id="12" name="Shape 10"/>
          <p:cNvSpPr/>
          <p:nvPr/>
        </p:nvSpPr>
        <p:spPr>
          <a:xfrm>
            <a:off x="7391095" y="2834640"/>
            <a:ext cx="1005840" cy="1005840"/>
          </a:xfrm>
          <a:prstGeom prst="ellipse">
            <a:avLst/>
          </a:prstGeom>
          <a:solidFill>
            <a:srgbClr val="0E7C7B"/>
          </a:solidFill>
          <a:ln/>
        </p:spPr>
      </p:sp>
      <p:sp>
        <p:nvSpPr>
          <p:cNvPr id="13" name="Text 11"/>
          <p:cNvSpPr/>
          <p:nvPr/>
        </p:nvSpPr>
        <p:spPr>
          <a:xfrm>
            <a:off x="7391095" y="2834640"/>
            <a:ext cx="1005840" cy="10058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Shape 12"/>
          <p:cNvSpPr/>
          <p:nvPr/>
        </p:nvSpPr>
        <p:spPr>
          <a:xfrm flipH="1">
            <a:off x="6979615" y="3291840"/>
            <a:ext cx="411480" cy="91440"/>
          </a:xfrm>
          <a:prstGeom prst="rightArrow">
            <a:avLst/>
          </a:prstGeom>
          <a:solidFill>
            <a:srgbClr val="C7D3D9"/>
          </a:solidFill>
          <a:ln/>
        </p:spPr>
      </p:sp>
      <p:sp>
        <p:nvSpPr>
          <p:cNvPr id="15" name="Shape 13"/>
          <p:cNvSpPr/>
          <p:nvPr/>
        </p:nvSpPr>
        <p:spPr>
          <a:xfrm>
            <a:off x="5973775" y="2834640"/>
            <a:ext cx="1005840" cy="1005840"/>
          </a:xfrm>
          <a:prstGeom prst="ellipse">
            <a:avLst/>
          </a:prstGeom>
          <a:solidFill>
            <a:srgbClr val="D98E3F"/>
          </a:solidFill>
          <a:ln/>
        </p:spPr>
      </p:sp>
      <p:sp>
        <p:nvSpPr>
          <p:cNvPr id="16" name="Text 14"/>
          <p:cNvSpPr/>
          <p:nvPr/>
        </p:nvSpPr>
        <p:spPr>
          <a:xfrm>
            <a:off x="5973775" y="2834640"/>
            <a:ext cx="1005840" cy="10058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7" name="Text 15"/>
          <p:cNvSpPr/>
          <p:nvPr/>
        </p:nvSpPr>
        <p:spPr>
          <a:xfrm>
            <a:off x="640080" y="3703320"/>
            <a:ext cx="10911535" cy="365760"/>
          </a:xfrm>
          <a:prstGeom prst="rect">
            <a:avLst/>
          </a:prstGeom>
          <a:noFill/>
          <a:ln/>
        </p:spPr>
        <p:txBody>
          <a:bodyPr wrap="square" lIns="0" tIns="0" rIns="0" bIns="0" rtlCol="0" anchor="ctr"/>
          <a:lstStyle/>
          <a:p>
            <a:pPr marL="0" indent="0" algn="ctr">
              <a:buNone/>
            </a:pPr>
            <a:r>
              <a:rPr lang="en-US" sz="1200" i="1" dirty="0">
                <a:solidFill>
                  <a:srgbClr val="5C6B73"/>
                </a:solidFill>
                <a:latin typeface="Calibri" pitchFamily="34" charset="0"/>
                <a:ea typeface="Calibri" pitchFamily="34" charset="-122"/>
                <a:cs typeface="Calibri" pitchFamily="34" charset="-120"/>
              </a:rPr>
              <a:t>CSTRهای سری ← نزدیک‌شدن تدریجی به رفتار PFR ایده‌آل</a:t>
            </a:r>
            <a:endParaRPr lang="en-US" sz="1200" dirty="0"/>
          </a:p>
        </p:txBody>
      </p:sp>
      <p:sp>
        <p:nvSpPr>
          <p:cNvPr id="18" name="Shape 16"/>
          <p:cNvSpPr/>
          <p:nvPr/>
        </p:nvSpPr>
        <p:spPr>
          <a:xfrm>
            <a:off x="8097317" y="4343400"/>
            <a:ext cx="3454298" cy="1783080"/>
          </a:xfrm>
          <a:prstGeom prst="roundRect">
            <a:avLst>
              <a:gd name="adj" fmla="val 4103"/>
            </a:avLst>
          </a:prstGeom>
          <a:solidFill>
            <a:srgbClr val="F7F9FA"/>
          </a:solidFill>
          <a:ln/>
        </p:spPr>
      </p:sp>
      <p:pic>
        <p:nvPicPr>
          <p:cNvPr id="19" name="Image 0" descr="/home/claude/reactor_pptx/icons/cube_navy.png"/>
          <p:cNvPicPr>
            <a:picLocks noChangeAspect="1"/>
          </p:cNvPicPr>
          <p:nvPr/>
        </p:nvPicPr>
        <p:blipFill>
          <a:blip r:embed="rId3"/>
          <a:stretch>
            <a:fillRect/>
          </a:stretch>
        </p:blipFill>
        <p:spPr>
          <a:xfrm>
            <a:off x="8325917" y="4553712"/>
            <a:ext cx="292608" cy="292608"/>
          </a:xfrm>
          <a:prstGeom prst="rect">
            <a:avLst/>
          </a:prstGeom>
        </p:spPr>
      </p:pic>
      <p:sp>
        <p:nvSpPr>
          <p:cNvPr id="20" name="Text 17"/>
          <p:cNvSpPr/>
          <p:nvPr/>
        </p:nvSpPr>
        <p:spPr>
          <a:xfrm>
            <a:off x="8325917" y="4919472"/>
            <a:ext cx="2997098" cy="320040"/>
          </a:xfrm>
          <a:prstGeom prst="rect">
            <a:avLst/>
          </a:prstGeom>
          <a:noFill/>
          <a:ln/>
        </p:spPr>
        <p:txBody>
          <a:bodyPr wrap="square" lIns="0" tIns="0" rIns="0" bIns="0" rtlCol="0" anchor="ctr"/>
          <a:lstStyle/>
          <a:p>
            <a:pPr marL="0" indent="0" algn="r">
              <a:buNone/>
            </a:pPr>
            <a:r>
              <a:rPr lang="en-US" sz="1250" b="1" dirty="0">
                <a:solidFill>
                  <a:srgbClr val="1A2433"/>
                </a:solidFill>
                <a:latin typeface="Calibri" pitchFamily="34" charset="0"/>
                <a:ea typeface="Calibri" pitchFamily="34" charset="-122"/>
                <a:cs typeface="Calibri" pitchFamily="34" charset="-120"/>
              </a:rPr>
              <a:t>هندسه راکتور</a:t>
            </a:r>
            <a:endParaRPr lang="en-US" sz="1250" dirty="0"/>
          </a:p>
        </p:txBody>
      </p:sp>
      <p:sp>
        <p:nvSpPr>
          <p:cNvPr id="21" name="Text 18"/>
          <p:cNvSpPr/>
          <p:nvPr/>
        </p:nvSpPr>
        <p:spPr>
          <a:xfrm>
            <a:off x="8325917" y="5230368"/>
            <a:ext cx="2997098" cy="822960"/>
          </a:xfrm>
          <a:prstGeom prst="rect">
            <a:avLst/>
          </a:prstGeom>
          <a:noFill/>
          <a:ln/>
        </p:spPr>
        <p:txBody>
          <a:bodyPr wrap="square" lIns="0" tIns="0" rIns="0" bIns="0" rtlCol="0" anchor="ctr"/>
          <a:lstStyle/>
          <a:p>
            <a:pPr marL="0" indent="0" algn="r">
              <a:lnSpc>
                <a:spcPct val="125000"/>
              </a:lnSpc>
              <a:buNone/>
            </a:pPr>
            <a:r>
              <a:rPr lang="en-US" sz="1030" dirty="0">
                <a:solidFill>
                  <a:srgbClr val="5C6B73"/>
                </a:solidFill>
                <a:latin typeface="Calibri" pitchFamily="34" charset="0"/>
                <a:ea typeface="Calibri" pitchFamily="34" charset="-122"/>
                <a:cs typeface="Calibri" pitchFamily="34" charset="-120"/>
              </a:rPr>
              <a:t>استوانه‌ای عمودی (رایج‌ترین)، کروی (فشار بالا)، لوله‌ای، برجی</a:t>
            </a:r>
            <a:endParaRPr lang="en-US" sz="1030" dirty="0"/>
          </a:p>
        </p:txBody>
      </p:sp>
      <p:sp>
        <p:nvSpPr>
          <p:cNvPr id="22" name="Shape 19"/>
          <p:cNvSpPr/>
          <p:nvPr/>
        </p:nvSpPr>
        <p:spPr>
          <a:xfrm>
            <a:off x="4368698" y="4343400"/>
            <a:ext cx="3454298" cy="1783080"/>
          </a:xfrm>
          <a:prstGeom prst="roundRect">
            <a:avLst>
              <a:gd name="adj" fmla="val 4103"/>
            </a:avLst>
          </a:prstGeom>
          <a:solidFill>
            <a:srgbClr val="F7F9FA"/>
          </a:solidFill>
          <a:ln/>
        </p:spPr>
      </p:sp>
      <p:pic>
        <p:nvPicPr>
          <p:cNvPr id="23" name="Image 1" descr="/home/claude/reactor_pptx/icons/layergroup_navy.png"/>
          <p:cNvPicPr>
            <a:picLocks noChangeAspect="1"/>
          </p:cNvPicPr>
          <p:nvPr/>
        </p:nvPicPr>
        <p:blipFill>
          <a:blip r:embed="rId4"/>
          <a:stretch>
            <a:fillRect/>
          </a:stretch>
        </p:blipFill>
        <p:spPr>
          <a:xfrm>
            <a:off x="4597298" y="4553712"/>
            <a:ext cx="292608" cy="292608"/>
          </a:xfrm>
          <a:prstGeom prst="rect">
            <a:avLst/>
          </a:prstGeom>
        </p:spPr>
      </p:pic>
      <p:sp>
        <p:nvSpPr>
          <p:cNvPr id="24" name="Text 20"/>
          <p:cNvSpPr/>
          <p:nvPr/>
        </p:nvSpPr>
        <p:spPr>
          <a:xfrm>
            <a:off x="4597298" y="4919472"/>
            <a:ext cx="2997098" cy="320040"/>
          </a:xfrm>
          <a:prstGeom prst="rect">
            <a:avLst/>
          </a:prstGeom>
          <a:noFill/>
          <a:ln/>
        </p:spPr>
        <p:txBody>
          <a:bodyPr wrap="square" lIns="0" tIns="0" rIns="0" bIns="0" rtlCol="0" anchor="ctr"/>
          <a:lstStyle/>
          <a:p>
            <a:pPr marL="0" indent="0" algn="r">
              <a:buNone/>
            </a:pPr>
            <a:r>
              <a:rPr lang="en-US" sz="1250" b="1" dirty="0">
                <a:solidFill>
                  <a:srgbClr val="1A2433"/>
                </a:solidFill>
                <a:latin typeface="Calibri" pitchFamily="34" charset="0"/>
                <a:ea typeface="Calibri" pitchFamily="34" charset="-122"/>
                <a:cs typeface="Calibri" pitchFamily="34" charset="-120"/>
              </a:rPr>
              <a:t>کاربرد چندمرحله‌ای</a:t>
            </a:r>
            <a:endParaRPr lang="en-US" sz="1250" dirty="0"/>
          </a:p>
        </p:txBody>
      </p:sp>
      <p:sp>
        <p:nvSpPr>
          <p:cNvPr id="25" name="Text 21"/>
          <p:cNvSpPr/>
          <p:nvPr/>
        </p:nvSpPr>
        <p:spPr>
          <a:xfrm>
            <a:off x="4597298" y="5230368"/>
            <a:ext cx="2997098" cy="822960"/>
          </a:xfrm>
          <a:prstGeom prst="rect">
            <a:avLst/>
          </a:prstGeom>
          <a:noFill/>
          <a:ln/>
        </p:spPr>
        <p:txBody>
          <a:bodyPr wrap="square" lIns="0" tIns="0" rIns="0" bIns="0" rtlCol="0" anchor="ctr"/>
          <a:lstStyle/>
          <a:p>
            <a:pPr marL="0" indent="0" algn="r">
              <a:lnSpc>
                <a:spcPct val="125000"/>
              </a:lnSpc>
              <a:buNone/>
            </a:pPr>
            <a:r>
              <a:rPr lang="en-US" sz="1030" dirty="0">
                <a:solidFill>
                  <a:srgbClr val="5C6B73"/>
                </a:solidFill>
                <a:latin typeface="Calibri" pitchFamily="34" charset="0"/>
                <a:ea typeface="Calibri" pitchFamily="34" charset="-122"/>
                <a:cs typeface="Calibri" pitchFamily="34" charset="-120"/>
              </a:rPr>
              <a:t>سنتز آمونیاک، اکسیداسیون دی‌اکسید گوگرد با خنک‌سازی میانی</a:t>
            </a:r>
            <a:endParaRPr lang="en-US" sz="1030" dirty="0"/>
          </a:p>
        </p:txBody>
      </p:sp>
      <p:sp>
        <p:nvSpPr>
          <p:cNvPr id="26" name="Shape 22"/>
          <p:cNvSpPr/>
          <p:nvPr/>
        </p:nvSpPr>
        <p:spPr>
          <a:xfrm>
            <a:off x="640080" y="4343400"/>
            <a:ext cx="3454298" cy="1783080"/>
          </a:xfrm>
          <a:prstGeom prst="roundRect">
            <a:avLst>
              <a:gd name="adj" fmla="val 4103"/>
            </a:avLst>
          </a:prstGeom>
          <a:solidFill>
            <a:srgbClr val="F7F9FA"/>
          </a:solidFill>
          <a:ln/>
        </p:spPr>
      </p:sp>
      <p:pic>
        <p:nvPicPr>
          <p:cNvPr id="27" name="Image 2" descr="/home/claude/reactor_pptx/icons/network_navy.png"/>
          <p:cNvPicPr>
            <a:picLocks noChangeAspect="1"/>
          </p:cNvPicPr>
          <p:nvPr/>
        </p:nvPicPr>
        <p:blipFill>
          <a:blip r:embed="rId5"/>
          <a:stretch>
            <a:fillRect/>
          </a:stretch>
        </p:blipFill>
        <p:spPr>
          <a:xfrm>
            <a:off x="868680" y="4553712"/>
            <a:ext cx="292608" cy="292608"/>
          </a:xfrm>
          <a:prstGeom prst="rect">
            <a:avLst/>
          </a:prstGeom>
        </p:spPr>
      </p:pic>
      <p:sp>
        <p:nvSpPr>
          <p:cNvPr id="28" name="Text 23"/>
          <p:cNvSpPr/>
          <p:nvPr/>
        </p:nvSpPr>
        <p:spPr>
          <a:xfrm>
            <a:off x="868680" y="4919472"/>
            <a:ext cx="2997098" cy="320040"/>
          </a:xfrm>
          <a:prstGeom prst="rect">
            <a:avLst/>
          </a:prstGeom>
          <a:noFill/>
          <a:ln/>
        </p:spPr>
        <p:txBody>
          <a:bodyPr wrap="square" lIns="0" tIns="0" rIns="0" bIns="0" rtlCol="0" anchor="ctr"/>
          <a:lstStyle/>
          <a:p>
            <a:pPr marL="0" indent="0" algn="r">
              <a:buNone/>
            </a:pPr>
            <a:r>
              <a:rPr lang="en-US" sz="1250" b="1" dirty="0">
                <a:solidFill>
                  <a:srgbClr val="1A2433"/>
                </a:solidFill>
                <a:latin typeface="Calibri" pitchFamily="34" charset="0"/>
                <a:ea typeface="Calibri" pitchFamily="34" charset="-122"/>
                <a:cs typeface="Calibri" pitchFamily="34" charset="-120"/>
              </a:rPr>
              <a:t>پیکربندی موازی</a:t>
            </a:r>
            <a:endParaRPr lang="en-US" sz="1250" dirty="0"/>
          </a:p>
        </p:txBody>
      </p:sp>
      <p:sp>
        <p:nvSpPr>
          <p:cNvPr id="29" name="Text 24"/>
          <p:cNvSpPr/>
          <p:nvPr/>
        </p:nvSpPr>
        <p:spPr>
          <a:xfrm>
            <a:off x="868680" y="5230368"/>
            <a:ext cx="2997098" cy="822960"/>
          </a:xfrm>
          <a:prstGeom prst="rect">
            <a:avLst/>
          </a:prstGeom>
          <a:noFill/>
          <a:ln/>
        </p:spPr>
        <p:txBody>
          <a:bodyPr wrap="square" lIns="0" tIns="0" rIns="0" bIns="0" rtlCol="0" anchor="ctr"/>
          <a:lstStyle/>
          <a:p>
            <a:pPr marL="0" indent="0" algn="r">
              <a:lnSpc>
                <a:spcPct val="125000"/>
              </a:lnSpc>
              <a:buNone/>
            </a:pPr>
            <a:r>
              <a:rPr lang="en-US" sz="1030" dirty="0">
                <a:solidFill>
                  <a:srgbClr val="5C6B73"/>
                </a:solidFill>
                <a:latin typeface="Calibri" pitchFamily="34" charset="0"/>
                <a:ea typeface="Calibri" pitchFamily="34" charset="-122"/>
                <a:cs typeface="Calibri" pitchFamily="34" charset="-120"/>
              </a:rPr>
              <a:t>افزایش ظرفیت بدون افزایش حجم منفرد؛ افزایش قابلیت اطمینان</a:t>
            </a:r>
            <a:endParaRPr lang="en-US" sz="1030" dirty="0"/>
          </a:p>
        </p:txBody>
      </p:sp>
      <p:sp>
        <p:nvSpPr>
          <p:cNvPr id="30" name="Text 2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13</a:t>
            </a:r>
            <a:endParaRPr lang="en-US" sz="1000" dirty="0"/>
          </a:p>
        </p:txBody>
      </p:sp>
      <p:sp>
        <p:nvSpPr>
          <p:cNvPr id="31" name="Text 2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82880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۳-۷ تا ۳-۱۱</a:t>
            </a:r>
            <a:endParaRPr lang="en-US" sz="1600" dirty="0"/>
          </a:p>
        </p:txBody>
      </p:sp>
      <p:sp>
        <p:nvSpPr>
          <p:cNvPr id="3" name="Text 1"/>
          <p:cNvSpPr/>
          <p:nvPr/>
        </p:nvSpPr>
        <p:spPr>
          <a:xfrm>
            <a:off x="1737360" y="502920"/>
            <a:ext cx="981425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طبقه‌بندی بر اساس تعداد فازها</a:t>
            </a:r>
            <a:endParaRPr lang="en-US" sz="1300" dirty="0"/>
          </a:p>
        </p:txBody>
      </p:sp>
      <p:sp>
        <p:nvSpPr>
          <p:cNvPr id="4" name="Text 2"/>
          <p:cNvSpPr/>
          <p:nvPr/>
        </p:nvSpPr>
        <p:spPr>
          <a:xfrm>
            <a:off x="1737360" y="841248"/>
            <a:ext cx="981425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از تک‌فازی تا سه‌فازی</a:t>
            </a:r>
            <a:endParaRPr lang="en-US" sz="2800" dirty="0"/>
          </a:p>
        </p:txBody>
      </p:sp>
      <p:sp>
        <p:nvSpPr>
          <p:cNvPr id="5" name="Shape 3"/>
          <p:cNvSpPr/>
          <p:nvPr/>
        </p:nvSpPr>
        <p:spPr>
          <a:xfrm>
            <a:off x="8097317" y="1783080"/>
            <a:ext cx="3454298" cy="1965960"/>
          </a:xfrm>
          <a:prstGeom prst="roundRect">
            <a:avLst>
              <a:gd name="adj" fmla="val 3721"/>
            </a:avLst>
          </a:prstGeom>
          <a:solidFill>
            <a:srgbClr val="0B2545"/>
          </a:solidFill>
          <a:ln/>
        </p:spPr>
      </p:sp>
      <p:pic>
        <p:nvPicPr>
          <p:cNvPr id="6" name="Image 0" descr="/home/claude/reactor_pptx/icons/circle_teal.png"/>
          <p:cNvPicPr>
            <a:picLocks noChangeAspect="1"/>
          </p:cNvPicPr>
          <p:nvPr/>
        </p:nvPicPr>
        <p:blipFill>
          <a:blip r:embed="rId3"/>
          <a:stretch>
            <a:fillRect/>
          </a:stretch>
        </p:blipFill>
        <p:spPr>
          <a:xfrm>
            <a:off x="8353349" y="2011680"/>
            <a:ext cx="310896" cy="310896"/>
          </a:xfrm>
          <a:prstGeom prst="rect">
            <a:avLst/>
          </a:prstGeom>
        </p:spPr>
      </p:pic>
      <p:sp>
        <p:nvSpPr>
          <p:cNvPr id="7" name="Text 4"/>
          <p:cNvSpPr/>
          <p:nvPr/>
        </p:nvSpPr>
        <p:spPr>
          <a:xfrm>
            <a:off x="8353349" y="2423160"/>
            <a:ext cx="2942234" cy="365760"/>
          </a:xfrm>
          <a:prstGeom prst="rect">
            <a:avLst/>
          </a:prstGeom>
          <a:noFill/>
          <a:ln/>
        </p:spPr>
        <p:txBody>
          <a:bodyPr wrap="square" lIns="0" tIns="0" rIns="0" bIns="0"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تک‌فازی</a:t>
            </a:r>
            <a:endParaRPr lang="en-US" sz="1500" dirty="0"/>
          </a:p>
        </p:txBody>
      </p:sp>
      <p:sp>
        <p:nvSpPr>
          <p:cNvPr id="8" name="Text 5"/>
          <p:cNvSpPr/>
          <p:nvPr/>
        </p:nvSpPr>
        <p:spPr>
          <a:xfrm>
            <a:off x="8353349" y="2788920"/>
            <a:ext cx="2942234" cy="914400"/>
          </a:xfrm>
          <a:prstGeom prst="rect">
            <a:avLst/>
          </a:prstGeom>
          <a:noFill/>
          <a:ln/>
        </p:spPr>
        <p:txBody>
          <a:bodyPr wrap="square" lIns="0" tIns="0" rIns="0" bIns="0" rtlCol="0" anchor="ctr"/>
          <a:lstStyle/>
          <a:p>
            <a:pPr marL="0" indent="0" algn="r">
              <a:lnSpc>
                <a:spcPct val="128000"/>
              </a:lnSpc>
              <a:buNone/>
            </a:pPr>
            <a:r>
              <a:rPr lang="en-US" sz="1080" dirty="0">
                <a:solidFill>
                  <a:srgbClr val="C7D9EE"/>
                </a:solidFill>
                <a:latin typeface="Calibri" pitchFamily="34" charset="0"/>
                <a:ea typeface="Calibri" pitchFamily="34" charset="-122"/>
                <a:cs typeface="Calibri" pitchFamily="34" charset="-120"/>
              </a:rPr>
              <a:t>تمامی واکنش‌دهنده‌ها و محصولات در یک فاز (مایع یا گاز)؛ بدون مقاومت انتقال جرم بین‌فازی.</a:t>
            </a:r>
            <a:endParaRPr lang="en-US" sz="1080" dirty="0"/>
          </a:p>
        </p:txBody>
      </p:sp>
      <p:sp>
        <p:nvSpPr>
          <p:cNvPr id="9" name="Shape 6"/>
          <p:cNvSpPr/>
          <p:nvPr/>
        </p:nvSpPr>
        <p:spPr>
          <a:xfrm>
            <a:off x="4368698" y="1783080"/>
            <a:ext cx="3454298" cy="1965960"/>
          </a:xfrm>
          <a:prstGeom prst="roundRect">
            <a:avLst>
              <a:gd name="adj" fmla="val 3721"/>
            </a:avLst>
          </a:prstGeom>
          <a:solidFill>
            <a:srgbClr val="0B2545"/>
          </a:solidFill>
          <a:ln/>
        </p:spPr>
      </p:sp>
      <p:pic>
        <p:nvPicPr>
          <p:cNvPr id="10" name="Image 1" descr="/home/claude/reactor_pptx/icons/layergroup_teal.png"/>
          <p:cNvPicPr>
            <a:picLocks noChangeAspect="1"/>
          </p:cNvPicPr>
          <p:nvPr/>
        </p:nvPicPr>
        <p:blipFill>
          <a:blip r:embed="rId4"/>
          <a:stretch>
            <a:fillRect/>
          </a:stretch>
        </p:blipFill>
        <p:spPr>
          <a:xfrm>
            <a:off x="4624730" y="2011680"/>
            <a:ext cx="310896" cy="310896"/>
          </a:xfrm>
          <a:prstGeom prst="rect">
            <a:avLst/>
          </a:prstGeom>
        </p:spPr>
      </p:pic>
      <p:sp>
        <p:nvSpPr>
          <p:cNvPr id="11" name="Text 7"/>
          <p:cNvSpPr/>
          <p:nvPr/>
        </p:nvSpPr>
        <p:spPr>
          <a:xfrm>
            <a:off x="4624730" y="2423160"/>
            <a:ext cx="2942234" cy="365760"/>
          </a:xfrm>
          <a:prstGeom prst="rect">
            <a:avLst/>
          </a:prstGeom>
          <a:noFill/>
          <a:ln/>
        </p:spPr>
        <p:txBody>
          <a:bodyPr wrap="square" lIns="0" tIns="0" rIns="0" bIns="0"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دو فازی</a:t>
            </a:r>
            <a:endParaRPr lang="en-US" sz="1500" dirty="0"/>
          </a:p>
        </p:txBody>
      </p:sp>
      <p:sp>
        <p:nvSpPr>
          <p:cNvPr id="12" name="Text 8"/>
          <p:cNvSpPr/>
          <p:nvPr/>
        </p:nvSpPr>
        <p:spPr>
          <a:xfrm>
            <a:off x="4624730" y="2788920"/>
            <a:ext cx="2942234" cy="914400"/>
          </a:xfrm>
          <a:prstGeom prst="rect">
            <a:avLst/>
          </a:prstGeom>
          <a:noFill/>
          <a:ln/>
        </p:spPr>
        <p:txBody>
          <a:bodyPr wrap="square" lIns="0" tIns="0" rIns="0" bIns="0" rtlCol="0" anchor="ctr"/>
          <a:lstStyle/>
          <a:p>
            <a:pPr marL="0" indent="0" algn="r">
              <a:lnSpc>
                <a:spcPct val="128000"/>
              </a:lnSpc>
              <a:buNone/>
            </a:pPr>
            <a:r>
              <a:rPr lang="en-US" sz="1080" dirty="0">
                <a:solidFill>
                  <a:srgbClr val="C7D9EE"/>
                </a:solidFill>
                <a:latin typeface="Calibri" pitchFamily="34" charset="0"/>
                <a:ea typeface="Calibri" pitchFamily="34" charset="-122"/>
                <a:cs typeface="Calibri" pitchFamily="34" charset="-120"/>
              </a:rPr>
              <a:t>گاز-مایع، گاز-جامد یا مایع-جامد؛ انتقال جرم بین‌فازی اغلب عامل محدودکننده است.</a:t>
            </a:r>
            <a:endParaRPr lang="en-US" sz="1080" dirty="0"/>
          </a:p>
        </p:txBody>
      </p:sp>
      <p:sp>
        <p:nvSpPr>
          <p:cNvPr id="13" name="Shape 9"/>
          <p:cNvSpPr/>
          <p:nvPr/>
        </p:nvSpPr>
        <p:spPr>
          <a:xfrm>
            <a:off x="640080" y="1783080"/>
            <a:ext cx="3454298" cy="1965960"/>
          </a:xfrm>
          <a:prstGeom prst="roundRect">
            <a:avLst>
              <a:gd name="adj" fmla="val 3721"/>
            </a:avLst>
          </a:prstGeom>
          <a:solidFill>
            <a:srgbClr val="0B2545"/>
          </a:solidFill>
          <a:ln/>
        </p:spPr>
      </p:sp>
      <p:pic>
        <p:nvPicPr>
          <p:cNvPr id="14" name="Image 2" descr="/home/claude/reactor_pptx/icons/cubes_teal.png"/>
          <p:cNvPicPr>
            <a:picLocks noChangeAspect="1"/>
          </p:cNvPicPr>
          <p:nvPr/>
        </p:nvPicPr>
        <p:blipFill>
          <a:blip r:embed="rId5"/>
          <a:stretch>
            <a:fillRect/>
          </a:stretch>
        </p:blipFill>
        <p:spPr>
          <a:xfrm>
            <a:off x="896112" y="2011680"/>
            <a:ext cx="310896" cy="310896"/>
          </a:xfrm>
          <a:prstGeom prst="rect">
            <a:avLst/>
          </a:prstGeom>
        </p:spPr>
      </p:pic>
      <p:sp>
        <p:nvSpPr>
          <p:cNvPr id="15" name="Text 10"/>
          <p:cNvSpPr/>
          <p:nvPr/>
        </p:nvSpPr>
        <p:spPr>
          <a:xfrm>
            <a:off x="896112" y="2423160"/>
            <a:ext cx="2942234" cy="365760"/>
          </a:xfrm>
          <a:prstGeom prst="rect">
            <a:avLst/>
          </a:prstGeom>
          <a:noFill/>
          <a:ln/>
        </p:spPr>
        <p:txBody>
          <a:bodyPr wrap="square" lIns="0" tIns="0" rIns="0" bIns="0"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سه فازی</a:t>
            </a:r>
            <a:endParaRPr lang="en-US" sz="1500" dirty="0"/>
          </a:p>
        </p:txBody>
      </p:sp>
      <p:sp>
        <p:nvSpPr>
          <p:cNvPr id="16" name="Text 11"/>
          <p:cNvSpPr/>
          <p:nvPr/>
        </p:nvSpPr>
        <p:spPr>
          <a:xfrm>
            <a:off x="896112" y="2788920"/>
            <a:ext cx="2942234" cy="914400"/>
          </a:xfrm>
          <a:prstGeom prst="rect">
            <a:avLst/>
          </a:prstGeom>
          <a:noFill/>
          <a:ln/>
        </p:spPr>
        <p:txBody>
          <a:bodyPr wrap="square" lIns="0" tIns="0" rIns="0" bIns="0" rtlCol="0" anchor="ctr"/>
          <a:lstStyle/>
          <a:p>
            <a:pPr marL="0" indent="0" algn="r">
              <a:lnSpc>
                <a:spcPct val="128000"/>
              </a:lnSpc>
              <a:buNone/>
            </a:pPr>
            <a:r>
              <a:rPr lang="en-US" sz="1080" dirty="0">
                <a:solidFill>
                  <a:srgbClr val="C7D9EE"/>
                </a:solidFill>
                <a:latin typeface="Calibri" pitchFamily="34" charset="0"/>
                <a:ea typeface="Calibri" pitchFamily="34" charset="-122"/>
                <a:cs typeface="Calibri" pitchFamily="34" charset="-120"/>
              </a:rPr>
              <a:t>حضور همزمان گاز، مایع و جامد (راکتور دوغابی)؛ پیچیده‌ترین حالت از منظر طراحی.</a:t>
            </a:r>
            <a:endParaRPr lang="en-US" sz="108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4023360"/>
          <a:ext cx="10911536" cy="1920240"/>
        </p:xfrm>
        <a:graphic>
          <a:graphicData uri="http://schemas.openxmlformats.org/drawingml/2006/table">
            <a:tbl>
              <a:tblPr/>
              <a:tblGrid>
                <a:gridCol w="2400538">
                  <a:extLst>
                    <a:ext uri="{9D8B030D-6E8A-4147-A177-3AD203B41FA5}">
                      <a16:colId xmlns:a16="http://schemas.microsoft.com/office/drawing/2014/main" val="20000"/>
                    </a:ext>
                  </a:extLst>
                </a:gridCol>
                <a:gridCol w="3273461">
                  <a:extLst>
                    <a:ext uri="{9D8B030D-6E8A-4147-A177-3AD203B41FA5}">
                      <a16:colId xmlns:a16="http://schemas.microsoft.com/office/drawing/2014/main" val="20001"/>
                    </a:ext>
                  </a:extLst>
                </a:gridCol>
                <a:gridCol w="3055230">
                  <a:extLst>
                    <a:ext uri="{9D8B030D-6E8A-4147-A177-3AD203B41FA5}">
                      <a16:colId xmlns:a16="http://schemas.microsoft.com/office/drawing/2014/main" val="20002"/>
                    </a:ext>
                  </a:extLst>
                </a:gridCol>
                <a:gridCol w="2182307">
                  <a:extLst>
                    <a:ext uri="{9D8B030D-6E8A-4147-A177-3AD203B41FA5}">
                      <a16:colId xmlns:a16="http://schemas.microsoft.com/office/drawing/2014/main" val="20003"/>
                    </a:ext>
                  </a:extLst>
                </a:gridCol>
              </a:tblGrid>
              <a:tr h="384048">
                <a:tc>
                  <a:txBody>
                    <a:bodyPr/>
                    <a:lstStyle/>
                    <a:p>
                      <a:pPr marL="0" indent="0" algn="ctr">
                        <a:buNone/>
                      </a:pPr>
                      <a:r>
                        <a:rPr lang="en-US" sz="1150" b="1" dirty="0">
                          <a:solidFill>
                            <a:srgbClr val="FFFFFF"/>
                          </a:solidFill>
                        </a:rPr>
                        <a:t>کاربرد نمونه</a:t>
                      </a:r>
                      <a:endParaRPr lang="en-US" sz="115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E7C7B"/>
                    </a:solidFill>
                  </a:tcPr>
                </a:tc>
                <a:tc>
                  <a:txBody>
                    <a:bodyPr/>
                    <a:lstStyle/>
                    <a:p>
                      <a:pPr marL="0" indent="0" algn="r">
                        <a:buNone/>
                      </a:pPr>
                      <a:r>
                        <a:rPr lang="en-US" sz="1150" b="1" dirty="0">
                          <a:solidFill>
                            <a:srgbClr val="FFFFFF"/>
                          </a:solidFill>
                        </a:rPr>
                        <a:t>محدودیت اصلی</a:t>
                      </a:r>
                      <a:endParaRPr lang="en-US" sz="115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E7C7B"/>
                    </a:solidFill>
                  </a:tcPr>
                </a:tc>
                <a:tc>
                  <a:txBody>
                    <a:bodyPr/>
                    <a:lstStyle/>
                    <a:p>
                      <a:pPr marL="0" indent="0" algn="r">
                        <a:buNone/>
                      </a:pPr>
                      <a:r>
                        <a:rPr lang="en-US" sz="1150" b="1" dirty="0">
                          <a:solidFill>
                            <a:srgbClr val="FFFFFF"/>
                          </a:solidFill>
                        </a:rPr>
                        <a:t>مزیت اصلی</a:t>
                      </a:r>
                      <a:endParaRPr lang="en-US" sz="115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E7C7B"/>
                    </a:solidFill>
                  </a:tcPr>
                </a:tc>
                <a:tc>
                  <a:txBody>
                    <a:bodyPr/>
                    <a:lstStyle/>
                    <a:p>
                      <a:pPr marL="0" indent="0" algn="r">
                        <a:buNone/>
                      </a:pPr>
                      <a:r>
                        <a:rPr lang="en-US" sz="1150" b="1" dirty="0">
                          <a:solidFill>
                            <a:srgbClr val="FFFFFF"/>
                          </a:solidFill>
                        </a:rPr>
                        <a:t>نوع راکتور</a:t>
                      </a:r>
                      <a:endParaRPr lang="en-US" sz="115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384048">
                <a:tc>
                  <a:txBody>
                    <a:bodyPr/>
                    <a:lstStyle/>
                    <a:p>
                      <a:pPr marL="0" indent="0" algn="ctr">
                        <a:buNone/>
                      </a:pPr>
                      <a:r>
                        <a:rPr lang="en-US" sz="1100" dirty="0">
                          <a:solidFill>
                            <a:srgbClr val="5C6B73"/>
                          </a:solidFill>
                        </a:rPr>
                        <a:t>داروسازی</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00" dirty="0">
                          <a:solidFill>
                            <a:srgbClr val="5C6B73"/>
                          </a:solidFill>
                        </a:rPr>
                        <a:t>زمان غیرمولد بالا</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00" dirty="0">
                          <a:solidFill>
                            <a:srgbClr val="5C6B73"/>
                          </a:solidFill>
                        </a:rPr>
                        <a:t>انعطاف‌پذیری بالا</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00" b="1" dirty="0">
                          <a:solidFill>
                            <a:srgbClr val="1A2433"/>
                          </a:solidFill>
                        </a:rPr>
                        <a:t>ناپیوسته</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extLst>
                  <a:ext uri="{0D108BD9-81ED-4DB2-BD59-A6C34878D82A}">
                    <a16:rowId xmlns:a16="http://schemas.microsoft.com/office/drawing/2014/main" val="10001"/>
                  </a:ext>
                </a:extLst>
              </a:tr>
              <a:tr h="384048">
                <a:tc>
                  <a:txBody>
                    <a:bodyPr/>
                    <a:lstStyle/>
                    <a:p>
                      <a:pPr marL="0" indent="0" algn="ctr">
                        <a:buNone/>
                      </a:pPr>
                      <a:r>
                        <a:rPr lang="en-US" sz="1100" dirty="0">
                          <a:solidFill>
                            <a:srgbClr val="5C6B73"/>
                          </a:solidFill>
                        </a:rPr>
                        <a:t>پتروشیمی</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100" dirty="0">
                          <a:solidFill>
                            <a:srgbClr val="5C6B73"/>
                          </a:solidFill>
                        </a:rPr>
                        <a:t>حجم بالا برای تبدیل زیاد</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100" dirty="0">
                          <a:solidFill>
                            <a:srgbClr val="5C6B73"/>
                          </a:solidFill>
                        </a:rPr>
                        <a:t>کنترل ساده دما</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A2433"/>
                          </a:solidFill>
                        </a:rPr>
                        <a:t>CSTR</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100" dirty="0">
                          <a:solidFill>
                            <a:srgbClr val="5C6B73"/>
                          </a:solidFill>
                        </a:rPr>
                        <a:t>کراکینگ</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00" dirty="0">
                          <a:solidFill>
                            <a:srgbClr val="5C6B73"/>
                          </a:solidFill>
                        </a:rPr>
                        <a:t>دشواری کنترل دمای محوری</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00" dirty="0">
                          <a:solidFill>
                            <a:srgbClr val="5C6B73"/>
                          </a:solidFill>
                        </a:rPr>
                        <a:t>حجم کمتر برای تبدیل بالا</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100" b="1" dirty="0">
                          <a:solidFill>
                            <a:srgbClr val="1A2433"/>
                          </a:solidFill>
                        </a:rPr>
                        <a:t>PFR</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extLst>
                  <a:ext uri="{0D108BD9-81ED-4DB2-BD59-A6C34878D82A}">
                    <a16:rowId xmlns:a16="http://schemas.microsoft.com/office/drawing/2014/main" val="10003"/>
                  </a:ext>
                </a:extLst>
              </a:tr>
              <a:tr h="384048">
                <a:tc>
                  <a:txBody>
                    <a:bodyPr/>
                    <a:lstStyle/>
                    <a:p>
                      <a:pPr marL="0" indent="0" algn="ctr">
                        <a:buNone/>
                      </a:pPr>
                      <a:r>
                        <a:rPr lang="en-US" sz="1100" dirty="0">
                          <a:solidFill>
                            <a:srgbClr val="5C6B73"/>
                          </a:solidFill>
                        </a:rPr>
                        <a:t>سنتز آمونیاک</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100" dirty="0">
                          <a:solidFill>
                            <a:srgbClr val="5C6B73"/>
                          </a:solidFill>
                        </a:rPr>
                        <a:t>هزینه سرمایه‌ای بالاتر</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100" dirty="0">
                          <a:solidFill>
                            <a:srgbClr val="5C6B73"/>
                          </a:solidFill>
                        </a:rPr>
                        <a:t>نزدیک‌شدن به رفتار PFR</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A2433"/>
                          </a:solidFill>
                        </a:rPr>
                        <a:t>چندمرحله‌ای</a:t>
                      </a:r>
                      <a:endParaRPr lang="en-US" sz="1100" dirty="0"/>
                    </a:p>
                  </a:txBody>
                  <a:tcPr marL="101600" marR="101600" marT="50800" marB="508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8" name="Text 12"/>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14</a:t>
            </a:r>
            <a:endParaRPr lang="en-US" sz="1000" dirty="0"/>
          </a:p>
        </p:txBody>
      </p:sp>
      <p:sp>
        <p:nvSpPr>
          <p:cNvPr id="19" name="Text 13"/>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144000" y="-1645920"/>
            <a:ext cx="5029200" cy="5029200"/>
          </a:xfrm>
          <a:prstGeom prst="ellipse">
            <a:avLst/>
          </a:prstGeom>
          <a:solidFill>
            <a:srgbClr val="112C52"/>
          </a:solidFill>
          <a:ln/>
        </p:spPr>
      </p:sp>
      <p:sp>
        <p:nvSpPr>
          <p:cNvPr id="3" name="Shape 1"/>
          <p:cNvSpPr/>
          <p:nvPr/>
        </p:nvSpPr>
        <p:spPr>
          <a:xfrm>
            <a:off x="-1828800" y="4572000"/>
            <a:ext cx="3657600" cy="3657600"/>
          </a:xfrm>
          <a:prstGeom prst="ellipse">
            <a:avLst/>
          </a:prstGeom>
          <a:solidFill>
            <a:srgbClr val="16396B"/>
          </a:solidFill>
          <a:ln/>
        </p:spPr>
      </p:sp>
      <p:sp>
        <p:nvSpPr>
          <p:cNvPr id="4" name="Text 2"/>
          <p:cNvSpPr/>
          <p:nvPr/>
        </p:nvSpPr>
        <p:spPr>
          <a:xfrm>
            <a:off x="822960" y="2011680"/>
            <a:ext cx="5486400" cy="457200"/>
          </a:xfrm>
          <a:prstGeom prst="rect">
            <a:avLst/>
          </a:prstGeom>
          <a:noFill/>
          <a:ln/>
        </p:spPr>
        <p:txBody>
          <a:bodyPr wrap="square" lIns="0" tIns="0" rIns="0" bIns="0" rtlCol="0" anchor="ctr"/>
          <a:lstStyle/>
          <a:p>
            <a:pPr marL="0" indent="0" algn="r">
              <a:buNone/>
            </a:pPr>
            <a:r>
              <a:rPr lang="en-US" sz="1600" b="1" kern="0" spc="100" dirty="0">
                <a:solidFill>
                  <a:srgbClr val="D98E3F"/>
                </a:solidFill>
                <a:latin typeface="Calibri" pitchFamily="34" charset="0"/>
                <a:ea typeface="Calibri" pitchFamily="34" charset="-122"/>
                <a:cs typeface="Calibri" pitchFamily="34" charset="-120"/>
              </a:rPr>
              <a:t>فصل چهارم</a:t>
            </a:r>
            <a:endParaRPr lang="en-US" sz="1600" dirty="0"/>
          </a:p>
        </p:txBody>
      </p:sp>
      <p:sp>
        <p:nvSpPr>
          <p:cNvPr id="5" name="Text 3"/>
          <p:cNvSpPr/>
          <p:nvPr/>
        </p:nvSpPr>
        <p:spPr>
          <a:xfrm>
            <a:off x="822960" y="2468880"/>
            <a:ext cx="9875520" cy="1097280"/>
          </a:xfrm>
          <a:prstGeom prst="rect">
            <a:avLst/>
          </a:prstGeom>
          <a:noFill/>
          <a:ln/>
        </p:spPr>
        <p:txBody>
          <a:bodyPr wrap="square" lIns="0" tIns="0" rIns="0" bIns="0" rtlCol="0" anchor="ctr"/>
          <a:lstStyle/>
          <a:p>
            <a:pPr marL="0" indent="0" algn="r">
              <a:buNone/>
            </a:pPr>
            <a:r>
              <a:rPr lang="en-US" sz="3800" b="1" dirty="0">
                <a:solidFill>
                  <a:srgbClr val="FFFFFF"/>
                </a:solidFill>
                <a:latin typeface="Calibri" pitchFamily="34" charset="0"/>
                <a:ea typeface="Calibri" pitchFamily="34" charset="-122"/>
                <a:cs typeface="Calibri" pitchFamily="34" charset="-120"/>
              </a:rPr>
              <a:t>راکتورهای کاتالیستی</a:t>
            </a:r>
            <a:endParaRPr lang="en-US" sz="3800" dirty="0"/>
          </a:p>
        </p:txBody>
      </p:sp>
      <p:sp>
        <p:nvSpPr>
          <p:cNvPr id="6" name="Text 4"/>
          <p:cNvSpPr/>
          <p:nvPr/>
        </p:nvSpPr>
        <p:spPr>
          <a:xfrm>
            <a:off x="822960" y="3429000"/>
            <a:ext cx="8686800" cy="548640"/>
          </a:xfrm>
          <a:prstGeom prst="rect">
            <a:avLst/>
          </a:prstGeom>
          <a:noFill/>
          <a:ln/>
        </p:spPr>
        <p:txBody>
          <a:bodyPr wrap="square" lIns="0" tIns="0" rIns="0" bIns="0" rtlCol="0" anchor="ctr"/>
          <a:lstStyle/>
          <a:p>
            <a:pPr marL="0" indent="0" algn="r">
              <a:buNone/>
            </a:pPr>
            <a:r>
              <a:rPr lang="en-US" sz="1600" dirty="0">
                <a:solidFill>
                  <a:srgbClr val="C7D9EE"/>
                </a:solidFill>
                <a:latin typeface="Calibri" pitchFamily="34" charset="0"/>
                <a:ea typeface="Calibri" pitchFamily="34" charset="-122"/>
                <a:cs typeface="Calibri" pitchFamily="34" charset="-120"/>
              </a:rPr>
              <a:t>بستر ثابت، بستر سیال، بستر متحرک و دوغابی</a:t>
            </a:r>
            <a:endParaRPr lang="en-US" sz="1600" dirty="0"/>
          </a:p>
        </p:txBody>
      </p:sp>
      <p:pic>
        <p:nvPicPr>
          <p:cNvPr id="7" name="Image 0" descr="/home/claude/reactor_pptx/icons/atom_teal.png"/>
          <p:cNvPicPr>
            <a:picLocks noChangeAspect="1"/>
          </p:cNvPicPr>
          <p:nvPr/>
        </p:nvPicPr>
        <p:blipFill>
          <a:blip r:embed="rId3"/>
          <a:stretch>
            <a:fillRect/>
          </a:stretch>
        </p:blipFill>
        <p:spPr>
          <a:xfrm>
            <a:off x="9814255" y="4297680"/>
            <a:ext cx="1188720" cy="1188720"/>
          </a:xfrm>
          <a:prstGeom prst="rect">
            <a:avLst/>
          </a:prstGeom>
        </p:spPr>
      </p:pic>
      <p:sp>
        <p:nvSpPr>
          <p:cNvPr id="8" name="Text 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8096B0"/>
                </a:solidFill>
                <a:latin typeface="Calibri" pitchFamily="34" charset="0"/>
                <a:ea typeface="Calibri" pitchFamily="34" charset="-122"/>
                <a:cs typeface="Calibri" pitchFamily="34" charset="-120"/>
              </a:rPr>
              <a:t>15</a:t>
            </a:r>
            <a:endParaRPr lang="en-US" sz="1000" dirty="0"/>
          </a:p>
        </p:txBody>
      </p:sp>
      <p:sp>
        <p:nvSpPr>
          <p:cNvPr id="9" name="Text 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8096B0"/>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28016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۴-۱ و ۴-۲</a:t>
            </a:r>
            <a:endParaRPr lang="en-US" sz="1600" dirty="0"/>
          </a:p>
        </p:txBody>
      </p:sp>
      <p:sp>
        <p:nvSpPr>
          <p:cNvPr id="3" name="Text 1"/>
          <p:cNvSpPr/>
          <p:nvPr/>
        </p:nvSpPr>
        <p:spPr>
          <a:xfrm>
            <a:off x="1645920" y="502920"/>
            <a:ext cx="990569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نقش کاتالیست در صنعت</a:t>
            </a:r>
            <a:endParaRPr lang="en-US" sz="1300" dirty="0"/>
          </a:p>
        </p:txBody>
      </p:sp>
      <p:sp>
        <p:nvSpPr>
          <p:cNvPr id="4" name="Text 2"/>
          <p:cNvSpPr/>
          <p:nvPr/>
        </p:nvSpPr>
        <p:spPr>
          <a:xfrm>
            <a:off x="1645920" y="841248"/>
            <a:ext cx="990569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موتور پنهان بیش از نیمی از صنایع شیمیایی</a:t>
            </a:r>
            <a:endParaRPr lang="en-US" sz="2800" dirty="0"/>
          </a:p>
        </p:txBody>
      </p:sp>
      <p:sp>
        <p:nvSpPr>
          <p:cNvPr id="5" name="Text 3"/>
          <p:cNvSpPr/>
          <p:nvPr/>
        </p:nvSpPr>
        <p:spPr>
          <a:xfrm>
            <a:off x="640080" y="1737360"/>
            <a:ext cx="10911535" cy="914400"/>
          </a:xfrm>
          <a:prstGeom prst="rect">
            <a:avLst/>
          </a:prstGeom>
          <a:noFill/>
          <a:ln/>
        </p:spPr>
        <p:txBody>
          <a:bodyPr wrap="square" lIns="0" tIns="0" rIns="0" bIns="0" rtlCol="0" anchor="ctr"/>
          <a:lstStyle/>
          <a:p>
            <a:pPr marL="0" indent="0" algn="r">
              <a:lnSpc>
                <a:spcPct val="135000"/>
              </a:lnSpc>
              <a:buNone/>
            </a:pPr>
            <a:r>
              <a:rPr lang="en-US" sz="1400" dirty="0">
                <a:solidFill>
                  <a:srgbClr val="5C6B73"/>
                </a:solidFill>
                <a:latin typeface="Calibri" pitchFamily="34" charset="0"/>
                <a:ea typeface="Calibri" pitchFamily="34" charset="-122"/>
                <a:cs typeface="Calibri" pitchFamily="34" charset="-120"/>
              </a:rPr>
              <a:t>کاتالیست ماده‌ای است که سرعت واکنش را افزایش می‌دهد بدون آنکه خود مصرف شود؛ با فراهم‌آوردن مسیر واکنشی جایگزین با انرژی فعال‌سازی کمتر، نرخ واکنش بالاتر در دمای پایین‌تر را ممکن می‌سازد — بدون تغییر ترمودینامیک واکنش.</a:t>
            </a:r>
            <a:endParaRPr lang="en-US" sz="1400" dirty="0"/>
          </a:p>
        </p:txBody>
      </p:sp>
      <p:sp>
        <p:nvSpPr>
          <p:cNvPr id="6" name="Shape 4"/>
          <p:cNvSpPr/>
          <p:nvPr/>
        </p:nvSpPr>
        <p:spPr>
          <a:xfrm>
            <a:off x="8097317" y="2880360"/>
            <a:ext cx="3454298" cy="1691640"/>
          </a:xfrm>
          <a:prstGeom prst="roundRect">
            <a:avLst>
              <a:gd name="adj" fmla="val 4324"/>
            </a:avLst>
          </a:prstGeom>
          <a:solidFill>
            <a:srgbClr val="F7F9FA"/>
          </a:solidFill>
          <a:ln/>
        </p:spPr>
      </p:sp>
      <p:pic>
        <p:nvPicPr>
          <p:cNvPr id="7" name="Image 0" descr="/home/claude/reactor_pptx/icons/fire_teal.png"/>
          <p:cNvPicPr>
            <a:picLocks noChangeAspect="1"/>
          </p:cNvPicPr>
          <p:nvPr/>
        </p:nvPicPr>
        <p:blipFill>
          <a:blip r:embed="rId3"/>
          <a:stretch>
            <a:fillRect/>
          </a:stretch>
        </p:blipFill>
        <p:spPr>
          <a:xfrm>
            <a:off x="8325917" y="3090672"/>
            <a:ext cx="292608" cy="292608"/>
          </a:xfrm>
          <a:prstGeom prst="rect">
            <a:avLst/>
          </a:prstGeom>
        </p:spPr>
      </p:pic>
      <p:sp>
        <p:nvSpPr>
          <p:cNvPr id="8" name="Text 5"/>
          <p:cNvSpPr/>
          <p:nvPr/>
        </p:nvSpPr>
        <p:spPr>
          <a:xfrm>
            <a:off x="8325917" y="3456432"/>
            <a:ext cx="2997098" cy="320040"/>
          </a:xfrm>
          <a:prstGeom prst="rect">
            <a:avLst/>
          </a:prstGeom>
          <a:noFill/>
          <a:ln/>
        </p:spPr>
        <p:txBody>
          <a:bodyPr wrap="square" lIns="0" tIns="0" rIns="0" bIns="0" rtlCol="0" anchor="ctr"/>
          <a:lstStyle/>
          <a:p>
            <a:pPr marL="0" indent="0" algn="r">
              <a:buNone/>
            </a:pPr>
            <a:r>
              <a:rPr lang="en-US" sz="1250" b="1" dirty="0">
                <a:solidFill>
                  <a:srgbClr val="1A2433"/>
                </a:solidFill>
                <a:latin typeface="Calibri" pitchFamily="34" charset="0"/>
                <a:ea typeface="Calibri" pitchFamily="34" charset="-122"/>
                <a:cs typeface="Calibri" pitchFamily="34" charset="-120"/>
              </a:rPr>
              <a:t>کاهش انرژی فعال‌سازی</a:t>
            </a:r>
            <a:endParaRPr lang="en-US" sz="1250" dirty="0"/>
          </a:p>
        </p:txBody>
      </p:sp>
      <p:sp>
        <p:nvSpPr>
          <p:cNvPr id="9" name="Text 6"/>
          <p:cNvSpPr/>
          <p:nvPr/>
        </p:nvSpPr>
        <p:spPr>
          <a:xfrm>
            <a:off x="8325917" y="3767328"/>
            <a:ext cx="2997098" cy="777240"/>
          </a:xfrm>
          <a:prstGeom prst="rect">
            <a:avLst/>
          </a:prstGeom>
          <a:noFill/>
          <a:ln/>
        </p:spPr>
        <p:txBody>
          <a:bodyPr wrap="square" lIns="0" tIns="0" rIns="0" bIns="0" rtlCol="0" anchor="ctr"/>
          <a:lstStyle/>
          <a:p>
            <a:pPr marL="0" indent="0" algn="r">
              <a:lnSpc>
                <a:spcPct val="125000"/>
              </a:lnSpc>
              <a:buNone/>
            </a:pPr>
            <a:r>
              <a:rPr lang="en-US" sz="1030" dirty="0">
                <a:solidFill>
                  <a:srgbClr val="5C6B73"/>
                </a:solidFill>
                <a:latin typeface="Calibri" pitchFamily="34" charset="0"/>
                <a:ea typeface="Calibri" pitchFamily="34" charset="-122"/>
                <a:cs typeface="Calibri" pitchFamily="34" charset="-120"/>
              </a:rPr>
              <a:t>امکان انجام فرآیند در دما و فشار پایین‌تر و کاهش مصرف انرژی</a:t>
            </a:r>
            <a:endParaRPr lang="en-US" sz="1030" dirty="0"/>
          </a:p>
        </p:txBody>
      </p:sp>
      <p:sp>
        <p:nvSpPr>
          <p:cNvPr id="10" name="Shape 7"/>
          <p:cNvSpPr/>
          <p:nvPr/>
        </p:nvSpPr>
        <p:spPr>
          <a:xfrm>
            <a:off x="4368698" y="2880360"/>
            <a:ext cx="3454298" cy="1691640"/>
          </a:xfrm>
          <a:prstGeom prst="roundRect">
            <a:avLst>
              <a:gd name="adj" fmla="val 4324"/>
            </a:avLst>
          </a:prstGeom>
          <a:solidFill>
            <a:srgbClr val="F7F9FA"/>
          </a:solidFill>
          <a:ln/>
        </p:spPr>
      </p:sp>
      <p:pic>
        <p:nvPicPr>
          <p:cNvPr id="11" name="Image 1" descr="/home/claude/reactor_pptx/icons/checkcircle_teal.png"/>
          <p:cNvPicPr>
            <a:picLocks noChangeAspect="1"/>
          </p:cNvPicPr>
          <p:nvPr/>
        </p:nvPicPr>
        <p:blipFill>
          <a:blip r:embed="rId4"/>
          <a:stretch>
            <a:fillRect/>
          </a:stretch>
        </p:blipFill>
        <p:spPr>
          <a:xfrm>
            <a:off x="4597298" y="3090672"/>
            <a:ext cx="292608" cy="292608"/>
          </a:xfrm>
          <a:prstGeom prst="rect">
            <a:avLst/>
          </a:prstGeom>
        </p:spPr>
      </p:pic>
      <p:sp>
        <p:nvSpPr>
          <p:cNvPr id="12" name="Text 8"/>
          <p:cNvSpPr/>
          <p:nvPr/>
        </p:nvSpPr>
        <p:spPr>
          <a:xfrm>
            <a:off x="4597298" y="3456432"/>
            <a:ext cx="2997098" cy="320040"/>
          </a:xfrm>
          <a:prstGeom prst="rect">
            <a:avLst/>
          </a:prstGeom>
          <a:noFill/>
          <a:ln/>
        </p:spPr>
        <p:txBody>
          <a:bodyPr wrap="square" lIns="0" tIns="0" rIns="0" bIns="0" rtlCol="0" anchor="ctr"/>
          <a:lstStyle/>
          <a:p>
            <a:pPr marL="0" indent="0" algn="r">
              <a:buNone/>
            </a:pPr>
            <a:r>
              <a:rPr lang="en-US" sz="1250" b="1" dirty="0">
                <a:solidFill>
                  <a:srgbClr val="1A2433"/>
                </a:solidFill>
                <a:latin typeface="Calibri" pitchFamily="34" charset="0"/>
                <a:ea typeface="Calibri" pitchFamily="34" charset="-122"/>
                <a:cs typeface="Calibri" pitchFamily="34" charset="-120"/>
              </a:rPr>
              <a:t>افزایش گزینش‌پذیری</a:t>
            </a:r>
            <a:endParaRPr lang="en-US" sz="1250" dirty="0"/>
          </a:p>
        </p:txBody>
      </p:sp>
      <p:sp>
        <p:nvSpPr>
          <p:cNvPr id="13" name="Text 9"/>
          <p:cNvSpPr/>
          <p:nvPr/>
        </p:nvSpPr>
        <p:spPr>
          <a:xfrm>
            <a:off x="4597298" y="3767328"/>
            <a:ext cx="2997098" cy="777240"/>
          </a:xfrm>
          <a:prstGeom prst="rect">
            <a:avLst/>
          </a:prstGeom>
          <a:noFill/>
          <a:ln/>
        </p:spPr>
        <p:txBody>
          <a:bodyPr wrap="square" lIns="0" tIns="0" rIns="0" bIns="0" rtlCol="0" anchor="ctr"/>
          <a:lstStyle/>
          <a:p>
            <a:pPr marL="0" indent="0" algn="r">
              <a:lnSpc>
                <a:spcPct val="125000"/>
              </a:lnSpc>
              <a:buNone/>
            </a:pPr>
            <a:r>
              <a:rPr lang="en-US" sz="1030" dirty="0">
                <a:solidFill>
                  <a:srgbClr val="5C6B73"/>
                </a:solidFill>
                <a:latin typeface="Calibri" pitchFamily="34" charset="0"/>
                <a:ea typeface="Calibri" pitchFamily="34" charset="-122"/>
                <a:cs typeface="Calibri" pitchFamily="34" charset="-120"/>
              </a:rPr>
              <a:t>هدایت واکنش به‌سمت محصول مطلوب و کاهش محصولات جانبی</a:t>
            </a:r>
            <a:endParaRPr lang="en-US" sz="1030" dirty="0"/>
          </a:p>
        </p:txBody>
      </p:sp>
      <p:sp>
        <p:nvSpPr>
          <p:cNvPr id="14" name="Shape 10"/>
          <p:cNvSpPr/>
          <p:nvPr/>
        </p:nvSpPr>
        <p:spPr>
          <a:xfrm>
            <a:off x="640080" y="2880360"/>
            <a:ext cx="3454298" cy="1691640"/>
          </a:xfrm>
          <a:prstGeom prst="roundRect">
            <a:avLst>
              <a:gd name="adj" fmla="val 4324"/>
            </a:avLst>
          </a:prstGeom>
          <a:solidFill>
            <a:srgbClr val="F7F9FA"/>
          </a:solidFill>
          <a:ln/>
        </p:spPr>
      </p:sp>
      <p:pic>
        <p:nvPicPr>
          <p:cNvPr id="15" name="Image 2" descr="/home/claude/reactor_pptx/icons/diagram_teal.png"/>
          <p:cNvPicPr>
            <a:picLocks noChangeAspect="1"/>
          </p:cNvPicPr>
          <p:nvPr/>
        </p:nvPicPr>
        <p:blipFill>
          <a:blip r:embed="rId5"/>
          <a:stretch>
            <a:fillRect/>
          </a:stretch>
        </p:blipFill>
        <p:spPr>
          <a:xfrm>
            <a:off x="868680" y="3090672"/>
            <a:ext cx="292608" cy="292608"/>
          </a:xfrm>
          <a:prstGeom prst="rect">
            <a:avLst/>
          </a:prstGeom>
        </p:spPr>
      </p:pic>
      <p:sp>
        <p:nvSpPr>
          <p:cNvPr id="16" name="Text 11"/>
          <p:cNvSpPr/>
          <p:nvPr/>
        </p:nvSpPr>
        <p:spPr>
          <a:xfrm>
            <a:off x="868680" y="3456432"/>
            <a:ext cx="2997098" cy="320040"/>
          </a:xfrm>
          <a:prstGeom prst="rect">
            <a:avLst/>
          </a:prstGeom>
          <a:noFill/>
          <a:ln/>
        </p:spPr>
        <p:txBody>
          <a:bodyPr wrap="square" lIns="0" tIns="0" rIns="0" bIns="0" rtlCol="0" anchor="ctr"/>
          <a:lstStyle/>
          <a:p>
            <a:pPr marL="0" indent="0" algn="r">
              <a:buNone/>
            </a:pPr>
            <a:r>
              <a:rPr lang="en-US" sz="1250" b="1" dirty="0">
                <a:solidFill>
                  <a:srgbClr val="1A2433"/>
                </a:solidFill>
                <a:latin typeface="Calibri" pitchFamily="34" charset="0"/>
                <a:ea typeface="Calibri" pitchFamily="34" charset="-122"/>
                <a:cs typeface="Calibri" pitchFamily="34" charset="-120"/>
              </a:rPr>
              <a:t>گشایش مسیرهای جدید</a:t>
            </a:r>
            <a:endParaRPr lang="en-US" sz="1250" dirty="0"/>
          </a:p>
        </p:txBody>
      </p:sp>
      <p:sp>
        <p:nvSpPr>
          <p:cNvPr id="17" name="Text 12"/>
          <p:cNvSpPr/>
          <p:nvPr/>
        </p:nvSpPr>
        <p:spPr>
          <a:xfrm>
            <a:off x="868680" y="3767328"/>
            <a:ext cx="2997098" cy="777240"/>
          </a:xfrm>
          <a:prstGeom prst="rect">
            <a:avLst/>
          </a:prstGeom>
          <a:noFill/>
          <a:ln/>
        </p:spPr>
        <p:txBody>
          <a:bodyPr wrap="square" lIns="0" tIns="0" rIns="0" bIns="0" rtlCol="0" anchor="ctr"/>
          <a:lstStyle/>
          <a:p>
            <a:pPr marL="0" indent="0" algn="r">
              <a:lnSpc>
                <a:spcPct val="125000"/>
              </a:lnSpc>
              <a:buNone/>
            </a:pPr>
            <a:r>
              <a:rPr lang="en-US" sz="1030" dirty="0">
                <a:solidFill>
                  <a:srgbClr val="5C6B73"/>
                </a:solidFill>
                <a:latin typeface="Calibri" pitchFamily="34" charset="0"/>
                <a:ea typeface="Calibri" pitchFamily="34" charset="-122"/>
                <a:cs typeface="Calibri" pitchFamily="34" charset="-120"/>
              </a:rPr>
              <a:t>امکان‌پذیرسازی واکنش‌هایی که بدون کاتالیست عملاً غیرممکن‌اند</a:t>
            </a:r>
            <a:endParaRPr lang="en-US" sz="1030" dirty="0"/>
          </a:p>
        </p:txBody>
      </p:sp>
      <p:sp>
        <p:nvSpPr>
          <p:cNvPr id="18" name="Text 13"/>
          <p:cNvSpPr/>
          <p:nvPr/>
        </p:nvSpPr>
        <p:spPr>
          <a:xfrm>
            <a:off x="640080" y="4892040"/>
            <a:ext cx="10911535" cy="457200"/>
          </a:xfrm>
          <a:prstGeom prst="rect">
            <a:avLst/>
          </a:prstGeom>
          <a:noFill/>
          <a:ln/>
        </p:spPr>
        <p:txBody>
          <a:bodyPr wrap="square" lIns="0" tIns="0" rIns="0" bIns="0" rtlCol="0" anchor="ctr"/>
          <a:lstStyle/>
          <a:p>
            <a:pPr marL="0" indent="0" algn="r">
              <a:buNone/>
            </a:pPr>
            <a:r>
              <a:rPr lang="en-US" sz="1200" i="1" dirty="0">
                <a:solidFill>
                  <a:srgbClr val="D98E3F"/>
                </a:solidFill>
                <a:latin typeface="Calibri" pitchFamily="34" charset="0"/>
                <a:ea typeface="Calibri" pitchFamily="34" charset="-122"/>
                <a:cs typeface="Calibri" pitchFamily="34" charset="-120"/>
              </a:rPr>
              <a:t>نمونه‌های صنعتی: سنتز آمونیاک با کاتالیست آهن  ·  تولید اسید سولفوریک با وانادیوم پنتاکسید  ·  پالایش نفت با کاتالیست‌های زئولیتی</a:t>
            </a:r>
            <a:endParaRPr lang="en-US" sz="1200" dirty="0"/>
          </a:p>
        </p:txBody>
      </p:sp>
      <p:sp>
        <p:nvSpPr>
          <p:cNvPr id="19" name="Text 14"/>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16</a:t>
            </a:r>
            <a:endParaRPr lang="en-US" sz="1000" dirty="0"/>
          </a:p>
        </p:txBody>
      </p:sp>
      <p:sp>
        <p:nvSpPr>
          <p:cNvPr id="20" name="Text 15"/>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64592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۴-۳ تا ۴-۶</a:t>
            </a:r>
            <a:endParaRPr lang="en-US" sz="1600" dirty="0"/>
          </a:p>
        </p:txBody>
      </p:sp>
      <p:sp>
        <p:nvSpPr>
          <p:cNvPr id="3" name="Text 1"/>
          <p:cNvSpPr/>
          <p:nvPr/>
        </p:nvSpPr>
        <p:spPr>
          <a:xfrm>
            <a:off x="1554480" y="502920"/>
            <a:ext cx="999713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چهار پیکربندی اصلی</a:t>
            </a:r>
            <a:endParaRPr lang="en-US" sz="1300" dirty="0"/>
          </a:p>
        </p:txBody>
      </p:sp>
      <p:sp>
        <p:nvSpPr>
          <p:cNvPr id="4" name="Text 2"/>
          <p:cNvSpPr/>
          <p:nvPr/>
        </p:nvSpPr>
        <p:spPr>
          <a:xfrm>
            <a:off x="1554480" y="841248"/>
            <a:ext cx="999713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بستر ثابت، سیال، متحرک و دوغابی</a:t>
            </a:r>
            <a:endParaRPr lang="en-US" sz="2800" dirty="0"/>
          </a:p>
        </p:txBody>
      </p:sp>
      <p:sp>
        <p:nvSpPr>
          <p:cNvPr id="5" name="Shape 3"/>
          <p:cNvSpPr/>
          <p:nvPr/>
        </p:nvSpPr>
        <p:spPr>
          <a:xfrm>
            <a:off x="6233008" y="1783080"/>
            <a:ext cx="5318608" cy="1965960"/>
          </a:xfrm>
          <a:prstGeom prst="roundRect">
            <a:avLst>
              <a:gd name="adj" fmla="val 3721"/>
            </a:avLst>
          </a:prstGeom>
          <a:solidFill>
            <a:srgbClr val="F7F9FA"/>
          </a:solidFill>
          <a:ln/>
        </p:spPr>
      </p:sp>
      <p:sp>
        <p:nvSpPr>
          <p:cNvPr id="6" name="Shape 4"/>
          <p:cNvSpPr/>
          <p:nvPr/>
        </p:nvSpPr>
        <p:spPr>
          <a:xfrm>
            <a:off x="10838383" y="1984248"/>
            <a:ext cx="457200" cy="457200"/>
          </a:xfrm>
          <a:prstGeom prst="ellipse">
            <a:avLst/>
          </a:prstGeom>
          <a:solidFill>
            <a:srgbClr val="0B2545"/>
          </a:solidFill>
          <a:ln/>
        </p:spPr>
      </p:sp>
      <p:pic>
        <p:nvPicPr>
          <p:cNvPr id="7" name="Image 0" descr="/home/claude/reactor_pptx/icons/vial_teal.png"/>
          <p:cNvPicPr>
            <a:picLocks noChangeAspect="1"/>
          </p:cNvPicPr>
          <p:nvPr/>
        </p:nvPicPr>
        <p:blipFill>
          <a:blip r:embed="rId3"/>
          <a:stretch>
            <a:fillRect/>
          </a:stretch>
        </p:blipFill>
        <p:spPr>
          <a:xfrm>
            <a:off x="10943539" y="2089404"/>
            <a:ext cx="246888" cy="246888"/>
          </a:xfrm>
          <a:prstGeom prst="rect">
            <a:avLst/>
          </a:prstGeom>
        </p:spPr>
      </p:pic>
      <p:sp>
        <p:nvSpPr>
          <p:cNvPr id="8" name="Text 5"/>
          <p:cNvSpPr/>
          <p:nvPr/>
        </p:nvSpPr>
        <p:spPr>
          <a:xfrm>
            <a:off x="6461608" y="1947672"/>
            <a:ext cx="4312768" cy="320040"/>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بستر ثابت</a:t>
            </a:r>
            <a:endParaRPr lang="en-US" sz="1450" dirty="0"/>
          </a:p>
        </p:txBody>
      </p:sp>
      <p:sp>
        <p:nvSpPr>
          <p:cNvPr id="9" name="Text 6"/>
          <p:cNvSpPr/>
          <p:nvPr/>
        </p:nvSpPr>
        <p:spPr>
          <a:xfrm>
            <a:off x="6461608" y="2240280"/>
            <a:ext cx="4312768" cy="228600"/>
          </a:xfrm>
          <a:prstGeom prst="rect">
            <a:avLst/>
          </a:prstGeom>
          <a:noFill/>
          <a:ln/>
        </p:spPr>
        <p:txBody>
          <a:bodyPr wrap="square" lIns="0" tIns="0" rIns="0" bIns="0" rtlCol="0" anchor="ctr"/>
          <a:lstStyle/>
          <a:p>
            <a:pPr marL="0" indent="0" algn="r">
              <a:buNone/>
            </a:pPr>
            <a:r>
              <a:rPr lang="en-US" sz="950" dirty="0">
                <a:solidFill>
                  <a:srgbClr val="0E7C7B"/>
                </a:solidFill>
                <a:latin typeface="Calibri" pitchFamily="34" charset="0"/>
                <a:ea typeface="Calibri" pitchFamily="34" charset="-122"/>
                <a:cs typeface="Calibri" pitchFamily="34" charset="-120"/>
              </a:rPr>
              <a:t>Fixed Bed</a:t>
            </a:r>
            <a:endParaRPr lang="en-US" sz="950" dirty="0"/>
          </a:p>
        </p:txBody>
      </p:sp>
      <p:sp>
        <p:nvSpPr>
          <p:cNvPr id="10" name="Text 7"/>
          <p:cNvSpPr/>
          <p:nvPr/>
        </p:nvSpPr>
        <p:spPr>
          <a:xfrm>
            <a:off x="6461608" y="2514600"/>
            <a:ext cx="4861408" cy="502920"/>
          </a:xfrm>
          <a:prstGeom prst="rect">
            <a:avLst/>
          </a:prstGeom>
          <a:noFill/>
          <a:ln/>
        </p:spPr>
        <p:txBody>
          <a:bodyPr wrap="square" lIns="0" tIns="0" rIns="0" bIns="0" rtlCol="0" anchor="ctr"/>
          <a:lstStyle/>
          <a:p>
            <a:pPr marL="0" indent="0" algn="r">
              <a:lnSpc>
                <a:spcPct val="120000"/>
              </a:lnSpc>
              <a:buNone/>
            </a:pPr>
            <a:r>
              <a:rPr lang="en-US" sz="1020" dirty="0">
                <a:solidFill>
                  <a:srgbClr val="5C6B73"/>
                </a:solidFill>
                <a:latin typeface="Calibri" pitchFamily="34" charset="0"/>
                <a:ea typeface="Calibri" pitchFamily="34" charset="-122"/>
                <a:cs typeface="Calibri" pitchFamily="34" charset="-120"/>
              </a:rPr>
              <a:t>ذرات کاتالیست ثابت در محفظه؛ سیال از فضای خالی بین ذرات عبور می‌کند.</a:t>
            </a:r>
            <a:endParaRPr lang="en-US" sz="1020" dirty="0"/>
          </a:p>
        </p:txBody>
      </p:sp>
      <p:sp>
        <p:nvSpPr>
          <p:cNvPr id="11" name="Text 8"/>
          <p:cNvSpPr/>
          <p:nvPr/>
        </p:nvSpPr>
        <p:spPr>
          <a:xfrm>
            <a:off x="6461608" y="3044952"/>
            <a:ext cx="4861408" cy="274320"/>
          </a:xfrm>
          <a:prstGeom prst="rect">
            <a:avLst/>
          </a:prstGeom>
          <a:noFill/>
          <a:ln/>
        </p:spPr>
        <p:txBody>
          <a:bodyPr wrap="square" lIns="0" tIns="0" rIns="0" bIns="0" rtlCol="0" anchor="ctr"/>
          <a:lstStyle/>
          <a:p>
            <a:pPr marL="0" indent="0" algn="r">
              <a:buNone/>
            </a:pPr>
            <a:r>
              <a:rPr lang="en-US" sz="970" b="1" dirty="0">
                <a:solidFill>
                  <a:srgbClr val="0E7C7B"/>
                </a:solidFill>
                <a:latin typeface="Calibri" pitchFamily="34" charset="0"/>
                <a:ea typeface="Calibri" pitchFamily="34" charset="-122"/>
                <a:cs typeface="Calibri" pitchFamily="34" charset="-120"/>
              </a:rPr>
              <a:t>✓ </a:t>
            </a:r>
            <a:r>
              <a:rPr lang="en-US" sz="970" dirty="0">
                <a:solidFill>
                  <a:srgbClr val="5C6B73"/>
                </a:solidFill>
                <a:latin typeface="Calibri" pitchFamily="34" charset="0"/>
                <a:ea typeface="Calibri" pitchFamily="34" charset="-122"/>
                <a:cs typeface="Calibri" pitchFamily="34" charset="-120"/>
              </a:rPr>
              <a:t>سادگی مکانیکی، عدم نیاز به جداسازی</a:t>
            </a:r>
            <a:endParaRPr lang="en-US" sz="970" dirty="0"/>
          </a:p>
        </p:txBody>
      </p:sp>
      <p:sp>
        <p:nvSpPr>
          <p:cNvPr id="12" name="Text 9"/>
          <p:cNvSpPr/>
          <p:nvPr/>
        </p:nvSpPr>
        <p:spPr>
          <a:xfrm>
            <a:off x="6461608" y="3319272"/>
            <a:ext cx="4861408" cy="274320"/>
          </a:xfrm>
          <a:prstGeom prst="rect">
            <a:avLst/>
          </a:prstGeom>
          <a:noFill/>
          <a:ln/>
        </p:spPr>
        <p:txBody>
          <a:bodyPr wrap="square" lIns="0" tIns="0" rIns="0" bIns="0" rtlCol="0" anchor="ctr"/>
          <a:lstStyle/>
          <a:p>
            <a:pPr marL="0" indent="0" algn="r">
              <a:buNone/>
            </a:pPr>
            <a:r>
              <a:rPr lang="en-US" sz="970" b="1" dirty="0">
                <a:solidFill>
                  <a:srgbClr val="D98E3F"/>
                </a:solidFill>
                <a:latin typeface="Calibri" pitchFamily="34" charset="0"/>
                <a:ea typeface="Calibri" pitchFamily="34" charset="-122"/>
                <a:cs typeface="Calibri" pitchFamily="34" charset="-120"/>
              </a:rPr>
              <a:t>✕ </a:t>
            </a:r>
            <a:r>
              <a:rPr lang="en-US" sz="970" dirty="0">
                <a:solidFill>
                  <a:srgbClr val="5C6B73"/>
                </a:solidFill>
                <a:latin typeface="Calibri" pitchFamily="34" charset="0"/>
                <a:ea typeface="Calibri" pitchFamily="34" charset="-122"/>
                <a:cs typeface="Calibri" pitchFamily="34" charset="-120"/>
              </a:rPr>
              <a:t>افت فشار بالا، دشواری کنترل دما</a:t>
            </a:r>
            <a:endParaRPr lang="en-US" sz="970" dirty="0"/>
          </a:p>
        </p:txBody>
      </p:sp>
      <p:sp>
        <p:nvSpPr>
          <p:cNvPr id="13" name="Shape 10"/>
          <p:cNvSpPr/>
          <p:nvPr/>
        </p:nvSpPr>
        <p:spPr>
          <a:xfrm>
            <a:off x="640080" y="1783080"/>
            <a:ext cx="5318608" cy="1965960"/>
          </a:xfrm>
          <a:prstGeom prst="roundRect">
            <a:avLst>
              <a:gd name="adj" fmla="val 3721"/>
            </a:avLst>
          </a:prstGeom>
          <a:solidFill>
            <a:srgbClr val="F7F9FA"/>
          </a:solidFill>
          <a:ln/>
        </p:spPr>
      </p:sp>
      <p:sp>
        <p:nvSpPr>
          <p:cNvPr id="14" name="Shape 11"/>
          <p:cNvSpPr/>
          <p:nvPr/>
        </p:nvSpPr>
        <p:spPr>
          <a:xfrm>
            <a:off x="5245456" y="1984248"/>
            <a:ext cx="457200" cy="457200"/>
          </a:xfrm>
          <a:prstGeom prst="ellipse">
            <a:avLst/>
          </a:prstGeom>
          <a:solidFill>
            <a:srgbClr val="0B2545"/>
          </a:solidFill>
          <a:ln/>
        </p:spPr>
      </p:sp>
      <p:pic>
        <p:nvPicPr>
          <p:cNvPr id="15" name="Image 1" descr="/home/claude/reactor_pptx/icons/wind_teal.png"/>
          <p:cNvPicPr>
            <a:picLocks noChangeAspect="1"/>
          </p:cNvPicPr>
          <p:nvPr/>
        </p:nvPicPr>
        <p:blipFill>
          <a:blip r:embed="rId4"/>
          <a:stretch>
            <a:fillRect/>
          </a:stretch>
        </p:blipFill>
        <p:spPr>
          <a:xfrm>
            <a:off x="5350612" y="2089404"/>
            <a:ext cx="246888" cy="246888"/>
          </a:xfrm>
          <a:prstGeom prst="rect">
            <a:avLst/>
          </a:prstGeom>
        </p:spPr>
      </p:pic>
      <p:sp>
        <p:nvSpPr>
          <p:cNvPr id="16" name="Text 12"/>
          <p:cNvSpPr/>
          <p:nvPr/>
        </p:nvSpPr>
        <p:spPr>
          <a:xfrm>
            <a:off x="868680" y="1947672"/>
            <a:ext cx="4312768" cy="320040"/>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بستر سیال</a:t>
            </a:r>
            <a:endParaRPr lang="en-US" sz="1450" dirty="0"/>
          </a:p>
        </p:txBody>
      </p:sp>
      <p:sp>
        <p:nvSpPr>
          <p:cNvPr id="17" name="Text 13"/>
          <p:cNvSpPr/>
          <p:nvPr/>
        </p:nvSpPr>
        <p:spPr>
          <a:xfrm>
            <a:off x="868680" y="2240280"/>
            <a:ext cx="4312768" cy="228600"/>
          </a:xfrm>
          <a:prstGeom prst="rect">
            <a:avLst/>
          </a:prstGeom>
          <a:noFill/>
          <a:ln/>
        </p:spPr>
        <p:txBody>
          <a:bodyPr wrap="square" lIns="0" tIns="0" rIns="0" bIns="0" rtlCol="0" anchor="ctr"/>
          <a:lstStyle/>
          <a:p>
            <a:pPr marL="0" indent="0" algn="r">
              <a:buNone/>
            </a:pPr>
            <a:r>
              <a:rPr lang="en-US" sz="950" dirty="0">
                <a:solidFill>
                  <a:srgbClr val="0E7C7B"/>
                </a:solidFill>
                <a:latin typeface="Calibri" pitchFamily="34" charset="0"/>
                <a:ea typeface="Calibri" pitchFamily="34" charset="-122"/>
                <a:cs typeface="Calibri" pitchFamily="34" charset="-120"/>
              </a:rPr>
              <a:t>Fluidized Bed</a:t>
            </a:r>
            <a:endParaRPr lang="en-US" sz="950" dirty="0"/>
          </a:p>
        </p:txBody>
      </p:sp>
      <p:sp>
        <p:nvSpPr>
          <p:cNvPr id="18" name="Text 14"/>
          <p:cNvSpPr/>
          <p:nvPr/>
        </p:nvSpPr>
        <p:spPr>
          <a:xfrm>
            <a:off x="868680" y="2514600"/>
            <a:ext cx="4861408" cy="502920"/>
          </a:xfrm>
          <a:prstGeom prst="rect">
            <a:avLst/>
          </a:prstGeom>
          <a:noFill/>
          <a:ln/>
        </p:spPr>
        <p:txBody>
          <a:bodyPr wrap="square" lIns="0" tIns="0" rIns="0" bIns="0" rtlCol="0" anchor="ctr"/>
          <a:lstStyle/>
          <a:p>
            <a:pPr marL="0" indent="0" algn="r">
              <a:lnSpc>
                <a:spcPct val="120000"/>
              </a:lnSpc>
              <a:buNone/>
            </a:pPr>
            <a:r>
              <a:rPr lang="en-US" sz="1020" dirty="0">
                <a:solidFill>
                  <a:srgbClr val="5C6B73"/>
                </a:solidFill>
                <a:latin typeface="Calibri" pitchFamily="34" charset="0"/>
                <a:ea typeface="Calibri" pitchFamily="34" charset="-122"/>
                <a:cs typeface="Calibri" pitchFamily="34" charset="-120"/>
              </a:rPr>
              <a:t>جریان گاز ذرات کاتالیست را به حالت معلق و شبه‌سیال درمی‌آورد.</a:t>
            </a:r>
            <a:endParaRPr lang="en-US" sz="1020" dirty="0"/>
          </a:p>
        </p:txBody>
      </p:sp>
      <p:sp>
        <p:nvSpPr>
          <p:cNvPr id="19" name="Text 15"/>
          <p:cNvSpPr/>
          <p:nvPr/>
        </p:nvSpPr>
        <p:spPr>
          <a:xfrm>
            <a:off x="868680" y="3044952"/>
            <a:ext cx="4861408" cy="274320"/>
          </a:xfrm>
          <a:prstGeom prst="rect">
            <a:avLst/>
          </a:prstGeom>
          <a:noFill/>
          <a:ln/>
        </p:spPr>
        <p:txBody>
          <a:bodyPr wrap="square" lIns="0" tIns="0" rIns="0" bIns="0" rtlCol="0" anchor="ctr"/>
          <a:lstStyle/>
          <a:p>
            <a:pPr marL="0" indent="0" algn="r">
              <a:buNone/>
            </a:pPr>
            <a:r>
              <a:rPr lang="en-US" sz="970" b="1" dirty="0">
                <a:solidFill>
                  <a:srgbClr val="0E7C7B"/>
                </a:solidFill>
                <a:latin typeface="Calibri" pitchFamily="34" charset="0"/>
                <a:ea typeface="Calibri" pitchFamily="34" charset="-122"/>
                <a:cs typeface="Calibri" pitchFamily="34" charset="-120"/>
              </a:rPr>
              <a:t>✓ </a:t>
            </a:r>
            <a:r>
              <a:rPr lang="en-US" sz="970" dirty="0">
                <a:solidFill>
                  <a:srgbClr val="5C6B73"/>
                </a:solidFill>
                <a:latin typeface="Calibri" pitchFamily="34" charset="0"/>
                <a:ea typeface="Calibri" pitchFamily="34" charset="-122"/>
                <a:cs typeface="Calibri" pitchFamily="34" charset="-120"/>
              </a:rPr>
              <a:t>یکنواختی دمایی عالی، احیای پیوسته</a:t>
            </a:r>
            <a:endParaRPr lang="en-US" sz="970" dirty="0"/>
          </a:p>
        </p:txBody>
      </p:sp>
      <p:sp>
        <p:nvSpPr>
          <p:cNvPr id="20" name="Text 16"/>
          <p:cNvSpPr/>
          <p:nvPr/>
        </p:nvSpPr>
        <p:spPr>
          <a:xfrm>
            <a:off x="868680" y="3319272"/>
            <a:ext cx="4861408" cy="274320"/>
          </a:xfrm>
          <a:prstGeom prst="rect">
            <a:avLst/>
          </a:prstGeom>
          <a:noFill/>
          <a:ln/>
        </p:spPr>
        <p:txBody>
          <a:bodyPr wrap="square" lIns="0" tIns="0" rIns="0" bIns="0" rtlCol="0" anchor="ctr"/>
          <a:lstStyle/>
          <a:p>
            <a:pPr marL="0" indent="0" algn="r">
              <a:buNone/>
            </a:pPr>
            <a:r>
              <a:rPr lang="en-US" sz="970" b="1" dirty="0">
                <a:solidFill>
                  <a:srgbClr val="D98E3F"/>
                </a:solidFill>
                <a:latin typeface="Calibri" pitchFamily="34" charset="0"/>
                <a:ea typeface="Calibri" pitchFamily="34" charset="-122"/>
                <a:cs typeface="Calibri" pitchFamily="34" charset="-120"/>
              </a:rPr>
              <a:t>✕ </a:t>
            </a:r>
            <a:r>
              <a:rPr lang="en-US" sz="970" dirty="0">
                <a:solidFill>
                  <a:srgbClr val="5C6B73"/>
                </a:solidFill>
                <a:latin typeface="Calibri" pitchFamily="34" charset="0"/>
                <a:ea typeface="Calibri" pitchFamily="34" charset="-122"/>
                <a:cs typeface="Calibri" pitchFamily="34" charset="-120"/>
              </a:rPr>
              <a:t>فرسایش ذرات، عبور گاز از حباب‌ها</a:t>
            </a:r>
            <a:endParaRPr lang="en-US" sz="970" dirty="0"/>
          </a:p>
        </p:txBody>
      </p:sp>
      <p:sp>
        <p:nvSpPr>
          <p:cNvPr id="21" name="Shape 17"/>
          <p:cNvSpPr/>
          <p:nvPr/>
        </p:nvSpPr>
        <p:spPr>
          <a:xfrm>
            <a:off x="6233008" y="3977640"/>
            <a:ext cx="5318608" cy="1965960"/>
          </a:xfrm>
          <a:prstGeom prst="roundRect">
            <a:avLst>
              <a:gd name="adj" fmla="val 3721"/>
            </a:avLst>
          </a:prstGeom>
          <a:solidFill>
            <a:srgbClr val="F7F9FA"/>
          </a:solidFill>
          <a:ln/>
        </p:spPr>
      </p:sp>
      <p:sp>
        <p:nvSpPr>
          <p:cNvPr id="22" name="Shape 18"/>
          <p:cNvSpPr/>
          <p:nvPr/>
        </p:nvSpPr>
        <p:spPr>
          <a:xfrm>
            <a:off x="10838383" y="4178808"/>
            <a:ext cx="457200" cy="457200"/>
          </a:xfrm>
          <a:prstGeom prst="ellipse">
            <a:avLst/>
          </a:prstGeom>
          <a:solidFill>
            <a:srgbClr val="0B2545"/>
          </a:solidFill>
          <a:ln/>
        </p:spPr>
      </p:sp>
      <p:pic>
        <p:nvPicPr>
          <p:cNvPr id="23" name="Image 2" descr="/home/claude/reactor_pptx/icons/cog_teal.png"/>
          <p:cNvPicPr>
            <a:picLocks noChangeAspect="1"/>
          </p:cNvPicPr>
          <p:nvPr/>
        </p:nvPicPr>
        <p:blipFill>
          <a:blip r:embed="rId5"/>
          <a:stretch>
            <a:fillRect/>
          </a:stretch>
        </p:blipFill>
        <p:spPr>
          <a:xfrm>
            <a:off x="10943539" y="4283964"/>
            <a:ext cx="246888" cy="246888"/>
          </a:xfrm>
          <a:prstGeom prst="rect">
            <a:avLst/>
          </a:prstGeom>
        </p:spPr>
      </p:pic>
      <p:sp>
        <p:nvSpPr>
          <p:cNvPr id="24" name="Text 19"/>
          <p:cNvSpPr/>
          <p:nvPr/>
        </p:nvSpPr>
        <p:spPr>
          <a:xfrm>
            <a:off x="6461608" y="4142232"/>
            <a:ext cx="4312768" cy="320040"/>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بستر متحرک</a:t>
            </a:r>
            <a:endParaRPr lang="en-US" sz="1450" dirty="0"/>
          </a:p>
        </p:txBody>
      </p:sp>
      <p:sp>
        <p:nvSpPr>
          <p:cNvPr id="25" name="Text 20"/>
          <p:cNvSpPr/>
          <p:nvPr/>
        </p:nvSpPr>
        <p:spPr>
          <a:xfrm>
            <a:off x="6461608" y="4434840"/>
            <a:ext cx="4312768" cy="228600"/>
          </a:xfrm>
          <a:prstGeom prst="rect">
            <a:avLst/>
          </a:prstGeom>
          <a:noFill/>
          <a:ln/>
        </p:spPr>
        <p:txBody>
          <a:bodyPr wrap="square" lIns="0" tIns="0" rIns="0" bIns="0" rtlCol="0" anchor="ctr"/>
          <a:lstStyle/>
          <a:p>
            <a:pPr marL="0" indent="0" algn="r">
              <a:buNone/>
            </a:pPr>
            <a:r>
              <a:rPr lang="en-US" sz="950" dirty="0">
                <a:solidFill>
                  <a:srgbClr val="0E7C7B"/>
                </a:solidFill>
                <a:latin typeface="Calibri" pitchFamily="34" charset="0"/>
                <a:ea typeface="Calibri" pitchFamily="34" charset="-122"/>
                <a:cs typeface="Calibri" pitchFamily="34" charset="-120"/>
              </a:rPr>
              <a:t>Moving Bed</a:t>
            </a:r>
            <a:endParaRPr lang="en-US" sz="950" dirty="0"/>
          </a:p>
        </p:txBody>
      </p:sp>
      <p:sp>
        <p:nvSpPr>
          <p:cNvPr id="26" name="Text 21"/>
          <p:cNvSpPr/>
          <p:nvPr/>
        </p:nvSpPr>
        <p:spPr>
          <a:xfrm>
            <a:off x="6461608" y="4709160"/>
            <a:ext cx="4861408" cy="502920"/>
          </a:xfrm>
          <a:prstGeom prst="rect">
            <a:avLst/>
          </a:prstGeom>
          <a:noFill/>
          <a:ln/>
        </p:spPr>
        <p:txBody>
          <a:bodyPr wrap="square" lIns="0" tIns="0" rIns="0" bIns="0" rtlCol="0" anchor="ctr"/>
          <a:lstStyle/>
          <a:p>
            <a:pPr marL="0" indent="0" algn="r">
              <a:lnSpc>
                <a:spcPct val="120000"/>
              </a:lnSpc>
              <a:buNone/>
            </a:pPr>
            <a:r>
              <a:rPr lang="en-US" sz="1020" dirty="0">
                <a:solidFill>
                  <a:srgbClr val="5C6B73"/>
                </a:solidFill>
                <a:latin typeface="Calibri" pitchFamily="34" charset="0"/>
                <a:ea typeface="Calibri" pitchFamily="34" charset="-122"/>
                <a:cs typeface="Calibri" pitchFamily="34" charset="-120"/>
              </a:rPr>
              <a:t>ذرات تحت گرانش به‌آرامی پایین می‌روند؛ بستر فشرده باقی می‌ماند.</a:t>
            </a:r>
            <a:endParaRPr lang="en-US" sz="1020" dirty="0"/>
          </a:p>
        </p:txBody>
      </p:sp>
      <p:sp>
        <p:nvSpPr>
          <p:cNvPr id="27" name="Text 22"/>
          <p:cNvSpPr/>
          <p:nvPr/>
        </p:nvSpPr>
        <p:spPr>
          <a:xfrm>
            <a:off x="6461608" y="5239512"/>
            <a:ext cx="4861408" cy="274320"/>
          </a:xfrm>
          <a:prstGeom prst="rect">
            <a:avLst/>
          </a:prstGeom>
          <a:noFill/>
          <a:ln/>
        </p:spPr>
        <p:txBody>
          <a:bodyPr wrap="square" lIns="0" tIns="0" rIns="0" bIns="0" rtlCol="0" anchor="ctr"/>
          <a:lstStyle/>
          <a:p>
            <a:pPr marL="0" indent="0" algn="r">
              <a:buNone/>
            </a:pPr>
            <a:r>
              <a:rPr lang="en-US" sz="970" b="1" dirty="0">
                <a:solidFill>
                  <a:srgbClr val="0E7C7B"/>
                </a:solidFill>
                <a:latin typeface="Calibri" pitchFamily="34" charset="0"/>
                <a:ea typeface="Calibri" pitchFamily="34" charset="-122"/>
                <a:cs typeface="Calibri" pitchFamily="34" charset="-120"/>
              </a:rPr>
              <a:t>✓ </a:t>
            </a:r>
            <a:r>
              <a:rPr lang="en-US" sz="970" dirty="0">
                <a:solidFill>
                  <a:srgbClr val="5C6B73"/>
                </a:solidFill>
                <a:latin typeface="Calibri" pitchFamily="34" charset="0"/>
                <a:ea typeface="Calibri" pitchFamily="34" charset="-122"/>
                <a:cs typeface="Calibri" pitchFamily="34" charset="-120"/>
              </a:rPr>
              <a:t>احیای پیوسته بدون توقف فرآیند</a:t>
            </a:r>
            <a:endParaRPr lang="en-US" sz="970" dirty="0"/>
          </a:p>
        </p:txBody>
      </p:sp>
      <p:sp>
        <p:nvSpPr>
          <p:cNvPr id="28" name="Text 23"/>
          <p:cNvSpPr/>
          <p:nvPr/>
        </p:nvSpPr>
        <p:spPr>
          <a:xfrm>
            <a:off x="6461608" y="5513832"/>
            <a:ext cx="4861408" cy="274320"/>
          </a:xfrm>
          <a:prstGeom prst="rect">
            <a:avLst/>
          </a:prstGeom>
          <a:noFill/>
          <a:ln/>
        </p:spPr>
        <p:txBody>
          <a:bodyPr wrap="square" lIns="0" tIns="0" rIns="0" bIns="0" rtlCol="0" anchor="ctr"/>
          <a:lstStyle/>
          <a:p>
            <a:pPr marL="0" indent="0" algn="r">
              <a:buNone/>
            </a:pPr>
            <a:r>
              <a:rPr lang="en-US" sz="970" b="1" dirty="0">
                <a:solidFill>
                  <a:srgbClr val="D98E3F"/>
                </a:solidFill>
                <a:latin typeface="Calibri" pitchFamily="34" charset="0"/>
                <a:ea typeface="Calibri" pitchFamily="34" charset="-122"/>
                <a:cs typeface="Calibri" pitchFamily="34" charset="-120"/>
              </a:rPr>
              <a:t>✕ </a:t>
            </a:r>
            <a:r>
              <a:rPr lang="en-US" sz="970" dirty="0">
                <a:solidFill>
                  <a:srgbClr val="5C6B73"/>
                </a:solidFill>
                <a:latin typeface="Calibri" pitchFamily="34" charset="0"/>
                <a:ea typeface="Calibri" pitchFamily="34" charset="-122"/>
                <a:cs typeface="Calibri" pitchFamily="34" charset="-120"/>
              </a:rPr>
              <a:t>پیچیدگی مکانیکی حرکت کنترل‌شده</a:t>
            </a:r>
            <a:endParaRPr lang="en-US" sz="970" dirty="0"/>
          </a:p>
        </p:txBody>
      </p:sp>
      <p:sp>
        <p:nvSpPr>
          <p:cNvPr id="29" name="Shape 24"/>
          <p:cNvSpPr/>
          <p:nvPr/>
        </p:nvSpPr>
        <p:spPr>
          <a:xfrm>
            <a:off x="640080" y="3977640"/>
            <a:ext cx="5318608" cy="1965960"/>
          </a:xfrm>
          <a:prstGeom prst="roundRect">
            <a:avLst>
              <a:gd name="adj" fmla="val 3721"/>
            </a:avLst>
          </a:prstGeom>
          <a:solidFill>
            <a:srgbClr val="F7F9FA"/>
          </a:solidFill>
          <a:ln/>
        </p:spPr>
      </p:sp>
      <p:sp>
        <p:nvSpPr>
          <p:cNvPr id="30" name="Shape 25"/>
          <p:cNvSpPr/>
          <p:nvPr/>
        </p:nvSpPr>
        <p:spPr>
          <a:xfrm>
            <a:off x="5245456" y="4178808"/>
            <a:ext cx="457200" cy="457200"/>
          </a:xfrm>
          <a:prstGeom prst="ellipse">
            <a:avLst/>
          </a:prstGeom>
          <a:solidFill>
            <a:srgbClr val="0B2545"/>
          </a:solidFill>
          <a:ln/>
        </p:spPr>
      </p:sp>
      <p:pic>
        <p:nvPicPr>
          <p:cNvPr id="31" name="Image 3" descr="/home/claude/reactor_pptx/icons/tint_teal.png"/>
          <p:cNvPicPr>
            <a:picLocks noChangeAspect="1"/>
          </p:cNvPicPr>
          <p:nvPr/>
        </p:nvPicPr>
        <p:blipFill>
          <a:blip r:embed="rId6"/>
          <a:stretch>
            <a:fillRect/>
          </a:stretch>
        </p:blipFill>
        <p:spPr>
          <a:xfrm>
            <a:off x="5350612" y="4283964"/>
            <a:ext cx="246888" cy="246888"/>
          </a:xfrm>
          <a:prstGeom prst="rect">
            <a:avLst/>
          </a:prstGeom>
        </p:spPr>
      </p:pic>
      <p:sp>
        <p:nvSpPr>
          <p:cNvPr id="32" name="Text 26"/>
          <p:cNvSpPr/>
          <p:nvPr/>
        </p:nvSpPr>
        <p:spPr>
          <a:xfrm>
            <a:off x="868680" y="4142232"/>
            <a:ext cx="4312768" cy="320040"/>
          </a:xfrm>
          <a:prstGeom prst="rect">
            <a:avLst/>
          </a:prstGeom>
          <a:noFill/>
          <a:ln/>
        </p:spPr>
        <p:txBody>
          <a:bodyPr wrap="square" lIns="0" tIns="0" rIns="0" bIns="0" rtlCol="0" anchor="ctr"/>
          <a:lstStyle/>
          <a:p>
            <a:pPr marL="0" indent="0" algn="r">
              <a:buNone/>
            </a:pPr>
            <a:r>
              <a:rPr lang="en-US" sz="1450" b="1" dirty="0">
                <a:solidFill>
                  <a:srgbClr val="1A2433"/>
                </a:solidFill>
                <a:latin typeface="Calibri" pitchFamily="34" charset="0"/>
                <a:ea typeface="Calibri" pitchFamily="34" charset="-122"/>
                <a:cs typeface="Calibri" pitchFamily="34" charset="-120"/>
              </a:rPr>
              <a:t>دوغابی</a:t>
            </a:r>
            <a:endParaRPr lang="en-US" sz="1450" dirty="0"/>
          </a:p>
        </p:txBody>
      </p:sp>
      <p:sp>
        <p:nvSpPr>
          <p:cNvPr id="33" name="Text 27"/>
          <p:cNvSpPr/>
          <p:nvPr/>
        </p:nvSpPr>
        <p:spPr>
          <a:xfrm>
            <a:off x="868680" y="4434840"/>
            <a:ext cx="4312768" cy="228600"/>
          </a:xfrm>
          <a:prstGeom prst="rect">
            <a:avLst/>
          </a:prstGeom>
          <a:noFill/>
          <a:ln/>
        </p:spPr>
        <p:txBody>
          <a:bodyPr wrap="square" lIns="0" tIns="0" rIns="0" bIns="0" rtlCol="0" anchor="ctr"/>
          <a:lstStyle/>
          <a:p>
            <a:pPr marL="0" indent="0" algn="r">
              <a:buNone/>
            </a:pPr>
            <a:r>
              <a:rPr lang="en-US" sz="950" dirty="0">
                <a:solidFill>
                  <a:srgbClr val="0E7C7B"/>
                </a:solidFill>
                <a:latin typeface="Calibri" pitchFamily="34" charset="0"/>
                <a:ea typeface="Calibri" pitchFamily="34" charset="-122"/>
                <a:cs typeface="Calibri" pitchFamily="34" charset="-120"/>
              </a:rPr>
              <a:t>Slurry</a:t>
            </a:r>
            <a:endParaRPr lang="en-US" sz="950" dirty="0"/>
          </a:p>
        </p:txBody>
      </p:sp>
      <p:sp>
        <p:nvSpPr>
          <p:cNvPr id="34" name="Text 28"/>
          <p:cNvSpPr/>
          <p:nvPr/>
        </p:nvSpPr>
        <p:spPr>
          <a:xfrm>
            <a:off x="868680" y="4709160"/>
            <a:ext cx="4861408" cy="502920"/>
          </a:xfrm>
          <a:prstGeom prst="rect">
            <a:avLst/>
          </a:prstGeom>
          <a:noFill/>
          <a:ln/>
        </p:spPr>
        <p:txBody>
          <a:bodyPr wrap="square" lIns="0" tIns="0" rIns="0" bIns="0" rtlCol="0" anchor="ctr"/>
          <a:lstStyle/>
          <a:p>
            <a:pPr marL="0" indent="0" algn="r">
              <a:lnSpc>
                <a:spcPct val="120000"/>
              </a:lnSpc>
              <a:buNone/>
            </a:pPr>
            <a:r>
              <a:rPr lang="en-US" sz="1020" dirty="0">
                <a:solidFill>
                  <a:srgbClr val="5C6B73"/>
                </a:solidFill>
                <a:latin typeface="Calibri" pitchFamily="34" charset="0"/>
                <a:ea typeface="Calibri" pitchFamily="34" charset="-122"/>
                <a:cs typeface="Calibri" pitchFamily="34" charset="-120"/>
              </a:rPr>
              <a:t>ذرات ریز کاتالیست در فاز مایع معلق‌اند؛ گاز از میان آن عبور می‌کند.</a:t>
            </a:r>
            <a:endParaRPr lang="en-US" sz="1020" dirty="0"/>
          </a:p>
        </p:txBody>
      </p:sp>
      <p:sp>
        <p:nvSpPr>
          <p:cNvPr id="35" name="Text 29"/>
          <p:cNvSpPr/>
          <p:nvPr/>
        </p:nvSpPr>
        <p:spPr>
          <a:xfrm>
            <a:off x="868680" y="5239512"/>
            <a:ext cx="4861408" cy="274320"/>
          </a:xfrm>
          <a:prstGeom prst="rect">
            <a:avLst/>
          </a:prstGeom>
          <a:noFill/>
          <a:ln/>
        </p:spPr>
        <p:txBody>
          <a:bodyPr wrap="square" lIns="0" tIns="0" rIns="0" bIns="0" rtlCol="0" anchor="ctr"/>
          <a:lstStyle/>
          <a:p>
            <a:pPr marL="0" indent="0" algn="r">
              <a:buNone/>
            </a:pPr>
            <a:r>
              <a:rPr lang="en-US" sz="970" b="1" dirty="0">
                <a:solidFill>
                  <a:srgbClr val="0E7C7B"/>
                </a:solidFill>
                <a:latin typeface="Calibri" pitchFamily="34" charset="0"/>
                <a:ea typeface="Calibri" pitchFamily="34" charset="-122"/>
                <a:cs typeface="Calibri" pitchFamily="34" charset="-120"/>
              </a:rPr>
              <a:t>✓ </a:t>
            </a:r>
            <a:r>
              <a:rPr lang="en-US" sz="970" dirty="0">
                <a:solidFill>
                  <a:srgbClr val="5C6B73"/>
                </a:solidFill>
                <a:latin typeface="Calibri" pitchFamily="34" charset="0"/>
                <a:ea typeface="Calibri" pitchFamily="34" charset="-122"/>
                <a:cs typeface="Calibri" pitchFamily="34" charset="-120"/>
              </a:rPr>
              <a:t>سطح تماس بالا، کنترل دمای آسان</a:t>
            </a:r>
            <a:endParaRPr lang="en-US" sz="970" dirty="0"/>
          </a:p>
        </p:txBody>
      </p:sp>
      <p:sp>
        <p:nvSpPr>
          <p:cNvPr id="36" name="Text 30"/>
          <p:cNvSpPr/>
          <p:nvPr/>
        </p:nvSpPr>
        <p:spPr>
          <a:xfrm>
            <a:off x="868680" y="5513832"/>
            <a:ext cx="4861408" cy="274320"/>
          </a:xfrm>
          <a:prstGeom prst="rect">
            <a:avLst/>
          </a:prstGeom>
          <a:noFill/>
          <a:ln/>
        </p:spPr>
        <p:txBody>
          <a:bodyPr wrap="square" lIns="0" tIns="0" rIns="0" bIns="0" rtlCol="0" anchor="ctr"/>
          <a:lstStyle/>
          <a:p>
            <a:pPr marL="0" indent="0" algn="r">
              <a:buNone/>
            </a:pPr>
            <a:r>
              <a:rPr lang="en-US" sz="970" b="1" dirty="0">
                <a:solidFill>
                  <a:srgbClr val="D98E3F"/>
                </a:solidFill>
                <a:latin typeface="Calibri" pitchFamily="34" charset="0"/>
                <a:ea typeface="Calibri" pitchFamily="34" charset="-122"/>
                <a:cs typeface="Calibri" pitchFamily="34" charset="-120"/>
              </a:rPr>
              <a:t>✕ </a:t>
            </a:r>
            <a:r>
              <a:rPr lang="en-US" sz="970" dirty="0">
                <a:solidFill>
                  <a:srgbClr val="5C6B73"/>
                </a:solidFill>
                <a:latin typeface="Calibri" pitchFamily="34" charset="0"/>
                <a:ea typeface="Calibri" pitchFamily="34" charset="-122"/>
                <a:cs typeface="Calibri" pitchFamily="34" charset="-120"/>
              </a:rPr>
              <a:t>نیاز به جداسازی نهایی کاتالیست</a:t>
            </a:r>
            <a:endParaRPr lang="en-US" sz="970" dirty="0"/>
          </a:p>
        </p:txBody>
      </p:sp>
      <p:sp>
        <p:nvSpPr>
          <p:cNvPr id="37" name="Text 31"/>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17</a:t>
            </a:r>
            <a:endParaRPr lang="en-US" sz="1000" dirty="0"/>
          </a:p>
        </p:txBody>
      </p:sp>
      <p:sp>
        <p:nvSpPr>
          <p:cNvPr id="38" name="Text 32"/>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46304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۴-۷ و ۴-۸</a:t>
            </a:r>
            <a:endParaRPr lang="en-US" sz="1600" dirty="0"/>
          </a:p>
        </p:txBody>
      </p:sp>
      <p:sp>
        <p:nvSpPr>
          <p:cNvPr id="3" name="Text 1"/>
          <p:cNvSpPr/>
          <p:nvPr/>
        </p:nvSpPr>
        <p:spPr>
          <a:xfrm>
            <a:off x="1463040" y="502920"/>
            <a:ext cx="1008857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کاربردهای صنعتی</a:t>
            </a:r>
            <a:endParaRPr lang="en-US" sz="1300" dirty="0"/>
          </a:p>
        </p:txBody>
      </p:sp>
      <p:sp>
        <p:nvSpPr>
          <p:cNvPr id="4" name="Text 2"/>
          <p:cNvSpPr/>
          <p:nvPr/>
        </p:nvSpPr>
        <p:spPr>
          <a:xfrm>
            <a:off x="1463040" y="841248"/>
            <a:ext cx="1008857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از سنتز آمونیاک تا کراکینگ کاتالیستی</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2377440"/>
        </p:xfrm>
        <a:graphic>
          <a:graphicData uri="http://schemas.openxmlformats.org/drawingml/2006/table">
            <a:tbl>
              <a:tblPr/>
              <a:tblGrid>
                <a:gridCol w="7856305">
                  <a:extLst>
                    <a:ext uri="{9D8B030D-6E8A-4147-A177-3AD203B41FA5}">
                      <a16:colId xmlns:a16="http://schemas.microsoft.com/office/drawing/2014/main" val="20000"/>
                    </a:ext>
                  </a:extLst>
                </a:gridCol>
                <a:gridCol w="3055230">
                  <a:extLst>
                    <a:ext uri="{9D8B030D-6E8A-4147-A177-3AD203B41FA5}">
                      <a16:colId xmlns:a16="http://schemas.microsoft.com/office/drawing/2014/main" val="20001"/>
                    </a:ext>
                  </a:extLst>
                </a:gridCol>
              </a:tblGrid>
              <a:tr h="475488">
                <a:tc>
                  <a:txBody>
                    <a:bodyPr/>
                    <a:lstStyle/>
                    <a:p>
                      <a:pPr marL="0" indent="0" algn="r">
                        <a:buNone/>
                      </a:pPr>
                      <a:r>
                        <a:rPr lang="en-US" sz="1300" b="1" dirty="0">
                          <a:solidFill>
                            <a:srgbClr val="FFFFFF"/>
                          </a:solidFill>
                        </a:rPr>
                        <a:t>کاربردهای صنعتی کلیدی</a:t>
                      </a:r>
                      <a:endParaRPr lang="en-US" sz="1300" dirty="0"/>
                    </a:p>
                  </a:txBody>
                  <a:tcPr marL="152400" marR="152400" marT="101600" marB="1016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B2545"/>
                    </a:solidFill>
                  </a:tcPr>
                </a:tc>
                <a:tc>
                  <a:txBody>
                    <a:bodyPr/>
                    <a:lstStyle/>
                    <a:p>
                      <a:pPr marL="0" indent="0" algn="r">
                        <a:buNone/>
                      </a:pPr>
                      <a:r>
                        <a:rPr lang="en-US" sz="1300" b="1" dirty="0">
                          <a:solidFill>
                            <a:srgbClr val="FFFFFF"/>
                          </a:solidFill>
                        </a:rPr>
                        <a:t>نوع راکتور کاتالیستی</a:t>
                      </a:r>
                      <a:endParaRPr lang="en-US" sz="1300" dirty="0"/>
                    </a:p>
                  </a:txBody>
                  <a:tcPr marL="152400" marR="152400" marT="101600" marB="1016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75488">
                <a:tc>
                  <a:txBody>
                    <a:bodyPr/>
                    <a:lstStyle/>
                    <a:p>
                      <a:pPr marL="0" indent="0" algn="r">
                        <a:buNone/>
                      </a:pPr>
                      <a:r>
                        <a:rPr lang="en-US" sz="1250" dirty="0">
                          <a:solidFill>
                            <a:srgbClr val="5C6B73"/>
                          </a:solidFill>
                        </a:rPr>
                        <a:t>سنتز آمونیاک، تولید اسید سولفوریک، هیدروژن‌زدایی کاتالیستی</a:t>
                      </a:r>
                      <a:endParaRPr lang="en-US" sz="1250" dirty="0"/>
                    </a:p>
                  </a:txBody>
                  <a:tcPr marL="152400" marR="152400" marT="101600" marB="1016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250" b="1" dirty="0">
                          <a:solidFill>
                            <a:srgbClr val="0E7C7B"/>
                          </a:solidFill>
                        </a:rPr>
                        <a:t>بستر ثابت</a:t>
                      </a:r>
                      <a:endParaRPr lang="en-US" sz="1250" dirty="0"/>
                    </a:p>
                  </a:txBody>
                  <a:tcPr marL="152400" marR="152400" marT="101600" marB="1016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extLst>
                  <a:ext uri="{0D108BD9-81ED-4DB2-BD59-A6C34878D82A}">
                    <a16:rowId xmlns:a16="http://schemas.microsoft.com/office/drawing/2014/main" val="10001"/>
                  </a:ext>
                </a:extLst>
              </a:tr>
              <a:tr h="475488">
                <a:tc>
                  <a:txBody>
                    <a:bodyPr/>
                    <a:lstStyle/>
                    <a:p>
                      <a:pPr marL="0" indent="0" algn="r">
                        <a:buNone/>
                      </a:pPr>
                      <a:r>
                        <a:rPr lang="en-US" sz="1250" dirty="0">
                          <a:solidFill>
                            <a:srgbClr val="5C6B73"/>
                          </a:solidFill>
                        </a:rPr>
                        <a:t>کراکینگ کاتالیستی سیالی پالایشگاهی، پلیمریزاسیون پلی‌اتیلن فاز گازی</a:t>
                      </a:r>
                      <a:endParaRPr lang="en-US" sz="1250" dirty="0"/>
                    </a:p>
                  </a:txBody>
                  <a:tcPr marL="152400" marR="152400" marT="101600" marB="1016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0E7C7B"/>
                          </a:solidFill>
                        </a:rPr>
                        <a:t>بستر سیال</a:t>
                      </a:r>
                      <a:endParaRPr lang="en-US" sz="1250" dirty="0"/>
                    </a:p>
                  </a:txBody>
                  <a:tcPr marL="152400" marR="152400" marT="101600" marB="1016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r">
                        <a:buNone/>
                      </a:pPr>
                      <a:r>
                        <a:rPr lang="en-US" sz="1250" dirty="0">
                          <a:solidFill>
                            <a:srgbClr val="5C6B73"/>
                          </a:solidFill>
                        </a:rPr>
                        <a:t>ریفرمینگ کاتالیستی پیوسته نفتا برای تولید بنزین با اکتان بالا</a:t>
                      </a:r>
                      <a:endParaRPr lang="en-US" sz="1250" dirty="0"/>
                    </a:p>
                  </a:txBody>
                  <a:tcPr marL="152400" marR="152400" marT="101600" marB="1016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250" b="1" dirty="0">
                          <a:solidFill>
                            <a:srgbClr val="0E7C7B"/>
                          </a:solidFill>
                        </a:rPr>
                        <a:t>بستر متحرک</a:t>
                      </a:r>
                      <a:endParaRPr lang="en-US" sz="1250" dirty="0"/>
                    </a:p>
                  </a:txBody>
                  <a:tcPr marL="152400" marR="152400" marT="101600" marB="1016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extLst>
                  <a:ext uri="{0D108BD9-81ED-4DB2-BD59-A6C34878D82A}">
                    <a16:rowId xmlns:a16="http://schemas.microsoft.com/office/drawing/2014/main" val="10003"/>
                  </a:ext>
                </a:extLst>
              </a:tr>
              <a:tr h="475488">
                <a:tc>
                  <a:txBody>
                    <a:bodyPr/>
                    <a:lstStyle/>
                    <a:p>
                      <a:pPr marL="0" indent="0" algn="r">
                        <a:buNone/>
                      </a:pPr>
                      <a:r>
                        <a:rPr lang="en-US" sz="1250" dirty="0">
                          <a:solidFill>
                            <a:srgbClr val="5C6B73"/>
                          </a:solidFill>
                        </a:rPr>
                        <a:t>هیدروژناسیون روغن‌های نباتی، سنتز فیشر-تروپش</a:t>
                      </a:r>
                      <a:endParaRPr lang="en-US" sz="1250" dirty="0"/>
                    </a:p>
                  </a:txBody>
                  <a:tcPr marL="152400" marR="152400" marT="101600" marB="1016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250" b="1" dirty="0">
                          <a:solidFill>
                            <a:srgbClr val="0E7C7B"/>
                          </a:solidFill>
                        </a:rPr>
                        <a:t>دوغابی</a:t>
                      </a:r>
                      <a:endParaRPr lang="en-US" sz="1250" dirty="0"/>
                    </a:p>
                  </a:txBody>
                  <a:tcPr marL="152400" marR="152400" marT="101600" marB="1016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640080" y="4572000"/>
            <a:ext cx="10911535" cy="640080"/>
          </a:xfrm>
          <a:prstGeom prst="rect">
            <a:avLst/>
          </a:prstGeom>
          <a:noFill/>
          <a:ln/>
        </p:spPr>
        <p:txBody>
          <a:bodyPr wrap="square" lIns="0" tIns="0" rIns="0" bIns="0" rtlCol="0" anchor="ctr"/>
          <a:lstStyle/>
          <a:p>
            <a:pPr marL="0" indent="0" algn="r">
              <a:lnSpc>
                <a:spcPct val="130000"/>
              </a:lnSpc>
              <a:buNone/>
            </a:pPr>
            <a:r>
              <a:rPr lang="en-US" sz="1300" i="1" dirty="0">
                <a:solidFill>
                  <a:srgbClr val="D98E3F"/>
                </a:solidFill>
                <a:latin typeface="Calibri" pitchFamily="34" charset="0"/>
                <a:ea typeface="Calibri" pitchFamily="34" charset="-122"/>
                <a:cs typeface="Calibri" pitchFamily="34" charset="-120"/>
              </a:rPr>
              <a:t>اصل انتخاب: نوع راکتور کاتالیستی باید بر اساس ماهیت فازهای حاضر، حساسیت دمایی فرآیند، نرخ غیرفعال‌شدن کاتالیست و الزامات جداسازی محصول تعیین شود.</a:t>
            </a:r>
            <a:endParaRPr lang="en-US" sz="1300" dirty="0"/>
          </a:p>
        </p:txBody>
      </p:sp>
      <p:sp>
        <p:nvSpPr>
          <p:cNvPr id="7" name="Text 4"/>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18</a:t>
            </a:r>
            <a:endParaRPr lang="en-US" sz="1000" dirty="0"/>
          </a:p>
        </p:txBody>
      </p:sp>
      <p:sp>
        <p:nvSpPr>
          <p:cNvPr id="8" name="Text 5"/>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144000" y="-1645920"/>
            <a:ext cx="5029200" cy="5029200"/>
          </a:xfrm>
          <a:prstGeom prst="ellipse">
            <a:avLst/>
          </a:prstGeom>
          <a:solidFill>
            <a:srgbClr val="112C52"/>
          </a:solidFill>
          <a:ln/>
        </p:spPr>
      </p:sp>
      <p:sp>
        <p:nvSpPr>
          <p:cNvPr id="3" name="Shape 1"/>
          <p:cNvSpPr/>
          <p:nvPr/>
        </p:nvSpPr>
        <p:spPr>
          <a:xfrm>
            <a:off x="-1828800" y="4572000"/>
            <a:ext cx="3657600" cy="3657600"/>
          </a:xfrm>
          <a:prstGeom prst="ellipse">
            <a:avLst/>
          </a:prstGeom>
          <a:solidFill>
            <a:srgbClr val="16396B"/>
          </a:solidFill>
          <a:ln/>
        </p:spPr>
      </p:sp>
      <p:sp>
        <p:nvSpPr>
          <p:cNvPr id="4" name="Text 2"/>
          <p:cNvSpPr/>
          <p:nvPr/>
        </p:nvSpPr>
        <p:spPr>
          <a:xfrm>
            <a:off x="822960" y="2011680"/>
            <a:ext cx="5486400" cy="457200"/>
          </a:xfrm>
          <a:prstGeom prst="rect">
            <a:avLst/>
          </a:prstGeom>
          <a:noFill/>
          <a:ln/>
        </p:spPr>
        <p:txBody>
          <a:bodyPr wrap="square" lIns="0" tIns="0" rIns="0" bIns="0" rtlCol="0" anchor="ctr"/>
          <a:lstStyle/>
          <a:p>
            <a:pPr marL="0" indent="0" algn="r">
              <a:buNone/>
            </a:pPr>
            <a:r>
              <a:rPr lang="en-US" sz="1600" b="1" kern="0" spc="100" dirty="0">
                <a:solidFill>
                  <a:srgbClr val="D98E3F"/>
                </a:solidFill>
                <a:latin typeface="Calibri" pitchFamily="34" charset="0"/>
                <a:ea typeface="Calibri" pitchFamily="34" charset="-122"/>
                <a:cs typeface="Calibri" pitchFamily="34" charset="-120"/>
              </a:rPr>
              <a:t>فصل پنجم</a:t>
            </a:r>
            <a:endParaRPr lang="en-US" sz="1600" dirty="0"/>
          </a:p>
        </p:txBody>
      </p:sp>
      <p:sp>
        <p:nvSpPr>
          <p:cNvPr id="5" name="Text 3"/>
          <p:cNvSpPr/>
          <p:nvPr/>
        </p:nvSpPr>
        <p:spPr>
          <a:xfrm>
            <a:off x="822960" y="2468880"/>
            <a:ext cx="9875520" cy="1097280"/>
          </a:xfrm>
          <a:prstGeom prst="rect">
            <a:avLst/>
          </a:prstGeom>
          <a:noFill/>
          <a:ln/>
        </p:spPr>
        <p:txBody>
          <a:bodyPr wrap="square" lIns="0" tIns="0" rIns="0" bIns="0" rtlCol="0" anchor="ctr"/>
          <a:lstStyle/>
          <a:p>
            <a:pPr marL="0" indent="0" algn="r">
              <a:buNone/>
            </a:pPr>
            <a:r>
              <a:rPr lang="en-US" sz="3800" b="1" dirty="0">
                <a:solidFill>
                  <a:srgbClr val="FFFFFF"/>
                </a:solidFill>
                <a:latin typeface="Calibri" pitchFamily="34" charset="0"/>
                <a:ea typeface="Calibri" pitchFamily="34" charset="-122"/>
                <a:cs typeface="Calibri" pitchFamily="34" charset="-120"/>
              </a:rPr>
              <a:t>راکتورهای ایده‌آل و غیرایده‌آل</a:t>
            </a:r>
            <a:endParaRPr lang="en-US" sz="3800" dirty="0"/>
          </a:p>
        </p:txBody>
      </p:sp>
      <p:sp>
        <p:nvSpPr>
          <p:cNvPr id="6" name="Text 4"/>
          <p:cNvSpPr/>
          <p:nvPr/>
        </p:nvSpPr>
        <p:spPr>
          <a:xfrm>
            <a:off x="822960" y="3429000"/>
            <a:ext cx="8686800" cy="548640"/>
          </a:xfrm>
          <a:prstGeom prst="rect">
            <a:avLst/>
          </a:prstGeom>
          <a:noFill/>
          <a:ln/>
        </p:spPr>
        <p:txBody>
          <a:bodyPr wrap="square" lIns="0" tIns="0" rIns="0" bIns="0" rtlCol="0" anchor="ctr"/>
          <a:lstStyle/>
          <a:p>
            <a:pPr marL="0" indent="0" algn="r">
              <a:buNone/>
            </a:pPr>
            <a:r>
              <a:rPr lang="en-US" sz="1600" dirty="0">
                <a:solidFill>
                  <a:srgbClr val="C7D9EE"/>
                </a:solidFill>
                <a:latin typeface="Calibri" pitchFamily="34" charset="0"/>
                <a:ea typeface="Calibri" pitchFamily="34" charset="-122"/>
                <a:cs typeface="Calibri" pitchFamily="34" charset="-120"/>
              </a:rPr>
              <a:t>فرضیات، توزیع زمان ماند (RTD) و مدل‌های اصلاحی</a:t>
            </a:r>
            <a:endParaRPr lang="en-US" sz="1600" dirty="0"/>
          </a:p>
        </p:txBody>
      </p:sp>
      <p:pic>
        <p:nvPicPr>
          <p:cNvPr id="7" name="Image 0" descr="/home/claude/reactor_pptx/icons/chartline_teal.png"/>
          <p:cNvPicPr>
            <a:picLocks noChangeAspect="1"/>
          </p:cNvPicPr>
          <p:nvPr/>
        </p:nvPicPr>
        <p:blipFill>
          <a:blip r:embed="rId3"/>
          <a:stretch>
            <a:fillRect/>
          </a:stretch>
        </p:blipFill>
        <p:spPr>
          <a:xfrm>
            <a:off x="9814255" y="4297680"/>
            <a:ext cx="1188720" cy="1188720"/>
          </a:xfrm>
          <a:prstGeom prst="rect">
            <a:avLst/>
          </a:prstGeom>
        </p:spPr>
      </p:pic>
      <p:sp>
        <p:nvSpPr>
          <p:cNvPr id="8" name="Text 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8096B0"/>
                </a:solidFill>
                <a:latin typeface="Calibri" pitchFamily="34" charset="0"/>
                <a:ea typeface="Calibri" pitchFamily="34" charset="-122"/>
                <a:cs typeface="Calibri" pitchFamily="34" charset="-120"/>
              </a:rPr>
              <a:t>19</a:t>
            </a:r>
            <a:endParaRPr lang="en-US" sz="1000" dirty="0"/>
          </a:p>
        </p:txBody>
      </p:sp>
      <p:sp>
        <p:nvSpPr>
          <p:cNvPr id="9" name="Text 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8096B0"/>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64592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۵-۱ تا ۵-۸</a:t>
            </a:r>
            <a:endParaRPr lang="en-US" sz="1600" dirty="0"/>
          </a:p>
        </p:txBody>
      </p:sp>
      <p:sp>
        <p:nvSpPr>
          <p:cNvPr id="3" name="Text 1"/>
          <p:cNvSpPr/>
          <p:nvPr/>
        </p:nvSpPr>
        <p:spPr>
          <a:xfrm>
            <a:off x="1554480" y="502920"/>
            <a:ext cx="999713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از مدل ساده تا رفتار واقعی</a:t>
            </a:r>
            <a:endParaRPr lang="en-US" sz="1300" dirty="0"/>
          </a:p>
        </p:txBody>
      </p:sp>
      <p:sp>
        <p:nvSpPr>
          <p:cNvPr id="4" name="Text 2"/>
          <p:cNvSpPr/>
          <p:nvPr/>
        </p:nvSpPr>
        <p:spPr>
          <a:xfrm>
            <a:off x="1554480" y="841248"/>
            <a:ext cx="999713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چرا راکتورهای واقعی ایده‌آل نیستند؟</a:t>
            </a:r>
            <a:endParaRPr lang="en-US" sz="2800" dirty="0"/>
          </a:p>
        </p:txBody>
      </p:sp>
      <p:sp>
        <p:nvSpPr>
          <p:cNvPr id="5" name="Text 3"/>
          <p:cNvSpPr/>
          <p:nvPr/>
        </p:nvSpPr>
        <p:spPr>
          <a:xfrm>
            <a:off x="640080" y="1737360"/>
            <a:ext cx="10911535" cy="868680"/>
          </a:xfrm>
          <a:prstGeom prst="rect">
            <a:avLst/>
          </a:prstGeom>
          <a:noFill/>
          <a:ln/>
        </p:spPr>
        <p:txBody>
          <a:bodyPr wrap="square" lIns="0" tIns="0" rIns="0" bIns="0" rtlCol="0" anchor="ctr"/>
          <a:lstStyle/>
          <a:p>
            <a:pPr marL="0" indent="0" algn="r">
              <a:lnSpc>
                <a:spcPct val="130000"/>
              </a:lnSpc>
              <a:buNone/>
            </a:pPr>
            <a:r>
              <a:rPr lang="en-US" sz="1350" dirty="0">
                <a:solidFill>
                  <a:srgbClr val="5C6B73"/>
                </a:solidFill>
                <a:latin typeface="Calibri" pitchFamily="34" charset="0"/>
                <a:ea typeface="Calibri" pitchFamily="34" charset="-122"/>
                <a:cs typeface="Calibri" pitchFamily="34" charset="-120"/>
              </a:rPr>
              <a:t>راکتورهای ایده‌آل (اختلاط کامل یا جریان قالبی محض) نقاط مرجع ریاضی هستند، اما راکتورهای واقعی به دلیل نواحی مرده، مسیرهای میان‌بر و پراکندگی محوری از این فرضیات منحرف می‌شوند. توزیع زمان ماند (RTD) ابزار اصلی برای کمی‌سازی این انحراف است.</a:t>
            </a:r>
            <a:endParaRPr lang="en-US" sz="1350" dirty="0"/>
          </a:p>
        </p:txBody>
      </p:sp>
      <p:sp>
        <p:nvSpPr>
          <p:cNvPr id="6" name="Shape 4"/>
          <p:cNvSpPr/>
          <p:nvPr/>
        </p:nvSpPr>
        <p:spPr>
          <a:xfrm>
            <a:off x="8995181" y="2834640"/>
            <a:ext cx="2556434" cy="2331720"/>
          </a:xfrm>
          <a:prstGeom prst="roundRect">
            <a:avLst>
              <a:gd name="adj" fmla="val 3137"/>
            </a:avLst>
          </a:prstGeom>
          <a:solidFill>
            <a:srgbClr val="0B2545"/>
          </a:solidFill>
          <a:ln/>
        </p:spPr>
      </p:sp>
      <p:sp>
        <p:nvSpPr>
          <p:cNvPr id="7" name="Shape 5"/>
          <p:cNvSpPr/>
          <p:nvPr/>
        </p:nvSpPr>
        <p:spPr>
          <a:xfrm>
            <a:off x="10044798" y="3063240"/>
            <a:ext cx="457200" cy="457200"/>
          </a:xfrm>
          <a:prstGeom prst="ellipse">
            <a:avLst/>
          </a:prstGeom>
          <a:solidFill>
            <a:srgbClr val="0E7C7B"/>
          </a:solidFill>
          <a:ln/>
        </p:spPr>
      </p:sp>
      <p:pic>
        <p:nvPicPr>
          <p:cNvPr id="8" name="Image 0" descr="/home/claude/reactor_pptx/icons/checkcircle_white.png"/>
          <p:cNvPicPr>
            <a:picLocks noChangeAspect="1"/>
          </p:cNvPicPr>
          <p:nvPr/>
        </p:nvPicPr>
        <p:blipFill>
          <a:blip r:embed="rId3"/>
          <a:stretch>
            <a:fillRect/>
          </a:stretch>
        </p:blipFill>
        <p:spPr>
          <a:xfrm>
            <a:off x="10163670" y="3182112"/>
            <a:ext cx="219456" cy="219456"/>
          </a:xfrm>
          <a:prstGeom prst="rect">
            <a:avLst/>
          </a:prstGeom>
        </p:spPr>
      </p:pic>
      <p:sp>
        <p:nvSpPr>
          <p:cNvPr id="9" name="Text 6"/>
          <p:cNvSpPr/>
          <p:nvPr/>
        </p:nvSpPr>
        <p:spPr>
          <a:xfrm>
            <a:off x="9132341" y="3657600"/>
            <a:ext cx="2282114" cy="50292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اختلاط کامل ایده‌آل</a:t>
            </a:r>
            <a:endParaRPr lang="en-US" sz="1150" dirty="0"/>
          </a:p>
        </p:txBody>
      </p:sp>
      <p:sp>
        <p:nvSpPr>
          <p:cNvPr id="10" name="Text 7"/>
          <p:cNvSpPr/>
          <p:nvPr/>
        </p:nvSpPr>
        <p:spPr>
          <a:xfrm>
            <a:off x="9159773" y="4160520"/>
            <a:ext cx="2227250" cy="640080"/>
          </a:xfrm>
          <a:prstGeom prst="rect">
            <a:avLst/>
          </a:prstGeom>
          <a:noFill/>
          <a:ln/>
        </p:spPr>
        <p:txBody>
          <a:bodyPr wrap="square" lIns="0" tIns="0" rIns="0" bIns="0" rtlCol="0" anchor="ctr"/>
          <a:lstStyle/>
          <a:p>
            <a:pPr marL="0" indent="0" algn="ctr">
              <a:lnSpc>
                <a:spcPct val="120000"/>
              </a:lnSpc>
              <a:buNone/>
            </a:pPr>
            <a:r>
              <a:rPr lang="en-US" sz="930" dirty="0">
                <a:solidFill>
                  <a:srgbClr val="C7D9EE"/>
                </a:solidFill>
                <a:latin typeface="Calibri" pitchFamily="34" charset="0"/>
                <a:ea typeface="Calibri" pitchFamily="34" charset="-122"/>
                <a:cs typeface="Calibri" pitchFamily="34" charset="-120"/>
              </a:rPr>
              <a:t>اختلاط فوری و کامل در کل حجم راکتور</a:t>
            </a:r>
            <a:endParaRPr lang="en-US" sz="930" dirty="0"/>
          </a:p>
        </p:txBody>
      </p:sp>
      <p:sp>
        <p:nvSpPr>
          <p:cNvPr id="11" name="Text 8"/>
          <p:cNvSpPr/>
          <p:nvPr/>
        </p:nvSpPr>
        <p:spPr>
          <a:xfrm>
            <a:off x="9159773" y="4846320"/>
            <a:ext cx="2227250" cy="274320"/>
          </a:xfrm>
          <a:prstGeom prst="rect">
            <a:avLst/>
          </a:prstGeom>
          <a:noFill/>
          <a:ln/>
        </p:spPr>
        <p:txBody>
          <a:bodyPr wrap="square" lIns="0" tIns="0" rIns="0" bIns="0" rtlCol="0" anchor="ctr"/>
          <a:lstStyle/>
          <a:p>
            <a:pPr marL="0" indent="0" algn="ctr">
              <a:buNone/>
            </a:pPr>
            <a:r>
              <a:rPr lang="en-US" sz="900" b="1" dirty="0">
                <a:solidFill>
                  <a:srgbClr val="D98E3F"/>
                </a:solidFill>
                <a:latin typeface="Calibri" pitchFamily="34" charset="0"/>
                <a:ea typeface="Calibri" pitchFamily="34" charset="-122"/>
                <a:cs typeface="Calibri" pitchFamily="34" charset="-120"/>
              </a:rPr>
              <a:t>تخمین اولیه حجم CSTR</a:t>
            </a:r>
            <a:endParaRPr lang="en-US" sz="900" dirty="0"/>
          </a:p>
        </p:txBody>
      </p:sp>
      <p:sp>
        <p:nvSpPr>
          <p:cNvPr id="12" name="Shape 9"/>
          <p:cNvSpPr/>
          <p:nvPr/>
        </p:nvSpPr>
        <p:spPr>
          <a:xfrm>
            <a:off x="6210148" y="2834640"/>
            <a:ext cx="2556434" cy="2331720"/>
          </a:xfrm>
          <a:prstGeom prst="roundRect">
            <a:avLst>
              <a:gd name="adj" fmla="val 3137"/>
            </a:avLst>
          </a:prstGeom>
          <a:solidFill>
            <a:srgbClr val="0B2545"/>
          </a:solidFill>
          <a:ln/>
        </p:spPr>
      </p:sp>
      <p:sp>
        <p:nvSpPr>
          <p:cNvPr id="13" name="Shape 10"/>
          <p:cNvSpPr/>
          <p:nvPr/>
        </p:nvSpPr>
        <p:spPr>
          <a:xfrm>
            <a:off x="7259765" y="3063240"/>
            <a:ext cx="457200" cy="457200"/>
          </a:xfrm>
          <a:prstGeom prst="ellipse">
            <a:avLst/>
          </a:prstGeom>
          <a:solidFill>
            <a:srgbClr val="0E7C7B"/>
          </a:solidFill>
          <a:ln/>
        </p:spPr>
      </p:sp>
      <p:pic>
        <p:nvPicPr>
          <p:cNvPr id="14" name="Image 1" descr="/home/claude/reactor_pptx/icons/arrowsh_white.png"/>
          <p:cNvPicPr>
            <a:picLocks noChangeAspect="1"/>
          </p:cNvPicPr>
          <p:nvPr/>
        </p:nvPicPr>
        <p:blipFill>
          <a:blip r:embed="rId4"/>
          <a:stretch>
            <a:fillRect/>
          </a:stretch>
        </p:blipFill>
        <p:spPr>
          <a:xfrm>
            <a:off x="7378637" y="3182112"/>
            <a:ext cx="219456" cy="219456"/>
          </a:xfrm>
          <a:prstGeom prst="rect">
            <a:avLst/>
          </a:prstGeom>
        </p:spPr>
      </p:pic>
      <p:sp>
        <p:nvSpPr>
          <p:cNvPr id="15" name="Text 11"/>
          <p:cNvSpPr/>
          <p:nvPr/>
        </p:nvSpPr>
        <p:spPr>
          <a:xfrm>
            <a:off x="6347308" y="3657600"/>
            <a:ext cx="2282114" cy="50292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جریان قالبی ایده‌آل</a:t>
            </a:r>
            <a:endParaRPr lang="en-US" sz="1150" dirty="0"/>
          </a:p>
        </p:txBody>
      </p:sp>
      <p:sp>
        <p:nvSpPr>
          <p:cNvPr id="16" name="Text 12"/>
          <p:cNvSpPr/>
          <p:nvPr/>
        </p:nvSpPr>
        <p:spPr>
          <a:xfrm>
            <a:off x="6374740" y="4160520"/>
            <a:ext cx="2227250" cy="640080"/>
          </a:xfrm>
          <a:prstGeom prst="rect">
            <a:avLst/>
          </a:prstGeom>
          <a:noFill/>
          <a:ln/>
        </p:spPr>
        <p:txBody>
          <a:bodyPr wrap="square" lIns="0" tIns="0" rIns="0" bIns="0" rtlCol="0" anchor="ctr"/>
          <a:lstStyle/>
          <a:p>
            <a:pPr marL="0" indent="0" algn="ctr">
              <a:lnSpc>
                <a:spcPct val="120000"/>
              </a:lnSpc>
              <a:buNone/>
            </a:pPr>
            <a:r>
              <a:rPr lang="en-US" sz="930" dirty="0">
                <a:solidFill>
                  <a:srgbClr val="C7D9EE"/>
                </a:solidFill>
                <a:latin typeface="Calibri" pitchFamily="34" charset="0"/>
                <a:ea typeface="Calibri" pitchFamily="34" charset="-122"/>
                <a:cs typeface="Calibri" pitchFamily="34" charset="-120"/>
              </a:rPr>
              <a:t>بدون اختلاط محوری در طول مسیر</a:t>
            </a:r>
            <a:endParaRPr lang="en-US" sz="930" dirty="0"/>
          </a:p>
        </p:txBody>
      </p:sp>
      <p:sp>
        <p:nvSpPr>
          <p:cNvPr id="17" name="Text 13"/>
          <p:cNvSpPr/>
          <p:nvPr/>
        </p:nvSpPr>
        <p:spPr>
          <a:xfrm>
            <a:off x="6374740" y="4846320"/>
            <a:ext cx="2227250" cy="274320"/>
          </a:xfrm>
          <a:prstGeom prst="rect">
            <a:avLst/>
          </a:prstGeom>
          <a:noFill/>
          <a:ln/>
        </p:spPr>
        <p:txBody>
          <a:bodyPr wrap="square" lIns="0" tIns="0" rIns="0" bIns="0" rtlCol="0" anchor="ctr"/>
          <a:lstStyle/>
          <a:p>
            <a:pPr marL="0" indent="0" algn="ctr">
              <a:buNone/>
            </a:pPr>
            <a:r>
              <a:rPr lang="en-US" sz="900" b="1" dirty="0">
                <a:solidFill>
                  <a:srgbClr val="D98E3F"/>
                </a:solidFill>
                <a:latin typeface="Calibri" pitchFamily="34" charset="0"/>
                <a:ea typeface="Calibri" pitchFamily="34" charset="-122"/>
                <a:cs typeface="Calibri" pitchFamily="34" charset="-120"/>
              </a:rPr>
              <a:t>تخمین اولیه حجم و طول PFR</a:t>
            </a:r>
            <a:endParaRPr lang="en-US" sz="900" dirty="0"/>
          </a:p>
        </p:txBody>
      </p:sp>
      <p:sp>
        <p:nvSpPr>
          <p:cNvPr id="18" name="Shape 14"/>
          <p:cNvSpPr/>
          <p:nvPr/>
        </p:nvSpPr>
        <p:spPr>
          <a:xfrm>
            <a:off x="3425114" y="2834640"/>
            <a:ext cx="2556434" cy="2331720"/>
          </a:xfrm>
          <a:prstGeom prst="roundRect">
            <a:avLst>
              <a:gd name="adj" fmla="val 3137"/>
            </a:avLst>
          </a:prstGeom>
          <a:solidFill>
            <a:srgbClr val="0B2545"/>
          </a:solidFill>
          <a:ln/>
        </p:spPr>
      </p:sp>
      <p:sp>
        <p:nvSpPr>
          <p:cNvPr id="19" name="Shape 15"/>
          <p:cNvSpPr/>
          <p:nvPr/>
        </p:nvSpPr>
        <p:spPr>
          <a:xfrm>
            <a:off x="4474731" y="3063240"/>
            <a:ext cx="457200" cy="457200"/>
          </a:xfrm>
          <a:prstGeom prst="ellipse">
            <a:avLst/>
          </a:prstGeom>
          <a:solidFill>
            <a:srgbClr val="0E7C7B"/>
          </a:solidFill>
          <a:ln/>
        </p:spPr>
      </p:sp>
      <p:pic>
        <p:nvPicPr>
          <p:cNvPr id="20" name="Image 2" descr="/home/claude/reactor_pptx/icons/exchange_white.png"/>
          <p:cNvPicPr>
            <a:picLocks noChangeAspect="1"/>
          </p:cNvPicPr>
          <p:nvPr/>
        </p:nvPicPr>
        <p:blipFill>
          <a:blip r:embed="rId5"/>
          <a:stretch>
            <a:fillRect/>
          </a:stretch>
        </p:blipFill>
        <p:spPr>
          <a:xfrm>
            <a:off x="4593603" y="3182112"/>
            <a:ext cx="219456" cy="219456"/>
          </a:xfrm>
          <a:prstGeom prst="rect">
            <a:avLst/>
          </a:prstGeom>
        </p:spPr>
      </p:pic>
      <p:sp>
        <p:nvSpPr>
          <p:cNvPr id="21" name="Text 16"/>
          <p:cNvSpPr/>
          <p:nvPr/>
        </p:nvSpPr>
        <p:spPr>
          <a:xfrm>
            <a:off x="3562274" y="3657600"/>
            <a:ext cx="2282114" cy="50292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مدل پراکندگی محوری</a:t>
            </a:r>
            <a:endParaRPr lang="en-US" sz="1150" dirty="0"/>
          </a:p>
        </p:txBody>
      </p:sp>
      <p:sp>
        <p:nvSpPr>
          <p:cNvPr id="22" name="Text 17"/>
          <p:cNvSpPr/>
          <p:nvPr/>
        </p:nvSpPr>
        <p:spPr>
          <a:xfrm>
            <a:off x="3589706" y="4160520"/>
            <a:ext cx="2227250" cy="640080"/>
          </a:xfrm>
          <a:prstGeom prst="rect">
            <a:avLst/>
          </a:prstGeom>
          <a:noFill/>
          <a:ln/>
        </p:spPr>
        <p:txBody>
          <a:bodyPr wrap="square" lIns="0" tIns="0" rIns="0" bIns="0" rtlCol="0" anchor="ctr"/>
          <a:lstStyle/>
          <a:p>
            <a:pPr marL="0" indent="0" algn="ctr">
              <a:lnSpc>
                <a:spcPct val="120000"/>
              </a:lnSpc>
              <a:buNone/>
            </a:pPr>
            <a:r>
              <a:rPr lang="en-US" sz="930" dirty="0">
                <a:solidFill>
                  <a:srgbClr val="C7D9EE"/>
                </a:solidFill>
                <a:latin typeface="Calibri" pitchFamily="34" charset="0"/>
                <a:ea typeface="Calibri" pitchFamily="34" charset="-122"/>
                <a:cs typeface="Calibri" pitchFamily="34" charset="-120"/>
              </a:rPr>
              <a:t>اختلاط محوری محدود با ضریب پراکندگی مؤثر</a:t>
            </a:r>
            <a:endParaRPr lang="en-US" sz="930" dirty="0"/>
          </a:p>
        </p:txBody>
      </p:sp>
      <p:sp>
        <p:nvSpPr>
          <p:cNvPr id="23" name="Text 18"/>
          <p:cNvSpPr/>
          <p:nvPr/>
        </p:nvSpPr>
        <p:spPr>
          <a:xfrm>
            <a:off x="3589706" y="4846320"/>
            <a:ext cx="2227250" cy="274320"/>
          </a:xfrm>
          <a:prstGeom prst="rect">
            <a:avLst/>
          </a:prstGeom>
          <a:noFill/>
          <a:ln/>
        </p:spPr>
        <p:txBody>
          <a:bodyPr wrap="square" lIns="0" tIns="0" rIns="0" bIns="0" rtlCol="0" anchor="ctr"/>
          <a:lstStyle/>
          <a:p>
            <a:pPr marL="0" indent="0" algn="ctr">
              <a:buNone/>
            </a:pPr>
            <a:r>
              <a:rPr lang="en-US" sz="900" b="1" dirty="0">
                <a:solidFill>
                  <a:srgbClr val="D98E3F"/>
                </a:solidFill>
                <a:latin typeface="Calibri" pitchFamily="34" charset="0"/>
                <a:ea typeface="Calibri" pitchFamily="34" charset="-122"/>
                <a:cs typeface="Calibri" pitchFamily="34" charset="-120"/>
              </a:rPr>
              <a:t>اصلاح رفتار PFR واقعی</a:t>
            </a:r>
            <a:endParaRPr lang="en-US" sz="900" dirty="0"/>
          </a:p>
        </p:txBody>
      </p:sp>
      <p:sp>
        <p:nvSpPr>
          <p:cNvPr id="24" name="Shape 19"/>
          <p:cNvSpPr/>
          <p:nvPr/>
        </p:nvSpPr>
        <p:spPr>
          <a:xfrm>
            <a:off x="640080" y="2834640"/>
            <a:ext cx="2556434" cy="2331720"/>
          </a:xfrm>
          <a:prstGeom prst="roundRect">
            <a:avLst>
              <a:gd name="adj" fmla="val 3137"/>
            </a:avLst>
          </a:prstGeom>
          <a:solidFill>
            <a:srgbClr val="0B2545"/>
          </a:solidFill>
          <a:ln/>
        </p:spPr>
      </p:sp>
      <p:sp>
        <p:nvSpPr>
          <p:cNvPr id="25" name="Shape 20"/>
          <p:cNvSpPr/>
          <p:nvPr/>
        </p:nvSpPr>
        <p:spPr>
          <a:xfrm>
            <a:off x="1689697" y="3063240"/>
            <a:ext cx="457200" cy="457200"/>
          </a:xfrm>
          <a:prstGeom prst="ellipse">
            <a:avLst/>
          </a:prstGeom>
          <a:solidFill>
            <a:srgbClr val="0E7C7B"/>
          </a:solidFill>
          <a:ln/>
        </p:spPr>
      </p:sp>
      <p:pic>
        <p:nvPicPr>
          <p:cNvPr id="26" name="Image 3" descr="/home/claude/reactor_pptx/icons/layergroup_white.png"/>
          <p:cNvPicPr>
            <a:picLocks noChangeAspect="1"/>
          </p:cNvPicPr>
          <p:nvPr/>
        </p:nvPicPr>
        <p:blipFill>
          <a:blip r:embed="rId6"/>
          <a:stretch>
            <a:fillRect/>
          </a:stretch>
        </p:blipFill>
        <p:spPr>
          <a:xfrm>
            <a:off x="1808569" y="3182112"/>
            <a:ext cx="219456" cy="219456"/>
          </a:xfrm>
          <a:prstGeom prst="rect">
            <a:avLst/>
          </a:prstGeom>
        </p:spPr>
      </p:pic>
      <p:sp>
        <p:nvSpPr>
          <p:cNvPr id="27" name="Text 21"/>
          <p:cNvSpPr/>
          <p:nvPr/>
        </p:nvSpPr>
        <p:spPr>
          <a:xfrm>
            <a:off x="777240" y="3657600"/>
            <a:ext cx="2282114" cy="50292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مدل مخازن در سری</a:t>
            </a:r>
            <a:endParaRPr lang="en-US" sz="1150" dirty="0"/>
          </a:p>
        </p:txBody>
      </p:sp>
      <p:sp>
        <p:nvSpPr>
          <p:cNvPr id="28" name="Text 22"/>
          <p:cNvSpPr/>
          <p:nvPr/>
        </p:nvSpPr>
        <p:spPr>
          <a:xfrm>
            <a:off x="804672" y="4160520"/>
            <a:ext cx="2227250" cy="640080"/>
          </a:xfrm>
          <a:prstGeom prst="rect">
            <a:avLst/>
          </a:prstGeom>
          <a:noFill/>
          <a:ln/>
        </p:spPr>
        <p:txBody>
          <a:bodyPr wrap="square" lIns="0" tIns="0" rIns="0" bIns="0" rtlCol="0" anchor="ctr"/>
          <a:lstStyle/>
          <a:p>
            <a:pPr marL="0" indent="0" algn="ctr">
              <a:lnSpc>
                <a:spcPct val="120000"/>
              </a:lnSpc>
              <a:buNone/>
            </a:pPr>
            <a:r>
              <a:rPr lang="en-US" sz="930" dirty="0">
                <a:solidFill>
                  <a:srgbClr val="C7D9EE"/>
                </a:solidFill>
                <a:latin typeface="Calibri" pitchFamily="34" charset="0"/>
                <a:ea typeface="Calibri" pitchFamily="34" charset="-122"/>
                <a:cs typeface="Calibri" pitchFamily="34" charset="-120"/>
              </a:rPr>
              <a:t>تعداد محدودی مخزن اختلاط کامل به‌صورت سری</a:t>
            </a:r>
            <a:endParaRPr lang="en-US" sz="930" dirty="0"/>
          </a:p>
        </p:txBody>
      </p:sp>
      <p:sp>
        <p:nvSpPr>
          <p:cNvPr id="29" name="Text 23"/>
          <p:cNvSpPr/>
          <p:nvPr/>
        </p:nvSpPr>
        <p:spPr>
          <a:xfrm>
            <a:off x="804672" y="4846320"/>
            <a:ext cx="2227250" cy="274320"/>
          </a:xfrm>
          <a:prstGeom prst="rect">
            <a:avLst/>
          </a:prstGeom>
          <a:noFill/>
          <a:ln/>
        </p:spPr>
        <p:txBody>
          <a:bodyPr wrap="square" lIns="0" tIns="0" rIns="0" bIns="0" rtlCol="0" anchor="ctr"/>
          <a:lstStyle/>
          <a:p>
            <a:pPr marL="0" indent="0" algn="ctr">
              <a:buNone/>
            </a:pPr>
            <a:r>
              <a:rPr lang="en-US" sz="900" b="1" dirty="0">
                <a:solidFill>
                  <a:srgbClr val="D98E3F"/>
                </a:solidFill>
                <a:latin typeface="Calibri" pitchFamily="34" charset="0"/>
                <a:ea typeface="Calibri" pitchFamily="34" charset="-122"/>
                <a:cs typeface="Calibri" pitchFamily="34" charset="-120"/>
              </a:rPr>
              <a:t>اصلاح رفتار راکتورهای بینابینی</a:t>
            </a:r>
            <a:endParaRPr lang="en-US" sz="900" dirty="0"/>
          </a:p>
        </p:txBody>
      </p:sp>
      <p:sp>
        <p:nvSpPr>
          <p:cNvPr id="30" name="Text 24"/>
          <p:cNvSpPr/>
          <p:nvPr/>
        </p:nvSpPr>
        <p:spPr>
          <a:xfrm>
            <a:off x="640080" y="5486400"/>
            <a:ext cx="10911535" cy="457200"/>
          </a:xfrm>
          <a:prstGeom prst="rect">
            <a:avLst/>
          </a:prstGeom>
          <a:noFill/>
          <a:ln/>
        </p:spPr>
        <p:txBody>
          <a:bodyPr wrap="square" lIns="0" tIns="0" rIns="0" bIns="0" rtlCol="0" anchor="ctr"/>
          <a:lstStyle/>
          <a:p>
            <a:pPr marL="0" indent="0" algn="r">
              <a:buNone/>
            </a:pPr>
            <a:r>
              <a:rPr lang="en-US" sz="1150" i="1" dirty="0">
                <a:solidFill>
                  <a:srgbClr val="5C6B73"/>
                </a:solidFill>
                <a:latin typeface="Calibri" pitchFamily="34" charset="0"/>
                <a:ea typeface="Calibri" pitchFamily="34" charset="-122"/>
                <a:cs typeface="Calibri" pitchFamily="34" charset="-120"/>
              </a:rPr>
              <a:t>کاربرد عملی: کانال‌زنی در بسترهای ثابت با قطر بزرگ و نواحی مرده در مخازن همزن‌دار صنعتی، نمونه‌های رایج انحراف از رفتار ایده‌آل در صنعت‌اند.</a:t>
            </a:r>
            <a:endParaRPr lang="en-US" sz="1150" dirty="0"/>
          </a:p>
        </p:txBody>
      </p:sp>
      <p:sp>
        <p:nvSpPr>
          <p:cNvPr id="31" name="Text 2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20</a:t>
            </a:r>
            <a:endParaRPr lang="en-US" sz="1000" dirty="0"/>
          </a:p>
        </p:txBody>
      </p:sp>
      <p:sp>
        <p:nvSpPr>
          <p:cNvPr id="32" name="Text 2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144000" y="-1645920"/>
            <a:ext cx="5029200" cy="5029200"/>
          </a:xfrm>
          <a:prstGeom prst="ellipse">
            <a:avLst/>
          </a:prstGeom>
          <a:solidFill>
            <a:srgbClr val="112C52"/>
          </a:solidFill>
          <a:ln/>
        </p:spPr>
      </p:sp>
      <p:sp>
        <p:nvSpPr>
          <p:cNvPr id="3" name="Shape 1"/>
          <p:cNvSpPr/>
          <p:nvPr/>
        </p:nvSpPr>
        <p:spPr>
          <a:xfrm>
            <a:off x="-1828800" y="4572000"/>
            <a:ext cx="3657600" cy="3657600"/>
          </a:xfrm>
          <a:prstGeom prst="ellipse">
            <a:avLst/>
          </a:prstGeom>
          <a:solidFill>
            <a:srgbClr val="16396B"/>
          </a:solidFill>
          <a:ln/>
        </p:spPr>
      </p:sp>
      <p:sp>
        <p:nvSpPr>
          <p:cNvPr id="4" name="Text 2"/>
          <p:cNvSpPr/>
          <p:nvPr/>
        </p:nvSpPr>
        <p:spPr>
          <a:xfrm>
            <a:off x="822960" y="2011680"/>
            <a:ext cx="5486400" cy="457200"/>
          </a:xfrm>
          <a:prstGeom prst="rect">
            <a:avLst/>
          </a:prstGeom>
          <a:noFill/>
          <a:ln/>
        </p:spPr>
        <p:txBody>
          <a:bodyPr wrap="square" lIns="0" tIns="0" rIns="0" bIns="0" rtlCol="0" anchor="ctr"/>
          <a:lstStyle/>
          <a:p>
            <a:pPr marL="0" indent="0" algn="r">
              <a:buNone/>
            </a:pPr>
            <a:r>
              <a:rPr lang="en-US" sz="1600" b="1" kern="0" spc="100" dirty="0">
                <a:solidFill>
                  <a:srgbClr val="D98E3F"/>
                </a:solidFill>
                <a:latin typeface="Calibri" pitchFamily="34" charset="0"/>
                <a:ea typeface="Calibri" pitchFamily="34" charset="-122"/>
                <a:cs typeface="Calibri" pitchFamily="34" charset="-120"/>
              </a:rPr>
              <a:t>فصل ششم</a:t>
            </a:r>
            <a:endParaRPr lang="en-US" sz="1600" dirty="0"/>
          </a:p>
        </p:txBody>
      </p:sp>
      <p:sp>
        <p:nvSpPr>
          <p:cNvPr id="5" name="Text 3"/>
          <p:cNvSpPr/>
          <p:nvPr/>
        </p:nvSpPr>
        <p:spPr>
          <a:xfrm>
            <a:off x="822960" y="2468880"/>
            <a:ext cx="9875520" cy="1097280"/>
          </a:xfrm>
          <a:prstGeom prst="rect">
            <a:avLst/>
          </a:prstGeom>
          <a:noFill/>
          <a:ln/>
        </p:spPr>
        <p:txBody>
          <a:bodyPr wrap="square" lIns="0" tIns="0" rIns="0" bIns="0" rtlCol="0" anchor="ctr"/>
          <a:lstStyle/>
          <a:p>
            <a:pPr marL="0" indent="0" algn="r">
              <a:buNone/>
            </a:pPr>
            <a:r>
              <a:rPr lang="en-US" sz="3800" b="1" dirty="0">
                <a:solidFill>
                  <a:srgbClr val="FFFFFF"/>
                </a:solidFill>
                <a:latin typeface="Calibri" pitchFamily="34" charset="0"/>
                <a:ea typeface="Calibri" pitchFamily="34" charset="-122"/>
                <a:cs typeface="Calibri" pitchFamily="34" charset="-120"/>
              </a:rPr>
              <a:t>جنس راکتورها بر اساس محیط واکنش</a:t>
            </a:r>
            <a:endParaRPr lang="en-US" sz="3800" dirty="0"/>
          </a:p>
        </p:txBody>
      </p:sp>
      <p:sp>
        <p:nvSpPr>
          <p:cNvPr id="6" name="Text 4"/>
          <p:cNvSpPr/>
          <p:nvPr/>
        </p:nvSpPr>
        <p:spPr>
          <a:xfrm>
            <a:off x="822960" y="3429000"/>
            <a:ext cx="8686800" cy="548640"/>
          </a:xfrm>
          <a:prstGeom prst="rect">
            <a:avLst/>
          </a:prstGeom>
          <a:noFill/>
          <a:ln/>
        </p:spPr>
        <p:txBody>
          <a:bodyPr wrap="square" lIns="0" tIns="0" rIns="0" bIns="0" rtlCol="0" anchor="ctr"/>
          <a:lstStyle/>
          <a:p>
            <a:pPr marL="0" indent="0" algn="r">
              <a:buNone/>
            </a:pPr>
            <a:r>
              <a:rPr lang="en-US" sz="1600" dirty="0">
                <a:solidFill>
                  <a:srgbClr val="C7D9EE"/>
                </a:solidFill>
                <a:latin typeface="Calibri" pitchFamily="34" charset="0"/>
                <a:ea typeface="Calibri" pitchFamily="34" charset="-122"/>
                <a:cs typeface="Calibri" pitchFamily="34" charset="-120"/>
              </a:rPr>
              <a:t>از فولاد کربنی اقتصادی تا آلیاژهای ویژه مقاوم</a:t>
            </a:r>
            <a:endParaRPr lang="en-US" sz="1600" dirty="0"/>
          </a:p>
        </p:txBody>
      </p:sp>
      <p:pic>
        <p:nvPicPr>
          <p:cNvPr id="7" name="Image 0" descr="/home/claude/reactor_pptx/icons/cube_teal.png"/>
          <p:cNvPicPr>
            <a:picLocks noChangeAspect="1"/>
          </p:cNvPicPr>
          <p:nvPr/>
        </p:nvPicPr>
        <p:blipFill>
          <a:blip r:embed="rId3"/>
          <a:stretch>
            <a:fillRect/>
          </a:stretch>
        </p:blipFill>
        <p:spPr>
          <a:xfrm>
            <a:off x="9814255" y="4297680"/>
            <a:ext cx="1188720" cy="1188720"/>
          </a:xfrm>
          <a:prstGeom prst="rect">
            <a:avLst/>
          </a:prstGeom>
        </p:spPr>
      </p:pic>
      <p:sp>
        <p:nvSpPr>
          <p:cNvPr id="8" name="Text 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8096B0"/>
                </a:solidFill>
                <a:latin typeface="Calibri" pitchFamily="34" charset="0"/>
                <a:ea typeface="Calibri" pitchFamily="34" charset="-122"/>
                <a:cs typeface="Calibri" pitchFamily="34" charset="-120"/>
              </a:rPr>
              <a:t>21</a:t>
            </a:r>
            <a:endParaRPr lang="en-US" sz="1000" dirty="0"/>
          </a:p>
        </p:txBody>
      </p:sp>
      <p:sp>
        <p:nvSpPr>
          <p:cNvPr id="9" name="Text 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8096B0"/>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73736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۶-۱ تا ۶-۱۰</a:t>
            </a:r>
            <a:endParaRPr lang="en-US" sz="1600" dirty="0"/>
          </a:p>
        </p:txBody>
      </p:sp>
      <p:sp>
        <p:nvSpPr>
          <p:cNvPr id="3" name="Text 1"/>
          <p:cNvSpPr/>
          <p:nvPr/>
        </p:nvSpPr>
        <p:spPr>
          <a:xfrm>
            <a:off x="1645920" y="502920"/>
            <a:ext cx="990569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انتخاب جنس بر اساس محیط خورنده</a:t>
            </a:r>
            <a:endParaRPr lang="en-US" sz="1300" dirty="0"/>
          </a:p>
        </p:txBody>
      </p:sp>
      <p:sp>
        <p:nvSpPr>
          <p:cNvPr id="4" name="Text 2"/>
          <p:cNvSpPr/>
          <p:nvPr/>
        </p:nvSpPr>
        <p:spPr>
          <a:xfrm>
            <a:off x="1645920" y="841248"/>
            <a:ext cx="990569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هفت دسته اصلی مواد سازنده راکتور</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3931920"/>
        </p:xfrm>
        <a:graphic>
          <a:graphicData uri="http://schemas.openxmlformats.org/drawingml/2006/table">
            <a:tbl>
              <a:tblPr/>
              <a:tblGrid>
                <a:gridCol w="3709922">
                  <a:extLst>
                    <a:ext uri="{9D8B030D-6E8A-4147-A177-3AD203B41FA5}">
                      <a16:colId xmlns:a16="http://schemas.microsoft.com/office/drawing/2014/main" val="20000"/>
                    </a:ext>
                  </a:extLst>
                </a:gridCol>
                <a:gridCol w="2400538">
                  <a:extLst>
                    <a:ext uri="{9D8B030D-6E8A-4147-A177-3AD203B41FA5}">
                      <a16:colId xmlns:a16="http://schemas.microsoft.com/office/drawing/2014/main" val="20001"/>
                    </a:ext>
                  </a:extLst>
                </a:gridCol>
                <a:gridCol w="2618768">
                  <a:extLst>
                    <a:ext uri="{9D8B030D-6E8A-4147-A177-3AD203B41FA5}">
                      <a16:colId xmlns:a16="http://schemas.microsoft.com/office/drawing/2014/main" val="20002"/>
                    </a:ext>
                  </a:extLst>
                </a:gridCol>
                <a:gridCol w="2182307">
                  <a:extLst>
                    <a:ext uri="{9D8B030D-6E8A-4147-A177-3AD203B41FA5}">
                      <a16:colId xmlns:a16="http://schemas.microsoft.com/office/drawing/2014/main" val="20003"/>
                    </a:ext>
                  </a:extLst>
                </a:gridCol>
              </a:tblGrid>
              <a:tr h="491490">
                <a:tc>
                  <a:txBody>
                    <a:bodyPr/>
                    <a:lstStyle/>
                    <a:p>
                      <a:pPr marL="0" indent="0" algn="r">
                        <a:buNone/>
                      </a:pPr>
                      <a:r>
                        <a:rPr lang="en-US" sz="1150" b="1" dirty="0">
                          <a:solidFill>
                            <a:srgbClr val="FFFFFF"/>
                          </a:solidFill>
                        </a:rPr>
                        <a:t>کاربرد نمونه</a:t>
                      </a:r>
                      <a:endParaRPr lang="en-US" sz="115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B2545"/>
                    </a:solidFill>
                  </a:tcPr>
                </a:tc>
                <a:tc>
                  <a:txBody>
                    <a:bodyPr/>
                    <a:lstStyle/>
                    <a:p>
                      <a:pPr marL="0" indent="0" algn="ctr">
                        <a:buNone/>
                      </a:pPr>
                      <a:r>
                        <a:rPr lang="en-US" sz="1150" b="1" dirty="0">
                          <a:solidFill>
                            <a:srgbClr val="FFFFFF"/>
                          </a:solidFill>
                        </a:rPr>
                        <a:t>هزینه نسبی</a:t>
                      </a:r>
                      <a:endParaRPr lang="en-US" sz="115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B2545"/>
                    </a:solidFill>
                  </a:tcPr>
                </a:tc>
                <a:tc>
                  <a:txBody>
                    <a:bodyPr/>
                    <a:lstStyle/>
                    <a:p>
                      <a:pPr marL="0" indent="0" algn="ctr">
                        <a:buNone/>
                      </a:pPr>
                      <a:r>
                        <a:rPr lang="en-US" sz="1150" b="1" dirty="0">
                          <a:solidFill>
                            <a:srgbClr val="FFFFFF"/>
                          </a:solidFill>
                        </a:rPr>
                        <a:t>مقاومت خوردگی</a:t>
                      </a:r>
                      <a:endParaRPr lang="en-US" sz="115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B2545"/>
                    </a:solidFill>
                  </a:tcPr>
                </a:tc>
                <a:tc>
                  <a:txBody>
                    <a:bodyPr/>
                    <a:lstStyle/>
                    <a:p>
                      <a:pPr marL="0" indent="0" algn="r">
                        <a:buNone/>
                      </a:pPr>
                      <a:r>
                        <a:rPr lang="en-US" sz="1150" b="1" dirty="0">
                          <a:solidFill>
                            <a:srgbClr val="FFFFFF"/>
                          </a:solidFill>
                        </a:rPr>
                        <a:t>جنس راکتور</a:t>
                      </a:r>
                      <a:endParaRPr lang="en-US" sz="115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91490">
                <a:tc>
                  <a:txBody>
                    <a:bodyPr/>
                    <a:lstStyle/>
                    <a:p>
                      <a:pPr marL="0" indent="0" algn="r">
                        <a:buNone/>
                      </a:pPr>
                      <a:r>
                        <a:rPr lang="en-US" sz="1080" dirty="0">
                          <a:solidFill>
                            <a:srgbClr val="5C6B73"/>
                          </a:solidFill>
                        </a:rPr>
                        <a:t>پتروشیمی غیرخورنده</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ctr">
                        <a:buNone/>
                      </a:pPr>
                      <a:r>
                        <a:rPr lang="en-US" sz="1080" dirty="0">
                          <a:solidFill>
                            <a:srgbClr val="5C6B73"/>
                          </a:solidFill>
                        </a:rPr>
                        <a:t>بسیار پایین</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ctr">
                        <a:buNone/>
                      </a:pPr>
                      <a:r>
                        <a:rPr lang="en-US" sz="1080" dirty="0">
                          <a:solidFill>
                            <a:srgbClr val="5C6B73"/>
                          </a:solidFill>
                        </a:rPr>
                        <a:t>پایین تا متوسط</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080" b="1" dirty="0">
                          <a:solidFill>
                            <a:srgbClr val="1A2433"/>
                          </a:solidFill>
                        </a:rPr>
                        <a:t>فولاد کربنی</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extLst>
                  <a:ext uri="{0D108BD9-81ED-4DB2-BD59-A6C34878D82A}">
                    <a16:rowId xmlns:a16="http://schemas.microsoft.com/office/drawing/2014/main" val="10001"/>
                  </a:ext>
                </a:extLst>
              </a:tr>
              <a:tr h="491490">
                <a:tc>
                  <a:txBody>
                    <a:bodyPr/>
                    <a:lstStyle/>
                    <a:p>
                      <a:pPr marL="0" indent="0" algn="r">
                        <a:buNone/>
                      </a:pPr>
                      <a:r>
                        <a:rPr lang="en-US" sz="1080" dirty="0">
                          <a:solidFill>
                            <a:srgbClr val="5C6B73"/>
                          </a:solidFill>
                        </a:rPr>
                        <a:t>دارویی، غذایی، شیمیایی عمومی</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5C6B73"/>
                          </a:solidFill>
                        </a:rPr>
                        <a:t>متوسط</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5C6B73"/>
                          </a:solidFill>
                        </a:rPr>
                        <a:t>متوسط تا بالا</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080" b="1" dirty="0">
                          <a:solidFill>
                            <a:srgbClr val="1A2433"/>
                          </a:solidFill>
                        </a:rPr>
                        <a:t>فولاد زنگ‌نزن</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1490">
                <a:tc>
                  <a:txBody>
                    <a:bodyPr/>
                    <a:lstStyle/>
                    <a:p>
                      <a:pPr marL="0" indent="0" algn="r">
                        <a:buNone/>
                      </a:pPr>
                      <a:r>
                        <a:rPr lang="en-US" sz="1080" dirty="0">
                          <a:solidFill>
                            <a:srgbClr val="5C6B73"/>
                          </a:solidFill>
                        </a:rPr>
                        <a:t>اسید استیک، اسید فسفریک</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ctr">
                        <a:buNone/>
                      </a:pPr>
                      <a:r>
                        <a:rPr lang="en-US" sz="1080" dirty="0">
                          <a:solidFill>
                            <a:srgbClr val="5C6B73"/>
                          </a:solidFill>
                        </a:rPr>
                        <a:t>بسیار بالا</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ctr">
                        <a:buNone/>
                      </a:pPr>
                      <a:r>
                        <a:rPr lang="en-US" sz="1080" dirty="0">
                          <a:solidFill>
                            <a:srgbClr val="5C6B73"/>
                          </a:solidFill>
                        </a:rPr>
                        <a:t>بسیار بالا</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080" b="1" dirty="0">
                          <a:solidFill>
                            <a:srgbClr val="1A2433"/>
                          </a:solidFill>
                        </a:rPr>
                        <a:t>آلیاژهای نیکل</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extLst>
                  <a:ext uri="{0D108BD9-81ED-4DB2-BD59-A6C34878D82A}">
                    <a16:rowId xmlns:a16="http://schemas.microsoft.com/office/drawing/2014/main" val="10003"/>
                  </a:ext>
                </a:extLst>
              </a:tr>
              <a:tr h="491490">
                <a:tc>
                  <a:txBody>
                    <a:bodyPr/>
                    <a:lstStyle/>
                    <a:p>
                      <a:pPr marL="0" indent="0" algn="r">
                        <a:buNone/>
                      </a:pPr>
                      <a:r>
                        <a:rPr lang="en-US" sz="1080" dirty="0">
                          <a:solidFill>
                            <a:srgbClr val="5C6B73"/>
                          </a:solidFill>
                        </a:rPr>
                        <a:t>فرآیند کلر، آب دریا</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5C6B73"/>
                          </a:solidFill>
                        </a:rPr>
                        <a:t>بالا</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5C6B73"/>
                          </a:solidFill>
                        </a:rPr>
                        <a:t>بسیار بالا (کلراید)</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080" b="1" dirty="0">
                          <a:solidFill>
                            <a:srgbClr val="1A2433"/>
                          </a:solidFill>
                        </a:rPr>
                        <a:t>تیتانیوم</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1490">
                <a:tc>
                  <a:txBody>
                    <a:bodyPr/>
                    <a:lstStyle/>
                    <a:p>
                      <a:pPr marL="0" indent="0" algn="r">
                        <a:buNone/>
                      </a:pPr>
                      <a:r>
                        <a:rPr lang="en-US" sz="1080" dirty="0">
                          <a:solidFill>
                            <a:srgbClr val="5C6B73"/>
                          </a:solidFill>
                        </a:rPr>
                        <a:t>داروسازی، پایلوت</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ctr">
                        <a:buNone/>
                      </a:pPr>
                      <a:r>
                        <a:rPr lang="en-US" sz="1080" dirty="0">
                          <a:solidFill>
                            <a:srgbClr val="5C6B73"/>
                          </a:solidFill>
                        </a:rPr>
                        <a:t>متوسط</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ctr">
                        <a:buNone/>
                      </a:pPr>
                      <a:r>
                        <a:rPr lang="en-US" sz="1080" dirty="0">
                          <a:solidFill>
                            <a:srgbClr val="5C6B73"/>
                          </a:solidFill>
                        </a:rPr>
                        <a:t>بالا (شیمیایی عمومی)</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080" b="1" dirty="0">
                          <a:solidFill>
                            <a:srgbClr val="1A2433"/>
                          </a:solidFill>
                        </a:rPr>
                        <a:t>شیشه</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extLst>
                  <a:ext uri="{0D108BD9-81ED-4DB2-BD59-A6C34878D82A}">
                    <a16:rowId xmlns:a16="http://schemas.microsoft.com/office/drawing/2014/main" val="10005"/>
                  </a:ext>
                </a:extLst>
              </a:tr>
              <a:tr h="491490">
                <a:tc>
                  <a:txBody>
                    <a:bodyPr/>
                    <a:lstStyle/>
                    <a:p>
                      <a:pPr marL="0" indent="0" algn="r">
                        <a:buNone/>
                      </a:pPr>
                      <a:r>
                        <a:rPr lang="en-US" sz="1080" dirty="0">
                          <a:solidFill>
                            <a:srgbClr val="5C6B73"/>
                          </a:solidFill>
                        </a:rPr>
                        <a:t>جایگزین اقتصادی آلیاژ ویژه</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5C6B73"/>
                          </a:solidFill>
                        </a:rPr>
                        <a:t>پایین تا متوسط</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ctr">
                        <a:buNone/>
                      </a:pPr>
                      <a:r>
                        <a:rPr lang="en-US" sz="1080" dirty="0">
                          <a:solidFill>
                            <a:srgbClr val="5C6B73"/>
                          </a:solidFill>
                        </a:rPr>
                        <a:t>بالا (سطح پوشش)</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tc>
                  <a:txBody>
                    <a:bodyPr/>
                    <a:lstStyle/>
                    <a:p>
                      <a:pPr marL="0" indent="0" algn="r">
                        <a:buNone/>
                      </a:pPr>
                      <a:r>
                        <a:rPr lang="en-US" sz="1080" b="1" dirty="0">
                          <a:solidFill>
                            <a:srgbClr val="1A2433"/>
                          </a:solidFill>
                        </a:rPr>
                        <a:t>پوشش‌دار</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1490">
                <a:tc>
                  <a:txBody>
                    <a:bodyPr/>
                    <a:lstStyle/>
                    <a:p>
                      <a:pPr marL="0" indent="0" algn="r">
                        <a:buNone/>
                      </a:pPr>
                      <a:r>
                        <a:rPr lang="en-US" sz="1080" dirty="0">
                          <a:solidFill>
                            <a:srgbClr val="5C6B73"/>
                          </a:solidFill>
                        </a:rPr>
                        <a:t>دمای بسیار بالا، آستر داخلی</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ctr">
                        <a:buNone/>
                      </a:pPr>
                      <a:r>
                        <a:rPr lang="en-US" sz="1080" dirty="0">
                          <a:solidFill>
                            <a:srgbClr val="5C6B73"/>
                          </a:solidFill>
                        </a:rPr>
                        <a:t>بالا</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ctr">
                        <a:buNone/>
                      </a:pPr>
                      <a:r>
                        <a:rPr lang="en-US" sz="1080" dirty="0">
                          <a:solidFill>
                            <a:srgbClr val="5C6B73"/>
                          </a:solidFill>
                        </a:rPr>
                        <a:t>بالا (دما و شیمیایی)</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tc>
                  <a:txBody>
                    <a:bodyPr/>
                    <a:lstStyle/>
                    <a:p>
                      <a:pPr marL="0" indent="0" algn="r">
                        <a:buNone/>
                      </a:pPr>
                      <a:r>
                        <a:rPr lang="en-US" sz="1080" b="1" dirty="0">
                          <a:solidFill>
                            <a:srgbClr val="1A2433"/>
                          </a:solidFill>
                        </a:rPr>
                        <a:t>سرامیک</a:t>
                      </a:r>
                      <a:endParaRPr lang="en-US" sz="1080" dirty="0"/>
                    </a:p>
                  </a:txBody>
                  <a:tcPr marL="101600" marR="101600" marT="63500" marB="63500" anchor="ctr">
                    <a:lnL w="9525" cap="flat" cmpd="sng" algn="ctr">
                      <a:solidFill>
                        <a:srgbClr val="E1E6E9"/>
                      </a:solidFill>
                      <a:prstDash val="solid"/>
                      <a:round/>
                      <a:headEnd type="none" w="med" len="med"/>
                      <a:tailEnd type="none" w="med" len="med"/>
                    </a:lnL>
                    <a:lnR w="9525" cap="flat" cmpd="sng" algn="ctr">
                      <a:solidFill>
                        <a:srgbClr val="E1E6E9"/>
                      </a:solidFill>
                      <a:prstDash val="solid"/>
                      <a:round/>
                      <a:headEnd type="none" w="med" len="med"/>
                      <a:tailEnd type="none" w="med" len="med"/>
                    </a:lnR>
                    <a:lnT w="9525" cap="flat" cmpd="sng" algn="ctr">
                      <a:solidFill>
                        <a:srgbClr val="E1E6E9"/>
                      </a:solidFill>
                      <a:prstDash val="solid"/>
                      <a:round/>
                      <a:headEnd type="none" w="med" len="med"/>
                      <a:tailEnd type="none" w="med" len="med"/>
                    </a:lnT>
                    <a:lnB w="9525" cap="flat" cmpd="sng" algn="ctr">
                      <a:solidFill>
                        <a:srgbClr val="E1E6E9"/>
                      </a:solidFill>
                      <a:prstDash val="solid"/>
                      <a:round/>
                      <a:headEnd type="none" w="med" len="med"/>
                      <a:tailEnd type="none" w="med" len="med"/>
                    </a:lnB>
                    <a:solidFill>
                      <a:srgbClr val="F7F9FA"/>
                    </a:solidFill>
                  </a:tcPr>
                </a:tc>
                <a:extLst>
                  <a:ext uri="{0D108BD9-81ED-4DB2-BD59-A6C34878D82A}">
                    <a16:rowId xmlns:a16="http://schemas.microsoft.com/office/drawing/2014/main" val="10007"/>
                  </a:ext>
                </a:extLst>
              </a:tr>
            </a:tbl>
          </a:graphicData>
        </a:graphic>
      </p:graphicFrame>
      <p:sp>
        <p:nvSpPr>
          <p:cNvPr id="6" name="Text 3"/>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22</a:t>
            </a:r>
            <a:endParaRPr lang="en-US" sz="1000" dirty="0"/>
          </a:p>
        </p:txBody>
      </p:sp>
      <p:sp>
        <p:nvSpPr>
          <p:cNvPr id="7" name="Text 4"/>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144000" y="-1645920"/>
            <a:ext cx="5029200" cy="5029200"/>
          </a:xfrm>
          <a:prstGeom prst="ellipse">
            <a:avLst/>
          </a:prstGeom>
          <a:solidFill>
            <a:srgbClr val="112C52"/>
          </a:solidFill>
          <a:ln/>
        </p:spPr>
      </p:sp>
      <p:sp>
        <p:nvSpPr>
          <p:cNvPr id="3" name="Shape 1"/>
          <p:cNvSpPr/>
          <p:nvPr/>
        </p:nvSpPr>
        <p:spPr>
          <a:xfrm>
            <a:off x="-1828800" y="4572000"/>
            <a:ext cx="3657600" cy="3657600"/>
          </a:xfrm>
          <a:prstGeom prst="ellipse">
            <a:avLst/>
          </a:prstGeom>
          <a:solidFill>
            <a:srgbClr val="16396B"/>
          </a:solidFill>
          <a:ln/>
        </p:spPr>
      </p:sp>
      <p:sp>
        <p:nvSpPr>
          <p:cNvPr id="4" name="Text 2"/>
          <p:cNvSpPr/>
          <p:nvPr/>
        </p:nvSpPr>
        <p:spPr>
          <a:xfrm>
            <a:off x="822960" y="2011680"/>
            <a:ext cx="5486400" cy="457200"/>
          </a:xfrm>
          <a:prstGeom prst="rect">
            <a:avLst/>
          </a:prstGeom>
          <a:noFill/>
          <a:ln/>
        </p:spPr>
        <p:txBody>
          <a:bodyPr wrap="square" lIns="0" tIns="0" rIns="0" bIns="0" rtlCol="0" anchor="ctr"/>
          <a:lstStyle/>
          <a:p>
            <a:pPr marL="0" indent="0" algn="r">
              <a:buNone/>
            </a:pPr>
            <a:r>
              <a:rPr lang="en-US" sz="1600" b="1" kern="0" spc="100" dirty="0">
                <a:solidFill>
                  <a:srgbClr val="D98E3F"/>
                </a:solidFill>
                <a:latin typeface="Calibri" pitchFamily="34" charset="0"/>
                <a:ea typeface="Calibri" pitchFamily="34" charset="-122"/>
                <a:cs typeface="Calibri" pitchFamily="34" charset="-120"/>
              </a:rPr>
              <a:t>فصل هفتم</a:t>
            </a:r>
            <a:endParaRPr lang="en-US" sz="1600" dirty="0"/>
          </a:p>
        </p:txBody>
      </p:sp>
      <p:sp>
        <p:nvSpPr>
          <p:cNvPr id="5" name="Text 3"/>
          <p:cNvSpPr/>
          <p:nvPr/>
        </p:nvSpPr>
        <p:spPr>
          <a:xfrm>
            <a:off x="822960" y="2468880"/>
            <a:ext cx="9875520" cy="1097280"/>
          </a:xfrm>
          <a:prstGeom prst="rect">
            <a:avLst/>
          </a:prstGeom>
          <a:noFill/>
          <a:ln/>
        </p:spPr>
        <p:txBody>
          <a:bodyPr wrap="square" lIns="0" tIns="0" rIns="0" bIns="0" rtlCol="0" anchor="ctr"/>
          <a:lstStyle/>
          <a:p>
            <a:pPr marL="0" indent="0" algn="r">
              <a:buNone/>
            </a:pPr>
            <a:r>
              <a:rPr lang="en-US" sz="3800" b="1" dirty="0">
                <a:solidFill>
                  <a:srgbClr val="FFFFFF"/>
                </a:solidFill>
                <a:latin typeface="Calibri" pitchFamily="34" charset="0"/>
                <a:ea typeface="Calibri" pitchFamily="34" charset="-122"/>
                <a:cs typeface="Calibri" pitchFamily="34" charset="-120"/>
              </a:rPr>
              <a:t>اجزای راکتورها و تجهیزات اندازه‌گیری</a:t>
            </a:r>
            <a:endParaRPr lang="en-US" sz="3800" dirty="0"/>
          </a:p>
        </p:txBody>
      </p:sp>
      <p:sp>
        <p:nvSpPr>
          <p:cNvPr id="6" name="Text 4"/>
          <p:cNvSpPr/>
          <p:nvPr/>
        </p:nvSpPr>
        <p:spPr>
          <a:xfrm>
            <a:off x="822960" y="3429000"/>
            <a:ext cx="8686800" cy="548640"/>
          </a:xfrm>
          <a:prstGeom prst="rect">
            <a:avLst/>
          </a:prstGeom>
          <a:noFill/>
          <a:ln/>
        </p:spPr>
        <p:txBody>
          <a:bodyPr wrap="square" lIns="0" tIns="0" rIns="0" bIns="0" rtlCol="0" anchor="ctr"/>
          <a:lstStyle/>
          <a:p>
            <a:pPr marL="0" indent="0" algn="r">
              <a:buNone/>
            </a:pPr>
            <a:r>
              <a:rPr lang="en-US" sz="1600" dirty="0">
                <a:solidFill>
                  <a:srgbClr val="C7D9EE"/>
                </a:solidFill>
                <a:latin typeface="Calibri" pitchFamily="34" charset="0"/>
                <a:ea typeface="Calibri" pitchFamily="34" charset="-122"/>
                <a:cs typeface="Calibri" pitchFamily="34" charset="-120"/>
              </a:rPr>
              <a:t>از بدنه فیزیکی تا سامانه‌های هشدار — سیزده جزء اصلی</a:t>
            </a:r>
            <a:endParaRPr lang="en-US" sz="1600" dirty="0"/>
          </a:p>
        </p:txBody>
      </p:sp>
      <p:pic>
        <p:nvPicPr>
          <p:cNvPr id="7" name="Image 0" descr="/home/claude/reactor_pptx/icons/cogs_teal.png"/>
          <p:cNvPicPr>
            <a:picLocks noChangeAspect="1"/>
          </p:cNvPicPr>
          <p:nvPr/>
        </p:nvPicPr>
        <p:blipFill>
          <a:blip r:embed="rId3"/>
          <a:stretch>
            <a:fillRect/>
          </a:stretch>
        </p:blipFill>
        <p:spPr>
          <a:xfrm>
            <a:off x="9814255" y="4297680"/>
            <a:ext cx="1188720" cy="1188720"/>
          </a:xfrm>
          <a:prstGeom prst="rect">
            <a:avLst/>
          </a:prstGeom>
        </p:spPr>
      </p:pic>
      <p:sp>
        <p:nvSpPr>
          <p:cNvPr id="8" name="Text 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8096B0"/>
                </a:solidFill>
                <a:latin typeface="Calibri" pitchFamily="34" charset="0"/>
                <a:ea typeface="Calibri" pitchFamily="34" charset="-122"/>
                <a:cs typeface="Calibri" pitchFamily="34" charset="-120"/>
              </a:rPr>
              <a:t>23</a:t>
            </a:r>
            <a:endParaRPr lang="en-US" sz="1000" dirty="0"/>
          </a:p>
        </p:txBody>
      </p:sp>
      <p:sp>
        <p:nvSpPr>
          <p:cNvPr id="9" name="Text 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8096B0"/>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73736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۷-۱ تا ۷-۱۳</a:t>
            </a:r>
            <a:endParaRPr lang="en-US" sz="1600" dirty="0"/>
          </a:p>
        </p:txBody>
      </p:sp>
      <p:sp>
        <p:nvSpPr>
          <p:cNvPr id="3" name="Text 1"/>
          <p:cNvSpPr/>
          <p:nvPr/>
        </p:nvSpPr>
        <p:spPr>
          <a:xfrm>
            <a:off x="1645920" y="502920"/>
            <a:ext cx="990569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سیزده جزء اصلی راکتور صنعتی</a:t>
            </a:r>
            <a:endParaRPr lang="en-US" sz="1300" dirty="0"/>
          </a:p>
        </p:txBody>
      </p:sp>
      <p:sp>
        <p:nvSpPr>
          <p:cNvPr id="4" name="Text 2"/>
          <p:cNvSpPr/>
          <p:nvPr/>
        </p:nvSpPr>
        <p:spPr>
          <a:xfrm>
            <a:off x="1645920" y="841248"/>
            <a:ext cx="990569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از بدنه فیزیکی تا سامانه‌های هشدار</a:t>
            </a:r>
            <a:endParaRPr lang="en-US" sz="2800" dirty="0"/>
          </a:p>
        </p:txBody>
      </p:sp>
      <p:sp>
        <p:nvSpPr>
          <p:cNvPr id="5" name="Shape 3"/>
          <p:cNvSpPr/>
          <p:nvPr/>
        </p:nvSpPr>
        <p:spPr>
          <a:xfrm>
            <a:off x="9515612" y="1783080"/>
            <a:ext cx="2036003" cy="1207008"/>
          </a:xfrm>
          <a:prstGeom prst="roundRect">
            <a:avLst>
              <a:gd name="adj" fmla="val 6061"/>
            </a:avLst>
          </a:prstGeom>
          <a:solidFill>
            <a:srgbClr val="F7F9FA"/>
          </a:solidFill>
          <a:ln/>
        </p:spPr>
      </p:sp>
      <p:sp>
        <p:nvSpPr>
          <p:cNvPr id="6" name="Shape 4"/>
          <p:cNvSpPr/>
          <p:nvPr/>
        </p:nvSpPr>
        <p:spPr>
          <a:xfrm>
            <a:off x="10323302" y="1929384"/>
            <a:ext cx="420624" cy="420624"/>
          </a:xfrm>
          <a:prstGeom prst="ellipse">
            <a:avLst/>
          </a:prstGeom>
          <a:solidFill>
            <a:srgbClr val="0E7C7B"/>
          </a:solidFill>
          <a:ln/>
        </p:spPr>
      </p:sp>
      <p:pic>
        <p:nvPicPr>
          <p:cNvPr id="7" name="Image 0" descr="/home/claude/reactor_pptx/icons/cube_white.png"/>
          <p:cNvPicPr>
            <a:picLocks noChangeAspect="1"/>
          </p:cNvPicPr>
          <p:nvPr/>
        </p:nvPicPr>
        <p:blipFill>
          <a:blip r:embed="rId3"/>
          <a:stretch>
            <a:fillRect/>
          </a:stretch>
        </p:blipFill>
        <p:spPr>
          <a:xfrm>
            <a:off x="10423886" y="2029968"/>
            <a:ext cx="219456" cy="219456"/>
          </a:xfrm>
          <a:prstGeom prst="rect">
            <a:avLst/>
          </a:prstGeom>
        </p:spPr>
      </p:pic>
      <p:sp>
        <p:nvSpPr>
          <p:cNvPr id="8" name="Text 5"/>
          <p:cNvSpPr/>
          <p:nvPr/>
        </p:nvSpPr>
        <p:spPr>
          <a:xfrm>
            <a:off x="9588764" y="24048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بدنه راکتور</a:t>
            </a:r>
            <a:endParaRPr lang="en-US" sz="1030" dirty="0"/>
          </a:p>
        </p:txBody>
      </p:sp>
      <p:sp>
        <p:nvSpPr>
          <p:cNvPr id="9" name="Shape 6"/>
          <p:cNvSpPr/>
          <p:nvPr/>
        </p:nvSpPr>
        <p:spPr>
          <a:xfrm>
            <a:off x="7296729" y="1783080"/>
            <a:ext cx="2036003" cy="1207008"/>
          </a:xfrm>
          <a:prstGeom prst="roundRect">
            <a:avLst>
              <a:gd name="adj" fmla="val 6061"/>
            </a:avLst>
          </a:prstGeom>
          <a:solidFill>
            <a:srgbClr val="F7F9FA"/>
          </a:solidFill>
          <a:ln/>
        </p:spPr>
      </p:sp>
      <p:sp>
        <p:nvSpPr>
          <p:cNvPr id="10" name="Shape 7"/>
          <p:cNvSpPr/>
          <p:nvPr/>
        </p:nvSpPr>
        <p:spPr>
          <a:xfrm>
            <a:off x="8104419" y="1929384"/>
            <a:ext cx="420624" cy="420624"/>
          </a:xfrm>
          <a:prstGeom prst="ellipse">
            <a:avLst/>
          </a:prstGeom>
          <a:solidFill>
            <a:srgbClr val="0E7C7B"/>
          </a:solidFill>
          <a:ln/>
        </p:spPr>
      </p:sp>
      <p:pic>
        <p:nvPicPr>
          <p:cNvPr id="11" name="Image 1" descr="/home/claude/reactor_pptx/icons/cog_white.png"/>
          <p:cNvPicPr>
            <a:picLocks noChangeAspect="1"/>
          </p:cNvPicPr>
          <p:nvPr/>
        </p:nvPicPr>
        <p:blipFill>
          <a:blip r:embed="rId4"/>
          <a:stretch>
            <a:fillRect/>
          </a:stretch>
        </p:blipFill>
        <p:spPr>
          <a:xfrm>
            <a:off x="8205003" y="2029968"/>
            <a:ext cx="219456" cy="219456"/>
          </a:xfrm>
          <a:prstGeom prst="rect">
            <a:avLst/>
          </a:prstGeom>
        </p:spPr>
      </p:pic>
      <p:sp>
        <p:nvSpPr>
          <p:cNvPr id="12" name="Text 8"/>
          <p:cNvSpPr/>
          <p:nvPr/>
        </p:nvSpPr>
        <p:spPr>
          <a:xfrm>
            <a:off x="7369881" y="24048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همزن</a:t>
            </a:r>
            <a:endParaRPr lang="en-US" sz="1030" dirty="0"/>
          </a:p>
        </p:txBody>
      </p:sp>
      <p:sp>
        <p:nvSpPr>
          <p:cNvPr id="13" name="Shape 9"/>
          <p:cNvSpPr/>
          <p:nvPr/>
        </p:nvSpPr>
        <p:spPr>
          <a:xfrm>
            <a:off x="5077846" y="1783080"/>
            <a:ext cx="2036003" cy="1207008"/>
          </a:xfrm>
          <a:prstGeom prst="roundRect">
            <a:avLst>
              <a:gd name="adj" fmla="val 6061"/>
            </a:avLst>
          </a:prstGeom>
          <a:solidFill>
            <a:srgbClr val="F7F9FA"/>
          </a:solidFill>
          <a:ln/>
        </p:spPr>
      </p:sp>
      <p:sp>
        <p:nvSpPr>
          <p:cNvPr id="14" name="Shape 10"/>
          <p:cNvSpPr/>
          <p:nvPr/>
        </p:nvSpPr>
        <p:spPr>
          <a:xfrm>
            <a:off x="5885536" y="1929384"/>
            <a:ext cx="420624" cy="420624"/>
          </a:xfrm>
          <a:prstGeom prst="ellipse">
            <a:avLst/>
          </a:prstGeom>
          <a:solidFill>
            <a:srgbClr val="0E7C7B"/>
          </a:solidFill>
          <a:ln/>
        </p:spPr>
      </p:sp>
      <p:pic>
        <p:nvPicPr>
          <p:cNvPr id="15" name="Image 2" descr="/home/claude/reactor_pptx/icons/fire_white.png"/>
          <p:cNvPicPr>
            <a:picLocks noChangeAspect="1"/>
          </p:cNvPicPr>
          <p:nvPr/>
        </p:nvPicPr>
        <p:blipFill>
          <a:blip r:embed="rId5"/>
          <a:stretch>
            <a:fillRect/>
          </a:stretch>
        </p:blipFill>
        <p:spPr>
          <a:xfrm>
            <a:off x="5986120" y="2029968"/>
            <a:ext cx="219456" cy="219456"/>
          </a:xfrm>
          <a:prstGeom prst="rect">
            <a:avLst/>
          </a:prstGeom>
        </p:spPr>
      </p:pic>
      <p:sp>
        <p:nvSpPr>
          <p:cNvPr id="16" name="Text 11"/>
          <p:cNvSpPr/>
          <p:nvPr/>
        </p:nvSpPr>
        <p:spPr>
          <a:xfrm>
            <a:off x="5150998" y="24048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ژاکت حرارتی</a:t>
            </a:r>
            <a:endParaRPr lang="en-US" sz="1030" dirty="0"/>
          </a:p>
        </p:txBody>
      </p:sp>
      <p:sp>
        <p:nvSpPr>
          <p:cNvPr id="17" name="Shape 12"/>
          <p:cNvSpPr/>
          <p:nvPr/>
        </p:nvSpPr>
        <p:spPr>
          <a:xfrm>
            <a:off x="2858963" y="1783080"/>
            <a:ext cx="2036003" cy="1207008"/>
          </a:xfrm>
          <a:prstGeom prst="roundRect">
            <a:avLst>
              <a:gd name="adj" fmla="val 6061"/>
            </a:avLst>
          </a:prstGeom>
          <a:solidFill>
            <a:srgbClr val="F7F9FA"/>
          </a:solidFill>
          <a:ln/>
        </p:spPr>
      </p:sp>
      <p:sp>
        <p:nvSpPr>
          <p:cNvPr id="18" name="Shape 13"/>
          <p:cNvSpPr/>
          <p:nvPr/>
        </p:nvSpPr>
        <p:spPr>
          <a:xfrm>
            <a:off x="3666653" y="1929384"/>
            <a:ext cx="420624" cy="420624"/>
          </a:xfrm>
          <a:prstGeom prst="ellipse">
            <a:avLst/>
          </a:prstGeom>
          <a:solidFill>
            <a:srgbClr val="0E7C7B"/>
          </a:solidFill>
          <a:ln/>
        </p:spPr>
      </p:sp>
      <p:pic>
        <p:nvPicPr>
          <p:cNvPr id="19" name="Image 3" descr="/home/claude/reactor_pptx/icons/exchange_white.png"/>
          <p:cNvPicPr>
            <a:picLocks noChangeAspect="1"/>
          </p:cNvPicPr>
          <p:nvPr/>
        </p:nvPicPr>
        <p:blipFill>
          <a:blip r:embed="rId6"/>
          <a:stretch>
            <a:fillRect/>
          </a:stretch>
        </p:blipFill>
        <p:spPr>
          <a:xfrm>
            <a:off x="3767237" y="2029968"/>
            <a:ext cx="219456" cy="219456"/>
          </a:xfrm>
          <a:prstGeom prst="rect">
            <a:avLst/>
          </a:prstGeom>
        </p:spPr>
      </p:pic>
      <p:sp>
        <p:nvSpPr>
          <p:cNvPr id="20" name="Text 14"/>
          <p:cNvSpPr/>
          <p:nvPr/>
        </p:nvSpPr>
        <p:spPr>
          <a:xfrm>
            <a:off x="2932115" y="24048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کویل داخلی</a:t>
            </a:r>
            <a:endParaRPr lang="en-US" sz="1030" dirty="0"/>
          </a:p>
        </p:txBody>
      </p:sp>
      <p:sp>
        <p:nvSpPr>
          <p:cNvPr id="21" name="Shape 15"/>
          <p:cNvSpPr/>
          <p:nvPr/>
        </p:nvSpPr>
        <p:spPr>
          <a:xfrm>
            <a:off x="640080" y="1783080"/>
            <a:ext cx="2036003" cy="1207008"/>
          </a:xfrm>
          <a:prstGeom prst="roundRect">
            <a:avLst>
              <a:gd name="adj" fmla="val 6061"/>
            </a:avLst>
          </a:prstGeom>
          <a:solidFill>
            <a:srgbClr val="F7F9FA"/>
          </a:solidFill>
          <a:ln/>
        </p:spPr>
      </p:sp>
      <p:sp>
        <p:nvSpPr>
          <p:cNvPr id="22" name="Shape 16"/>
          <p:cNvSpPr/>
          <p:nvPr/>
        </p:nvSpPr>
        <p:spPr>
          <a:xfrm>
            <a:off x="1447770" y="1929384"/>
            <a:ext cx="420624" cy="420624"/>
          </a:xfrm>
          <a:prstGeom prst="ellipse">
            <a:avLst/>
          </a:prstGeom>
          <a:solidFill>
            <a:srgbClr val="0E7C7B"/>
          </a:solidFill>
          <a:ln/>
        </p:spPr>
      </p:sp>
      <p:pic>
        <p:nvPicPr>
          <p:cNvPr id="23" name="Image 4" descr="/home/claude/reactor_pptx/icons/circle_white.png"/>
          <p:cNvPicPr>
            <a:picLocks noChangeAspect="1"/>
          </p:cNvPicPr>
          <p:nvPr/>
        </p:nvPicPr>
        <p:blipFill>
          <a:blip r:embed="rId7"/>
          <a:stretch>
            <a:fillRect/>
          </a:stretch>
        </p:blipFill>
        <p:spPr>
          <a:xfrm>
            <a:off x="1548354" y="2029968"/>
            <a:ext cx="219456" cy="219456"/>
          </a:xfrm>
          <a:prstGeom prst="rect">
            <a:avLst/>
          </a:prstGeom>
        </p:spPr>
      </p:pic>
      <p:sp>
        <p:nvSpPr>
          <p:cNvPr id="24" name="Text 17"/>
          <p:cNvSpPr/>
          <p:nvPr/>
        </p:nvSpPr>
        <p:spPr>
          <a:xfrm>
            <a:off x="713232" y="24048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نازل‌ها و اتصالات</a:t>
            </a:r>
            <a:endParaRPr lang="en-US" sz="1030" dirty="0"/>
          </a:p>
        </p:txBody>
      </p:sp>
      <p:sp>
        <p:nvSpPr>
          <p:cNvPr id="25" name="Shape 18"/>
          <p:cNvSpPr/>
          <p:nvPr/>
        </p:nvSpPr>
        <p:spPr>
          <a:xfrm>
            <a:off x="9515612" y="3154680"/>
            <a:ext cx="2036003" cy="1207008"/>
          </a:xfrm>
          <a:prstGeom prst="roundRect">
            <a:avLst>
              <a:gd name="adj" fmla="val 6061"/>
            </a:avLst>
          </a:prstGeom>
          <a:solidFill>
            <a:srgbClr val="F7F9FA"/>
          </a:solidFill>
          <a:ln/>
        </p:spPr>
      </p:sp>
      <p:sp>
        <p:nvSpPr>
          <p:cNvPr id="26" name="Shape 19"/>
          <p:cNvSpPr/>
          <p:nvPr/>
        </p:nvSpPr>
        <p:spPr>
          <a:xfrm>
            <a:off x="10323302" y="3300984"/>
            <a:ext cx="420624" cy="420624"/>
          </a:xfrm>
          <a:prstGeom prst="ellipse">
            <a:avLst/>
          </a:prstGeom>
          <a:solidFill>
            <a:srgbClr val="0E7C7B"/>
          </a:solidFill>
          <a:ln/>
        </p:spPr>
      </p:sp>
      <p:pic>
        <p:nvPicPr>
          <p:cNvPr id="27" name="Image 5" descr="/home/claude/reactor_pptx/icons/filter_white.png"/>
          <p:cNvPicPr>
            <a:picLocks noChangeAspect="1"/>
          </p:cNvPicPr>
          <p:nvPr/>
        </p:nvPicPr>
        <p:blipFill>
          <a:blip r:embed="rId8"/>
          <a:stretch>
            <a:fillRect/>
          </a:stretch>
        </p:blipFill>
        <p:spPr>
          <a:xfrm>
            <a:off x="10423886" y="3401568"/>
            <a:ext cx="219456" cy="219456"/>
          </a:xfrm>
          <a:prstGeom prst="rect">
            <a:avLst/>
          </a:prstGeom>
        </p:spPr>
      </p:pic>
      <p:sp>
        <p:nvSpPr>
          <p:cNvPr id="28" name="Text 20"/>
          <p:cNvSpPr/>
          <p:nvPr/>
        </p:nvSpPr>
        <p:spPr>
          <a:xfrm>
            <a:off x="9588764" y="37764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شیرها</a:t>
            </a:r>
            <a:endParaRPr lang="en-US" sz="1030" dirty="0"/>
          </a:p>
        </p:txBody>
      </p:sp>
      <p:sp>
        <p:nvSpPr>
          <p:cNvPr id="29" name="Shape 21"/>
          <p:cNvSpPr/>
          <p:nvPr/>
        </p:nvSpPr>
        <p:spPr>
          <a:xfrm>
            <a:off x="7296729" y="3154680"/>
            <a:ext cx="2036003" cy="1207008"/>
          </a:xfrm>
          <a:prstGeom prst="roundRect">
            <a:avLst>
              <a:gd name="adj" fmla="val 6061"/>
            </a:avLst>
          </a:prstGeom>
          <a:solidFill>
            <a:srgbClr val="F7F9FA"/>
          </a:solidFill>
          <a:ln/>
        </p:spPr>
      </p:sp>
      <p:sp>
        <p:nvSpPr>
          <p:cNvPr id="30" name="Shape 22"/>
          <p:cNvSpPr/>
          <p:nvPr/>
        </p:nvSpPr>
        <p:spPr>
          <a:xfrm>
            <a:off x="8104419" y="3300984"/>
            <a:ext cx="420624" cy="420624"/>
          </a:xfrm>
          <a:prstGeom prst="ellipse">
            <a:avLst/>
          </a:prstGeom>
          <a:solidFill>
            <a:srgbClr val="0E7C7B"/>
          </a:solidFill>
          <a:ln/>
        </p:spPr>
      </p:sp>
      <p:pic>
        <p:nvPicPr>
          <p:cNvPr id="31" name="Image 6" descr="/home/claude/reactor_pptx/icons/thermometer_white.png"/>
          <p:cNvPicPr>
            <a:picLocks noChangeAspect="1"/>
          </p:cNvPicPr>
          <p:nvPr/>
        </p:nvPicPr>
        <p:blipFill>
          <a:blip r:embed="rId9"/>
          <a:stretch>
            <a:fillRect/>
          </a:stretch>
        </p:blipFill>
        <p:spPr>
          <a:xfrm>
            <a:off x="8205003" y="3401568"/>
            <a:ext cx="219456" cy="219456"/>
          </a:xfrm>
          <a:prstGeom prst="rect">
            <a:avLst/>
          </a:prstGeom>
        </p:spPr>
      </p:pic>
      <p:sp>
        <p:nvSpPr>
          <p:cNvPr id="32" name="Text 23"/>
          <p:cNvSpPr/>
          <p:nvPr/>
        </p:nvSpPr>
        <p:spPr>
          <a:xfrm>
            <a:off x="7369881" y="37764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سنسور دما</a:t>
            </a:r>
            <a:endParaRPr lang="en-US" sz="1030" dirty="0"/>
          </a:p>
        </p:txBody>
      </p:sp>
      <p:sp>
        <p:nvSpPr>
          <p:cNvPr id="33" name="Shape 24"/>
          <p:cNvSpPr/>
          <p:nvPr/>
        </p:nvSpPr>
        <p:spPr>
          <a:xfrm>
            <a:off x="5077846" y="3154680"/>
            <a:ext cx="2036003" cy="1207008"/>
          </a:xfrm>
          <a:prstGeom prst="roundRect">
            <a:avLst>
              <a:gd name="adj" fmla="val 6061"/>
            </a:avLst>
          </a:prstGeom>
          <a:solidFill>
            <a:srgbClr val="F7F9FA"/>
          </a:solidFill>
          <a:ln/>
        </p:spPr>
      </p:sp>
      <p:sp>
        <p:nvSpPr>
          <p:cNvPr id="34" name="Shape 25"/>
          <p:cNvSpPr/>
          <p:nvPr/>
        </p:nvSpPr>
        <p:spPr>
          <a:xfrm>
            <a:off x="5885536" y="3300984"/>
            <a:ext cx="420624" cy="420624"/>
          </a:xfrm>
          <a:prstGeom prst="ellipse">
            <a:avLst/>
          </a:prstGeom>
          <a:solidFill>
            <a:srgbClr val="0E7C7B"/>
          </a:solidFill>
          <a:ln/>
        </p:spPr>
      </p:sp>
      <p:pic>
        <p:nvPicPr>
          <p:cNvPr id="35" name="Image 7" descr="/home/claude/reactor_pptx/icons/tachometer_white.png"/>
          <p:cNvPicPr>
            <a:picLocks noChangeAspect="1"/>
          </p:cNvPicPr>
          <p:nvPr/>
        </p:nvPicPr>
        <p:blipFill>
          <a:blip r:embed="rId10"/>
          <a:stretch>
            <a:fillRect/>
          </a:stretch>
        </p:blipFill>
        <p:spPr>
          <a:xfrm>
            <a:off x="5986120" y="3401568"/>
            <a:ext cx="219456" cy="219456"/>
          </a:xfrm>
          <a:prstGeom prst="rect">
            <a:avLst/>
          </a:prstGeom>
        </p:spPr>
      </p:pic>
      <p:sp>
        <p:nvSpPr>
          <p:cNvPr id="36" name="Text 26"/>
          <p:cNvSpPr/>
          <p:nvPr/>
        </p:nvSpPr>
        <p:spPr>
          <a:xfrm>
            <a:off x="5150998" y="37764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سنسور فشار</a:t>
            </a:r>
            <a:endParaRPr lang="en-US" sz="1030" dirty="0"/>
          </a:p>
        </p:txBody>
      </p:sp>
      <p:sp>
        <p:nvSpPr>
          <p:cNvPr id="37" name="Shape 27"/>
          <p:cNvSpPr/>
          <p:nvPr/>
        </p:nvSpPr>
        <p:spPr>
          <a:xfrm>
            <a:off x="2858963" y="3154680"/>
            <a:ext cx="2036003" cy="1207008"/>
          </a:xfrm>
          <a:prstGeom prst="roundRect">
            <a:avLst>
              <a:gd name="adj" fmla="val 6061"/>
            </a:avLst>
          </a:prstGeom>
          <a:solidFill>
            <a:srgbClr val="F7F9FA"/>
          </a:solidFill>
          <a:ln/>
        </p:spPr>
      </p:sp>
      <p:sp>
        <p:nvSpPr>
          <p:cNvPr id="38" name="Shape 28"/>
          <p:cNvSpPr/>
          <p:nvPr/>
        </p:nvSpPr>
        <p:spPr>
          <a:xfrm>
            <a:off x="3666653" y="3300984"/>
            <a:ext cx="420624" cy="420624"/>
          </a:xfrm>
          <a:prstGeom prst="ellipse">
            <a:avLst/>
          </a:prstGeom>
          <a:solidFill>
            <a:srgbClr val="0E7C7B"/>
          </a:solidFill>
          <a:ln/>
        </p:spPr>
      </p:sp>
      <p:pic>
        <p:nvPicPr>
          <p:cNvPr id="39" name="Image 8" descr="/home/claude/reactor_pptx/icons/wind_white.png"/>
          <p:cNvPicPr>
            <a:picLocks noChangeAspect="1"/>
          </p:cNvPicPr>
          <p:nvPr/>
        </p:nvPicPr>
        <p:blipFill>
          <a:blip r:embed="rId11"/>
          <a:stretch>
            <a:fillRect/>
          </a:stretch>
        </p:blipFill>
        <p:spPr>
          <a:xfrm>
            <a:off x="3767237" y="3401568"/>
            <a:ext cx="219456" cy="219456"/>
          </a:xfrm>
          <a:prstGeom prst="rect">
            <a:avLst/>
          </a:prstGeom>
        </p:spPr>
      </p:pic>
      <p:sp>
        <p:nvSpPr>
          <p:cNvPr id="40" name="Text 29"/>
          <p:cNvSpPr/>
          <p:nvPr/>
        </p:nvSpPr>
        <p:spPr>
          <a:xfrm>
            <a:off x="2932115" y="37764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سنسور دبی</a:t>
            </a:r>
            <a:endParaRPr lang="en-US" sz="1030" dirty="0"/>
          </a:p>
        </p:txBody>
      </p:sp>
      <p:sp>
        <p:nvSpPr>
          <p:cNvPr id="41" name="Shape 30"/>
          <p:cNvSpPr/>
          <p:nvPr/>
        </p:nvSpPr>
        <p:spPr>
          <a:xfrm>
            <a:off x="640080" y="3154680"/>
            <a:ext cx="2036003" cy="1207008"/>
          </a:xfrm>
          <a:prstGeom prst="roundRect">
            <a:avLst>
              <a:gd name="adj" fmla="val 6061"/>
            </a:avLst>
          </a:prstGeom>
          <a:solidFill>
            <a:srgbClr val="F7F9FA"/>
          </a:solidFill>
          <a:ln/>
        </p:spPr>
      </p:sp>
      <p:sp>
        <p:nvSpPr>
          <p:cNvPr id="42" name="Shape 31"/>
          <p:cNvSpPr/>
          <p:nvPr/>
        </p:nvSpPr>
        <p:spPr>
          <a:xfrm>
            <a:off x="1447770" y="3300984"/>
            <a:ext cx="420624" cy="420624"/>
          </a:xfrm>
          <a:prstGeom prst="ellipse">
            <a:avLst/>
          </a:prstGeom>
          <a:solidFill>
            <a:srgbClr val="0E7C7B"/>
          </a:solidFill>
          <a:ln/>
        </p:spPr>
      </p:sp>
      <p:pic>
        <p:nvPicPr>
          <p:cNvPr id="43" name="Image 9" descr="/home/claude/reactor_pptx/icons/tint_white.png"/>
          <p:cNvPicPr>
            <a:picLocks noChangeAspect="1"/>
          </p:cNvPicPr>
          <p:nvPr/>
        </p:nvPicPr>
        <p:blipFill>
          <a:blip r:embed="rId12"/>
          <a:stretch>
            <a:fillRect/>
          </a:stretch>
        </p:blipFill>
        <p:spPr>
          <a:xfrm>
            <a:off x="1548354" y="3401568"/>
            <a:ext cx="219456" cy="219456"/>
          </a:xfrm>
          <a:prstGeom prst="rect">
            <a:avLst/>
          </a:prstGeom>
        </p:spPr>
      </p:pic>
      <p:sp>
        <p:nvSpPr>
          <p:cNvPr id="44" name="Text 32"/>
          <p:cNvSpPr/>
          <p:nvPr/>
        </p:nvSpPr>
        <p:spPr>
          <a:xfrm>
            <a:off x="713232" y="37764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سنسور سطح</a:t>
            </a:r>
            <a:endParaRPr lang="en-US" sz="1030" dirty="0"/>
          </a:p>
        </p:txBody>
      </p:sp>
      <p:sp>
        <p:nvSpPr>
          <p:cNvPr id="45" name="Shape 33"/>
          <p:cNvSpPr/>
          <p:nvPr/>
        </p:nvSpPr>
        <p:spPr>
          <a:xfrm>
            <a:off x="9515612" y="4526280"/>
            <a:ext cx="2036003" cy="1207008"/>
          </a:xfrm>
          <a:prstGeom prst="roundRect">
            <a:avLst>
              <a:gd name="adj" fmla="val 6061"/>
            </a:avLst>
          </a:prstGeom>
          <a:solidFill>
            <a:srgbClr val="F7F9FA"/>
          </a:solidFill>
          <a:ln/>
        </p:spPr>
      </p:sp>
      <p:sp>
        <p:nvSpPr>
          <p:cNvPr id="46" name="Shape 34"/>
          <p:cNvSpPr/>
          <p:nvPr/>
        </p:nvSpPr>
        <p:spPr>
          <a:xfrm>
            <a:off x="10323302" y="4672584"/>
            <a:ext cx="420624" cy="420624"/>
          </a:xfrm>
          <a:prstGeom prst="ellipse">
            <a:avLst/>
          </a:prstGeom>
          <a:solidFill>
            <a:srgbClr val="0E7C7B"/>
          </a:solidFill>
          <a:ln/>
        </p:spPr>
      </p:sp>
      <p:pic>
        <p:nvPicPr>
          <p:cNvPr id="47" name="Image 10" descr="/home/claude/reactor_pptx/icons/vial_white.png"/>
          <p:cNvPicPr>
            <a:picLocks noChangeAspect="1"/>
          </p:cNvPicPr>
          <p:nvPr/>
        </p:nvPicPr>
        <p:blipFill>
          <a:blip r:embed="rId13"/>
          <a:stretch>
            <a:fillRect/>
          </a:stretch>
        </p:blipFill>
        <p:spPr>
          <a:xfrm>
            <a:off x="10423886" y="4773168"/>
            <a:ext cx="219456" cy="219456"/>
          </a:xfrm>
          <a:prstGeom prst="rect">
            <a:avLst/>
          </a:prstGeom>
        </p:spPr>
      </p:pic>
      <p:sp>
        <p:nvSpPr>
          <p:cNvPr id="48" name="Text 35"/>
          <p:cNvSpPr/>
          <p:nvPr/>
        </p:nvSpPr>
        <p:spPr>
          <a:xfrm>
            <a:off x="9588764" y="51480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نمونه‌برداری</a:t>
            </a:r>
            <a:endParaRPr lang="en-US" sz="1030" dirty="0"/>
          </a:p>
        </p:txBody>
      </p:sp>
      <p:sp>
        <p:nvSpPr>
          <p:cNvPr id="49" name="Shape 36"/>
          <p:cNvSpPr/>
          <p:nvPr/>
        </p:nvSpPr>
        <p:spPr>
          <a:xfrm>
            <a:off x="7296729" y="4526280"/>
            <a:ext cx="2036003" cy="1207008"/>
          </a:xfrm>
          <a:prstGeom prst="roundRect">
            <a:avLst>
              <a:gd name="adj" fmla="val 6061"/>
            </a:avLst>
          </a:prstGeom>
          <a:solidFill>
            <a:srgbClr val="F7F9FA"/>
          </a:solidFill>
          <a:ln/>
        </p:spPr>
      </p:sp>
      <p:sp>
        <p:nvSpPr>
          <p:cNvPr id="50" name="Shape 37"/>
          <p:cNvSpPr/>
          <p:nvPr/>
        </p:nvSpPr>
        <p:spPr>
          <a:xfrm>
            <a:off x="8104419" y="4672584"/>
            <a:ext cx="420624" cy="420624"/>
          </a:xfrm>
          <a:prstGeom prst="ellipse">
            <a:avLst/>
          </a:prstGeom>
          <a:solidFill>
            <a:srgbClr val="0E7C7B"/>
          </a:solidFill>
          <a:ln/>
        </p:spPr>
      </p:sp>
      <p:pic>
        <p:nvPicPr>
          <p:cNvPr id="51" name="Image 11" descr="/home/claude/reactor_pptx/icons/shield_white.png"/>
          <p:cNvPicPr>
            <a:picLocks noChangeAspect="1"/>
          </p:cNvPicPr>
          <p:nvPr/>
        </p:nvPicPr>
        <p:blipFill>
          <a:blip r:embed="rId14"/>
          <a:stretch>
            <a:fillRect/>
          </a:stretch>
        </p:blipFill>
        <p:spPr>
          <a:xfrm>
            <a:off x="8205003" y="4773168"/>
            <a:ext cx="219456" cy="219456"/>
          </a:xfrm>
          <a:prstGeom prst="rect">
            <a:avLst/>
          </a:prstGeom>
        </p:spPr>
      </p:pic>
      <p:sp>
        <p:nvSpPr>
          <p:cNvPr id="52" name="Text 38"/>
          <p:cNvSpPr/>
          <p:nvPr/>
        </p:nvSpPr>
        <p:spPr>
          <a:xfrm>
            <a:off x="7369881" y="51480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سیستم‌های ایمنی</a:t>
            </a:r>
            <a:endParaRPr lang="en-US" sz="1030" dirty="0"/>
          </a:p>
        </p:txBody>
      </p:sp>
      <p:sp>
        <p:nvSpPr>
          <p:cNvPr id="53" name="Shape 39"/>
          <p:cNvSpPr/>
          <p:nvPr/>
        </p:nvSpPr>
        <p:spPr>
          <a:xfrm>
            <a:off x="5077846" y="4526280"/>
            <a:ext cx="2036003" cy="1207008"/>
          </a:xfrm>
          <a:prstGeom prst="roundRect">
            <a:avLst>
              <a:gd name="adj" fmla="val 6061"/>
            </a:avLst>
          </a:prstGeom>
          <a:solidFill>
            <a:srgbClr val="F7F9FA"/>
          </a:solidFill>
          <a:ln/>
        </p:spPr>
      </p:sp>
      <p:sp>
        <p:nvSpPr>
          <p:cNvPr id="54" name="Shape 40"/>
          <p:cNvSpPr/>
          <p:nvPr/>
        </p:nvSpPr>
        <p:spPr>
          <a:xfrm>
            <a:off x="5885536" y="4672584"/>
            <a:ext cx="420624" cy="420624"/>
          </a:xfrm>
          <a:prstGeom prst="ellipse">
            <a:avLst/>
          </a:prstGeom>
          <a:solidFill>
            <a:srgbClr val="0E7C7B"/>
          </a:solidFill>
          <a:ln/>
        </p:spPr>
      </p:sp>
      <p:pic>
        <p:nvPicPr>
          <p:cNvPr id="55" name="Image 12" descr="/home/claude/reactor_pptx/icons/warning_white.png"/>
          <p:cNvPicPr>
            <a:picLocks noChangeAspect="1"/>
          </p:cNvPicPr>
          <p:nvPr/>
        </p:nvPicPr>
        <p:blipFill>
          <a:blip r:embed="rId15"/>
          <a:stretch>
            <a:fillRect/>
          </a:stretch>
        </p:blipFill>
        <p:spPr>
          <a:xfrm>
            <a:off x="5986120" y="4773168"/>
            <a:ext cx="219456" cy="219456"/>
          </a:xfrm>
          <a:prstGeom prst="rect">
            <a:avLst/>
          </a:prstGeom>
        </p:spPr>
      </p:pic>
      <p:sp>
        <p:nvSpPr>
          <p:cNvPr id="56" name="Text 41"/>
          <p:cNvSpPr/>
          <p:nvPr/>
        </p:nvSpPr>
        <p:spPr>
          <a:xfrm>
            <a:off x="5150998" y="5148072"/>
            <a:ext cx="1889699" cy="502920"/>
          </a:xfrm>
          <a:prstGeom prst="rect">
            <a:avLst/>
          </a:prstGeom>
          <a:noFill/>
          <a:ln/>
        </p:spPr>
        <p:txBody>
          <a:bodyPr wrap="square" lIns="0" tIns="0" rIns="0" bIns="0" rtlCol="0" anchor="t"/>
          <a:lstStyle/>
          <a:p>
            <a:pPr marL="0" indent="0" algn="ctr">
              <a:buNone/>
            </a:pPr>
            <a:r>
              <a:rPr lang="en-US" sz="1030" b="1" dirty="0">
                <a:solidFill>
                  <a:srgbClr val="1A2433"/>
                </a:solidFill>
                <a:latin typeface="Calibri" pitchFamily="34" charset="0"/>
                <a:ea typeface="Calibri" pitchFamily="34" charset="-122"/>
                <a:cs typeface="Calibri" pitchFamily="34" charset="-120"/>
              </a:rPr>
              <a:t>سیستم هشدار</a:t>
            </a:r>
            <a:endParaRPr lang="en-US" sz="1030" dirty="0"/>
          </a:p>
        </p:txBody>
      </p:sp>
      <p:sp>
        <p:nvSpPr>
          <p:cNvPr id="57" name="Text 42"/>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24</a:t>
            </a:r>
            <a:endParaRPr lang="en-US" sz="1000" dirty="0"/>
          </a:p>
        </p:txBody>
      </p:sp>
      <p:sp>
        <p:nvSpPr>
          <p:cNvPr id="58" name="Text 43"/>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144000" y="-1645920"/>
            <a:ext cx="5029200" cy="5029200"/>
          </a:xfrm>
          <a:prstGeom prst="ellipse">
            <a:avLst/>
          </a:prstGeom>
          <a:solidFill>
            <a:srgbClr val="112C52"/>
          </a:solidFill>
          <a:ln/>
        </p:spPr>
      </p:sp>
      <p:sp>
        <p:nvSpPr>
          <p:cNvPr id="3" name="Shape 1"/>
          <p:cNvSpPr/>
          <p:nvPr/>
        </p:nvSpPr>
        <p:spPr>
          <a:xfrm>
            <a:off x="-1828800" y="4572000"/>
            <a:ext cx="3657600" cy="3657600"/>
          </a:xfrm>
          <a:prstGeom prst="ellipse">
            <a:avLst/>
          </a:prstGeom>
          <a:solidFill>
            <a:srgbClr val="16396B"/>
          </a:solidFill>
          <a:ln/>
        </p:spPr>
      </p:sp>
      <p:sp>
        <p:nvSpPr>
          <p:cNvPr id="4" name="Text 2"/>
          <p:cNvSpPr/>
          <p:nvPr/>
        </p:nvSpPr>
        <p:spPr>
          <a:xfrm>
            <a:off x="822960" y="2011680"/>
            <a:ext cx="5486400" cy="457200"/>
          </a:xfrm>
          <a:prstGeom prst="rect">
            <a:avLst/>
          </a:prstGeom>
          <a:noFill/>
          <a:ln/>
        </p:spPr>
        <p:txBody>
          <a:bodyPr wrap="square" lIns="0" tIns="0" rIns="0" bIns="0" rtlCol="0" anchor="ctr"/>
          <a:lstStyle/>
          <a:p>
            <a:pPr marL="0" indent="0" algn="r">
              <a:buNone/>
            </a:pPr>
            <a:r>
              <a:rPr lang="en-US" sz="1600" b="1" kern="0" spc="100" dirty="0">
                <a:solidFill>
                  <a:srgbClr val="D98E3F"/>
                </a:solidFill>
                <a:latin typeface="Calibri" pitchFamily="34" charset="0"/>
                <a:ea typeface="Calibri" pitchFamily="34" charset="-122"/>
                <a:cs typeface="Calibri" pitchFamily="34" charset="-120"/>
              </a:rPr>
              <a:t>فصل هشتم</a:t>
            </a:r>
            <a:endParaRPr lang="en-US" sz="1600" dirty="0"/>
          </a:p>
        </p:txBody>
      </p:sp>
      <p:sp>
        <p:nvSpPr>
          <p:cNvPr id="5" name="Text 3"/>
          <p:cNvSpPr/>
          <p:nvPr/>
        </p:nvSpPr>
        <p:spPr>
          <a:xfrm>
            <a:off x="822960" y="2468880"/>
            <a:ext cx="9875520" cy="1097280"/>
          </a:xfrm>
          <a:prstGeom prst="rect">
            <a:avLst/>
          </a:prstGeom>
          <a:noFill/>
          <a:ln/>
        </p:spPr>
        <p:txBody>
          <a:bodyPr wrap="square" lIns="0" tIns="0" rIns="0" bIns="0" rtlCol="0" anchor="ctr"/>
          <a:lstStyle/>
          <a:p>
            <a:pPr marL="0" indent="0" algn="r">
              <a:buNone/>
            </a:pPr>
            <a:r>
              <a:rPr lang="en-US" sz="3800" b="1" dirty="0">
                <a:solidFill>
                  <a:srgbClr val="FFFFFF"/>
                </a:solidFill>
                <a:latin typeface="Calibri" pitchFamily="34" charset="0"/>
                <a:ea typeface="Calibri" pitchFamily="34" charset="-122"/>
                <a:cs typeface="Calibri" pitchFamily="34" charset="-120"/>
              </a:rPr>
              <a:t>تجهیزات کنترلی مورد نیاز در راکتورها</a:t>
            </a:r>
            <a:endParaRPr lang="en-US" sz="3800" dirty="0"/>
          </a:p>
        </p:txBody>
      </p:sp>
      <p:sp>
        <p:nvSpPr>
          <p:cNvPr id="6" name="Text 4"/>
          <p:cNvSpPr/>
          <p:nvPr/>
        </p:nvSpPr>
        <p:spPr>
          <a:xfrm>
            <a:off x="822960" y="3429000"/>
            <a:ext cx="8686800" cy="548640"/>
          </a:xfrm>
          <a:prstGeom prst="rect">
            <a:avLst/>
          </a:prstGeom>
          <a:noFill/>
          <a:ln/>
        </p:spPr>
        <p:txBody>
          <a:bodyPr wrap="square" lIns="0" tIns="0" rIns="0" bIns="0" rtlCol="0" anchor="ctr"/>
          <a:lstStyle/>
          <a:p>
            <a:pPr marL="0" indent="0" algn="r">
              <a:buNone/>
            </a:pPr>
            <a:r>
              <a:rPr lang="en-US" sz="1600" dirty="0">
                <a:solidFill>
                  <a:srgbClr val="C7D9EE"/>
                </a:solidFill>
                <a:latin typeface="Calibri" pitchFamily="34" charset="0"/>
                <a:ea typeface="Calibri" pitchFamily="34" charset="-122"/>
                <a:cs typeface="Calibri" pitchFamily="34" charset="-120"/>
              </a:rPr>
              <a:t>از حلقه‌های PID پایه تا معماری‌های DCS و سامانه ایمنی SIS</a:t>
            </a:r>
            <a:endParaRPr lang="en-US" sz="1600" dirty="0"/>
          </a:p>
        </p:txBody>
      </p:sp>
      <p:pic>
        <p:nvPicPr>
          <p:cNvPr id="7" name="Image 0" descr="/home/claude/reactor_pptx/icons/microchip_teal.png"/>
          <p:cNvPicPr>
            <a:picLocks noChangeAspect="1"/>
          </p:cNvPicPr>
          <p:nvPr/>
        </p:nvPicPr>
        <p:blipFill>
          <a:blip r:embed="rId3"/>
          <a:stretch>
            <a:fillRect/>
          </a:stretch>
        </p:blipFill>
        <p:spPr>
          <a:xfrm>
            <a:off x="9814255" y="4297680"/>
            <a:ext cx="1188720" cy="1188720"/>
          </a:xfrm>
          <a:prstGeom prst="rect">
            <a:avLst/>
          </a:prstGeom>
        </p:spPr>
      </p:pic>
      <p:sp>
        <p:nvSpPr>
          <p:cNvPr id="8" name="Text 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8096B0"/>
                </a:solidFill>
                <a:latin typeface="Calibri" pitchFamily="34" charset="0"/>
                <a:ea typeface="Calibri" pitchFamily="34" charset="-122"/>
                <a:cs typeface="Calibri" pitchFamily="34" charset="-120"/>
              </a:rPr>
              <a:t>25</a:t>
            </a:r>
            <a:endParaRPr lang="en-US" sz="1000" dirty="0"/>
          </a:p>
        </p:txBody>
      </p:sp>
      <p:sp>
        <p:nvSpPr>
          <p:cNvPr id="9" name="Text 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8096B0"/>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73736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۸-۱ تا ۸-۱۱</a:t>
            </a:r>
            <a:endParaRPr lang="en-US" sz="1600" dirty="0"/>
          </a:p>
        </p:txBody>
      </p:sp>
      <p:sp>
        <p:nvSpPr>
          <p:cNvPr id="3" name="Text 1"/>
          <p:cNvSpPr/>
          <p:nvPr/>
        </p:nvSpPr>
        <p:spPr>
          <a:xfrm>
            <a:off x="1645920" y="502920"/>
            <a:ext cx="990569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از حلقه ساده تا معماری یکپارچه</a:t>
            </a:r>
            <a:endParaRPr lang="en-US" sz="1300" dirty="0"/>
          </a:p>
        </p:txBody>
      </p:sp>
      <p:sp>
        <p:nvSpPr>
          <p:cNvPr id="4" name="Text 2"/>
          <p:cNvSpPr/>
          <p:nvPr/>
        </p:nvSpPr>
        <p:spPr>
          <a:xfrm>
            <a:off x="1645920" y="841248"/>
            <a:ext cx="990569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سامانه‌های کنترلی راکتور صنعتی</a:t>
            </a:r>
            <a:endParaRPr lang="en-US" sz="2800" dirty="0"/>
          </a:p>
        </p:txBody>
      </p:sp>
      <p:sp>
        <p:nvSpPr>
          <p:cNvPr id="5" name="Text 3"/>
          <p:cNvSpPr/>
          <p:nvPr/>
        </p:nvSpPr>
        <p:spPr>
          <a:xfrm>
            <a:off x="8259775" y="1783080"/>
            <a:ext cx="3291840" cy="320040"/>
          </a:xfrm>
          <a:prstGeom prst="rect">
            <a:avLst/>
          </a:prstGeom>
          <a:noFill/>
          <a:ln/>
        </p:spPr>
        <p:txBody>
          <a:bodyPr wrap="square" lIns="0" tIns="0" rIns="0" bIns="0" rtlCol="0" anchor="ctr"/>
          <a:lstStyle/>
          <a:p>
            <a:pPr marL="0" indent="0" algn="r">
              <a:buNone/>
            </a:pPr>
            <a:r>
              <a:rPr lang="en-US" sz="1300" b="1" dirty="0">
                <a:solidFill>
                  <a:srgbClr val="0E7C7B"/>
                </a:solidFill>
                <a:latin typeface="Calibri" pitchFamily="34" charset="0"/>
                <a:ea typeface="Calibri" pitchFamily="34" charset="-122"/>
                <a:cs typeface="Calibri" pitchFamily="34" charset="-120"/>
              </a:rPr>
              <a:t>حلقه‌های کنترل پایه</a:t>
            </a:r>
            <a:endParaRPr lang="en-US" sz="1300" dirty="0"/>
          </a:p>
        </p:txBody>
      </p:sp>
      <p:sp>
        <p:nvSpPr>
          <p:cNvPr id="6" name="Shape 4"/>
          <p:cNvSpPr/>
          <p:nvPr/>
        </p:nvSpPr>
        <p:spPr>
          <a:xfrm>
            <a:off x="11323015" y="2240280"/>
            <a:ext cx="109728" cy="109728"/>
          </a:xfrm>
          <a:prstGeom prst="ellipse">
            <a:avLst/>
          </a:prstGeom>
          <a:solidFill>
            <a:srgbClr val="D98E3F"/>
          </a:solidFill>
          <a:ln/>
        </p:spPr>
      </p:sp>
      <p:sp>
        <p:nvSpPr>
          <p:cNvPr id="7" name="Text 5"/>
          <p:cNvSpPr/>
          <p:nvPr/>
        </p:nvSpPr>
        <p:spPr>
          <a:xfrm>
            <a:off x="8259775" y="2121408"/>
            <a:ext cx="2926080" cy="292608"/>
          </a:xfrm>
          <a:prstGeom prst="rect">
            <a:avLst/>
          </a:prstGeom>
          <a:noFill/>
          <a:ln/>
        </p:spPr>
        <p:txBody>
          <a:bodyPr wrap="square" lIns="0" tIns="0" rIns="0" bIns="0" rtlCol="0" anchor="ctr"/>
          <a:lstStyle/>
          <a:p>
            <a:pPr marL="0" indent="0" algn="r">
              <a:buNone/>
            </a:pPr>
            <a:r>
              <a:rPr lang="en-US" sz="1200" dirty="0">
                <a:solidFill>
                  <a:srgbClr val="5C6B73"/>
                </a:solidFill>
                <a:latin typeface="Calibri" pitchFamily="34" charset="0"/>
                <a:ea typeface="Calibri" pitchFamily="34" charset="-122"/>
                <a:cs typeface="Calibri" pitchFamily="34" charset="-120"/>
              </a:rPr>
              <a:t>دما</a:t>
            </a:r>
            <a:endParaRPr lang="en-US" sz="1200" dirty="0"/>
          </a:p>
        </p:txBody>
      </p:sp>
      <p:sp>
        <p:nvSpPr>
          <p:cNvPr id="8" name="Shape 6"/>
          <p:cNvSpPr/>
          <p:nvPr/>
        </p:nvSpPr>
        <p:spPr>
          <a:xfrm>
            <a:off x="11323015" y="2633472"/>
            <a:ext cx="109728" cy="109728"/>
          </a:xfrm>
          <a:prstGeom prst="ellipse">
            <a:avLst/>
          </a:prstGeom>
          <a:solidFill>
            <a:srgbClr val="D98E3F"/>
          </a:solidFill>
          <a:ln/>
        </p:spPr>
      </p:sp>
      <p:sp>
        <p:nvSpPr>
          <p:cNvPr id="9" name="Text 7"/>
          <p:cNvSpPr/>
          <p:nvPr/>
        </p:nvSpPr>
        <p:spPr>
          <a:xfrm>
            <a:off x="8259775" y="2514600"/>
            <a:ext cx="2926080" cy="292608"/>
          </a:xfrm>
          <a:prstGeom prst="rect">
            <a:avLst/>
          </a:prstGeom>
          <a:noFill/>
          <a:ln/>
        </p:spPr>
        <p:txBody>
          <a:bodyPr wrap="square" lIns="0" tIns="0" rIns="0" bIns="0" rtlCol="0" anchor="ctr"/>
          <a:lstStyle/>
          <a:p>
            <a:pPr marL="0" indent="0" algn="r">
              <a:buNone/>
            </a:pPr>
            <a:r>
              <a:rPr lang="en-US" sz="1200" dirty="0">
                <a:solidFill>
                  <a:srgbClr val="5C6B73"/>
                </a:solidFill>
                <a:latin typeface="Calibri" pitchFamily="34" charset="0"/>
                <a:ea typeface="Calibri" pitchFamily="34" charset="-122"/>
                <a:cs typeface="Calibri" pitchFamily="34" charset="-120"/>
              </a:rPr>
              <a:t>فشار</a:t>
            </a:r>
            <a:endParaRPr lang="en-US" sz="1200" dirty="0"/>
          </a:p>
        </p:txBody>
      </p:sp>
      <p:sp>
        <p:nvSpPr>
          <p:cNvPr id="10" name="Shape 8"/>
          <p:cNvSpPr/>
          <p:nvPr/>
        </p:nvSpPr>
        <p:spPr>
          <a:xfrm>
            <a:off x="11323015" y="3026664"/>
            <a:ext cx="109728" cy="109728"/>
          </a:xfrm>
          <a:prstGeom prst="ellipse">
            <a:avLst/>
          </a:prstGeom>
          <a:solidFill>
            <a:srgbClr val="D98E3F"/>
          </a:solidFill>
          <a:ln/>
        </p:spPr>
      </p:sp>
      <p:sp>
        <p:nvSpPr>
          <p:cNvPr id="11" name="Text 9"/>
          <p:cNvSpPr/>
          <p:nvPr/>
        </p:nvSpPr>
        <p:spPr>
          <a:xfrm>
            <a:off x="8259775" y="2907792"/>
            <a:ext cx="2926080" cy="292608"/>
          </a:xfrm>
          <a:prstGeom prst="rect">
            <a:avLst/>
          </a:prstGeom>
          <a:noFill/>
          <a:ln/>
        </p:spPr>
        <p:txBody>
          <a:bodyPr wrap="square" lIns="0" tIns="0" rIns="0" bIns="0" rtlCol="0" anchor="ctr"/>
          <a:lstStyle/>
          <a:p>
            <a:pPr marL="0" indent="0" algn="r">
              <a:buNone/>
            </a:pPr>
            <a:r>
              <a:rPr lang="en-US" sz="1200" dirty="0">
                <a:solidFill>
                  <a:srgbClr val="5C6B73"/>
                </a:solidFill>
                <a:latin typeface="Calibri" pitchFamily="34" charset="0"/>
                <a:ea typeface="Calibri" pitchFamily="34" charset="-122"/>
                <a:cs typeface="Calibri" pitchFamily="34" charset="-120"/>
              </a:rPr>
              <a:t>سطح</a:t>
            </a:r>
            <a:endParaRPr lang="en-US" sz="1200" dirty="0"/>
          </a:p>
        </p:txBody>
      </p:sp>
      <p:sp>
        <p:nvSpPr>
          <p:cNvPr id="12" name="Shape 10"/>
          <p:cNvSpPr/>
          <p:nvPr/>
        </p:nvSpPr>
        <p:spPr>
          <a:xfrm>
            <a:off x="11323015" y="3419856"/>
            <a:ext cx="109728" cy="109728"/>
          </a:xfrm>
          <a:prstGeom prst="ellipse">
            <a:avLst/>
          </a:prstGeom>
          <a:solidFill>
            <a:srgbClr val="D98E3F"/>
          </a:solidFill>
          <a:ln/>
        </p:spPr>
      </p:sp>
      <p:sp>
        <p:nvSpPr>
          <p:cNvPr id="13" name="Text 11"/>
          <p:cNvSpPr/>
          <p:nvPr/>
        </p:nvSpPr>
        <p:spPr>
          <a:xfrm>
            <a:off x="8259775" y="3300984"/>
            <a:ext cx="2926080" cy="292608"/>
          </a:xfrm>
          <a:prstGeom prst="rect">
            <a:avLst/>
          </a:prstGeom>
          <a:noFill/>
          <a:ln/>
        </p:spPr>
        <p:txBody>
          <a:bodyPr wrap="square" lIns="0" tIns="0" rIns="0" bIns="0" rtlCol="0" anchor="ctr"/>
          <a:lstStyle/>
          <a:p>
            <a:pPr marL="0" indent="0" algn="r">
              <a:buNone/>
            </a:pPr>
            <a:r>
              <a:rPr lang="en-US" sz="1200" dirty="0">
                <a:solidFill>
                  <a:srgbClr val="5C6B73"/>
                </a:solidFill>
                <a:latin typeface="Calibri" pitchFamily="34" charset="0"/>
                <a:ea typeface="Calibri" pitchFamily="34" charset="-122"/>
                <a:cs typeface="Calibri" pitchFamily="34" charset="-120"/>
              </a:rPr>
              <a:t>دبی</a:t>
            </a:r>
            <a:endParaRPr lang="en-US" sz="1200" dirty="0"/>
          </a:p>
        </p:txBody>
      </p:sp>
      <p:sp>
        <p:nvSpPr>
          <p:cNvPr id="14" name="Shape 12"/>
          <p:cNvSpPr/>
          <p:nvPr/>
        </p:nvSpPr>
        <p:spPr>
          <a:xfrm>
            <a:off x="11323015" y="3813048"/>
            <a:ext cx="109728" cy="109728"/>
          </a:xfrm>
          <a:prstGeom prst="ellipse">
            <a:avLst/>
          </a:prstGeom>
          <a:solidFill>
            <a:srgbClr val="D98E3F"/>
          </a:solidFill>
          <a:ln/>
        </p:spPr>
      </p:sp>
      <p:sp>
        <p:nvSpPr>
          <p:cNvPr id="15" name="Text 13"/>
          <p:cNvSpPr/>
          <p:nvPr/>
        </p:nvSpPr>
        <p:spPr>
          <a:xfrm>
            <a:off x="8259775" y="3694176"/>
            <a:ext cx="2926080" cy="292608"/>
          </a:xfrm>
          <a:prstGeom prst="rect">
            <a:avLst/>
          </a:prstGeom>
          <a:noFill/>
          <a:ln/>
        </p:spPr>
        <p:txBody>
          <a:bodyPr wrap="square" lIns="0" tIns="0" rIns="0" bIns="0" rtlCol="0" anchor="ctr"/>
          <a:lstStyle/>
          <a:p>
            <a:pPr marL="0" indent="0" algn="r">
              <a:buNone/>
            </a:pPr>
            <a:r>
              <a:rPr lang="en-US" sz="1200" dirty="0">
                <a:solidFill>
                  <a:srgbClr val="5C6B73"/>
                </a:solidFill>
                <a:latin typeface="Calibri" pitchFamily="34" charset="0"/>
                <a:ea typeface="Calibri" pitchFamily="34" charset="-122"/>
                <a:cs typeface="Calibri" pitchFamily="34" charset="-120"/>
              </a:rPr>
              <a:t>pH</a:t>
            </a:r>
            <a:endParaRPr lang="en-US" sz="1200" dirty="0"/>
          </a:p>
        </p:txBody>
      </p:sp>
      <p:sp>
        <p:nvSpPr>
          <p:cNvPr id="16" name="Shape 14"/>
          <p:cNvSpPr/>
          <p:nvPr/>
        </p:nvSpPr>
        <p:spPr>
          <a:xfrm>
            <a:off x="11323015" y="4206240"/>
            <a:ext cx="109728" cy="109728"/>
          </a:xfrm>
          <a:prstGeom prst="ellipse">
            <a:avLst/>
          </a:prstGeom>
          <a:solidFill>
            <a:srgbClr val="D98E3F"/>
          </a:solidFill>
          <a:ln/>
        </p:spPr>
      </p:sp>
      <p:sp>
        <p:nvSpPr>
          <p:cNvPr id="17" name="Text 15"/>
          <p:cNvSpPr/>
          <p:nvPr/>
        </p:nvSpPr>
        <p:spPr>
          <a:xfrm>
            <a:off x="8259775" y="4087368"/>
            <a:ext cx="2926080" cy="292608"/>
          </a:xfrm>
          <a:prstGeom prst="rect">
            <a:avLst/>
          </a:prstGeom>
          <a:noFill/>
          <a:ln/>
        </p:spPr>
        <p:txBody>
          <a:bodyPr wrap="square" lIns="0" tIns="0" rIns="0" bIns="0" rtlCol="0" anchor="ctr"/>
          <a:lstStyle/>
          <a:p>
            <a:pPr marL="0" indent="0" algn="r">
              <a:buNone/>
            </a:pPr>
            <a:r>
              <a:rPr lang="en-US" sz="1200" dirty="0">
                <a:solidFill>
                  <a:srgbClr val="5C6B73"/>
                </a:solidFill>
                <a:latin typeface="Calibri" pitchFamily="34" charset="0"/>
                <a:ea typeface="Calibri" pitchFamily="34" charset="-122"/>
                <a:cs typeface="Calibri" pitchFamily="34" charset="-120"/>
              </a:rPr>
              <a:t>ترکیب محصول</a:t>
            </a:r>
            <a:endParaRPr lang="en-US" sz="1200" dirty="0"/>
          </a:p>
        </p:txBody>
      </p:sp>
      <p:sp>
        <p:nvSpPr>
          <p:cNvPr id="18" name="Shape 16"/>
          <p:cNvSpPr/>
          <p:nvPr/>
        </p:nvSpPr>
        <p:spPr>
          <a:xfrm>
            <a:off x="640080" y="1783080"/>
            <a:ext cx="1874520" cy="2743200"/>
          </a:xfrm>
          <a:prstGeom prst="roundRect">
            <a:avLst>
              <a:gd name="adj" fmla="val 3902"/>
            </a:avLst>
          </a:prstGeom>
          <a:solidFill>
            <a:srgbClr val="0B2545"/>
          </a:solidFill>
          <a:ln/>
        </p:spPr>
      </p:sp>
      <p:pic>
        <p:nvPicPr>
          <p:cNvPr id="19" name="Image 0" descr="/home/claude/reactor_pptx/icons/cog_teal.png"/>
          <p:cNvPicPr>
            <a:picLocks noChangeAspect="1"/>
          </p:cNvPicPr>
          <p:nvPr/>
        </p:nvPicPr>
        <p:blipFill>
          <a:blip r:embed="rId3"/>
          <a:stretch>
            <a:fillRect/>
          </a:stretch>
        </p:blipFill>
        <p:spPr>
          <a:xfrm>
            <a:off x="1421892" y="2011680"/>
            <a:ext cx="310896" cy="310896"/>
          </a:xfrm>
          <a:prstGeom prst="rect">
            <a:avLst/>
          </a:prstGeom>
        </p:spPr>
      </p:pic>
      <p:sp>
        <p:nvSpPr>
          <p:cNvPr id="20" name="Text 17"/>
          <p:cNvSpPr/>
          <p:nvPr/>
        </p:nvSpPr>
        <p:spPr>
          <a:xfrm>
            <a:off x="731520" y="2450592"/>
            <a:ext cx="1691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PID</a:t>
            </a:r>
            <a:endParaRPr lang="en-US" sz="1600" dirty="0"/>
          </a:p>
        </p:txBody>
      </p:sp>
      <p:sp>
        <p:nvSpPr>
          <p:cNvPr id="21" name="Text 18"/>
          <p:cNvSpPr/>
          <p:nvPr/>
        </p:nvSpPr>
        <p:spPr>
          <a:xfrm>
            <a:off x="777240" y="2880360"/>
            <a:ext cx="1600200" cy="1554480"/>
          </a:xfrm>
          <a:prstGeom prst="rect">
            <a:avLst/>
          </a:prstGeom>
          <a:noFill/>
          <a:ln/>
        </p:spPr>
        <p:txBody>
          <a:bodyPr wrap="square" lIns="0" tIns="0" rIns="0" bIns="0" rtlCol="0" anchor="ctr"/>
          <a:lstStyle/>
          <a:p>
            <a:pPr marL="0" indent="0" algn="ctr">
              <a:lnSpc>
                <a:spcPct val="130000"/>
              </a:lnSpc>
              <a:buNone/>
            </a:pPr>
            <a:r>
              <a:rPr lang="en-US" sz="980" dirty="0">
                <a:solidFill>
                  <a:srgbClr val="C7D9EE"/>
                </a:solidFill>
                <a:latin typeface="Calibri" pitchFamily="34" charset="0"/>
                <a:ea typeface="Calibri" pitchFamily="34" charset="-122"/>
                <a:cs typeface="Calibri" pitchFamily="34" charset="-120"/>
              </a:rPr>
              <a:t>کنترل‌کننده تناسبی-انتگرالی-مشتقی؛ هسته اصلی اکثر حلقه‌های کنترلی منفرد.</a:t>
            </a:r>
            <a:endParaRPr lang="en-US" sz="980" dirty="0"/>
          </a:p>
        </p:txBody>
      </p:sp>
      <p:sp>
        <p:nvSpPr>
          <p:cNvPr id="22" name="Shape 19"/>
          <p:cNvSpPr/>
          <p:nvPr/>
        </p:nvSpPr>
        <p:spPr>
          <a:xfrm>
            <a:off x="2679192" y="1783080"/>
            <a:ext cx="1874520" cy="2743200"/>
          </a:xfrm>
          <a:prstGeom prst="roundRect">
            <a:avLst>
              <a:gd name="adj" fmla="val 3902"/>
            </a:avLst>
          </a:prstGeom>
          <a:solidFill>
            <a:srgbClr val="0B2545"/>
          </a:solidFill>
          <a:ln/>
        </p:spPr>
      </p:sp>
      <p:pic>
        <p:nvPicPr>
          <p:cNvPr id="23" name="Image 1" descr="/home/claude/reactor_pptx/icons/microchip_teal.png"/>
          <p:cNvPicPr>
            <a:picLocks noChangeAspect="1"/>
          </p:cNvPicPr>
          <p:nvPr/>
        </p:nvPicPr>
        <p:blipFill>
          <a:blip r:embed="rId4"/>
          <a:stretch>
            <a:fillRect/>
          </a:stretch>
        </p:blipFill>
        <p:spPr>
          <a:xfrm>
            <a:off x="3461004" y="2011680"/>
            <a:ext cx="310896" cy="310896"/>
          </a:xfrm>
          <a:prstGeom prst="rect">
            <a:avLst/>
          </a:prstGeom>
        </p:spPr>
      </p:pic>
      <p:sp>
        <p:nvSpPr>
          <p:cNvPr id="24" name="Text 20"/>
          <p:cNvSpPr/>
          <p:nvPr/>
        </p:nvSpPr>
        <p:spPr>
          <a:xfrm>
            <a:off x="2770632" y="2450592"/>
            <a:ext cx="1691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PLC</a:t>
            </a:r>
            <a:endParaRPr lang="en-US" sz="1600" dirty="0"/>
          </a:p>
        </p:txBody>
      </p:sp>
      <p:sp>
        <p:nvSpPr>
          <p:cNvPr id="25" name="Text 21"/>
          <p:cNvSpPr/>
          <p:nvPr/>
        </p:nvSpPr>
        <p:spPr>
          <a:xfrm>
            <a:off x="2816352" y="2880360"/>
            <a:ext cx="1600200" cy="1554480"/>
          </a:xfrm>
          <a:prstGeom prst="rect">
            <a:avLst/>
          </a:prstGeom>
          <a:noFill/>
          <a:ln/>
        </p:spPr>
        <p:txBody>
          <a:bodyPr wrap="square" lIns="0" tIns="0" rIns="0" bIns="0" rtlCol="0" anchor="ctr"/>
          <a:lstStyle/>
          <a:p>
            <a:pPr marL="0" indent="0" algn="ctr">
              <a:lnSpc>
                <a:spcPct val="130000"/>
              </a:lnSpc>
              <a:buNone/>
            </a:pPr>
            <a:r>
              <a:rPr lang="en-US" sz="980" dirty="0">
                <a:solidFill>
                  <a:srgbClr val="C7D9EE"/>
                </a:solidFill>
                <a:latin typeface="Calibri" pitchFamily="34" charset="0"/>
                <a:ea typeface="Calibri" pitchFamily="34" charset="-122"/>
                <a:cs typeface="Calibri" pitchFamily="34" charset="-120"/>
              </a:rPr>
              <a:t>کنترل‌کننده منطقی برنامه‌پذیر برای واحدهای کوچک تا متوسط.</a:t>
            </a:r>
            <a:endParaRPr lang="en-US" sz="980" dirty="0"/>
          </a:p>
        </p:txBody>
      </p:sp>
      <p:sp>
        <p:nvSpPr>
          <p:cNvPr id="26" name="Shape 22"/>
          <p:cNvSpPr/>
          <p:nvPr/>
        </p:nvSpPr>
        <p:spPr>
          <a:xfrm>
            <a:off x="4718304" y="1783080"/>
            <a:ext cx="1874520" cy="2743200"/>
          </a:xfrm>
          <a:prstGeom prst="roundRect">
            <a:avLst>
              <a:gd name="adj" fmla="val 3902"/>
            </a:avLst>
          </a:prstGeom>
          <a:solidFill>
            <a:srgbClr val="0B2545"/>
          </a:solidFill>
          <a:ln/>
        </p:spPr>
      </p:sp>
      <p:pic>
        <p:nvPicPr>
          <p:cNvPr id="27" name="Image 2" descr="/home/claude/reactor_pptx/icons/network_teal.png"/>
          <p:cNvPicPr>
            <a:picLocks noChangeAspect="1"/>
          </p:cNvPicPr>
          <p:nvPr/>
        </p:nvPicPr>
        <p:blipFill>
          <a:blip r:embed="rId5"/>
          <a:stretch>
            <a:fillRect/>
          </a:stretch>
        </p:blipFill>
        <p:spPr>
          <a:xfrm>
            <a:off x="5500116" y="2011680"/>
            <a:ext cx="310896" cy="310896"/>
          </a:xfrm>
          <a:prstGeom prst="rect">
            <a:avLst/>
          </a:prstGeom>
        </p:spPr>
      </p:pic>
      <p:sp>
        <p:nvSpPr>
          <p:cNvPr id="28" name="Text 23"/>
          <p:cNvSpPr/>
          <p:nvPr/>
        </p:nvSpPr>
        <p:spPr>
          <a:xfrm>
            <a:off x="4809744" y="2450592"/>
            <a:ext cx="1691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DCS</a:t>
            </a:r>
            <a:endParaRPr lang="en-US" sz="1600" dirty="0"/>
          </a:p>
        </p:txBody>
      </p:sp>
      <p:sp>
        <p:nvSpPr>
          <p:cNvPr id="29" name="Text 24"/>
          <p:cNvSpPr/>
          <p:nvPr/>
        </p:nvSpPr>
        <p:spPr>
          <a:xfrm>
            <a:off x="4855464" y="2880360"/>
            <a:ext cx="1600200" cy="1554480"/>
          </a:xfrm>
          <a:prstGeom prst="rect">
            <a:avLst/>
          </a:prstGeom>
          <a:noFill/>
          <a:ln/>
        </p:spPr>
        <p:txBody>
          <a:bodyPr wrap="square" lIns="0" tIns="0" rIns="0" bIns="0" rtlCol="0" anchor="ctr"/>
          <a:lstStyle/>
          <a:p>
            <a:pPr marL="0" indent="0" algn="ctr">
              <a:lnSpc>
                <a:spcPct val="130000"/>
              </a:lnSpc>
              <a:buNone/>
            </a:pPr>
            <a:r>
              <a:rPr lang="en-US" sz="980" dirty="0">
                <a:solidFill>
                  <a:srgbClr val="C7D9EE"/>
                </a:solidFill>
                <a:latin typeface="Calibri" pitchFamily="34" charset="0"/>
                <a:ea typeface="Calibri" pitchFamily="34" charset="-122"/>
                <a:cs typeface="Calibri" pitchFamily="34" charset="-120"/>
              </a:rPr>
              <a:t>سامانه کنترل توزیع‌شده برای مدیریت یکپارچه صدها حلقه در واحدهای بزرگ.</a:t>
            </a:r>
            <a:endParaRPr lang="en-US" sz="980" dirty="0"/>
          </a:p>
        </p:txBody>
      </p:sp>
      <p:sp>
        <p:nvSpPr>
          <p:cNvPr id="30" name="Shape 25"/>
          <p:cNvSpPr/>
          <p:nvPr/>
        </p:nvSpPr>
        <p:spPr>
          <a:xfrm>
            <a:off x="6757416" y="1783080"/>
            <a:ext cx="1874520" cy="2743200"/>
          </a:xfrm>
          <a:prstGeom prst="roundRect">
            <a:avLst>
              <a:gd name="adj" fmla="val 3902"/>
            </a:avLst>
          </a:prstGeom>
          <a:solidFill>
            <a:srgbClr val="0B2545"/>
          </a:solidFill>
          <a:ln/>
        </p:spPr>
      </p:sp>
      <p:pic>
        <p:nvPicPr>
          <p:cNvPr id="31" name="Image 3" descr="/home/claude/reactor_pptx/icons/shield_teal.png"/>
          <p:cNvPicPr>
            <a:picLocks noChangeAspect="1"/>
          </p:cNvPicPr>
          <p:nvPr/>
        </p:nvPicPr>
        <p:blipFill>
          <a:blip r:embed="rId6"/>
          <a:stretch>
            <a:fillRect/>
          </a:stretch>
        </p:blipFill>
        <p:spPr>
          <a:xfrm>
            <a:off x="7539228" y="2011680"/>
            <a:ext cx="310896" cy="310896"/>
          </a:xfrm>
          <a:prstGeom prst="rect">
            <a:avLst/>
          </a:prstGeom>
        </p:spPr>
      </p:pic>
      <p:sp>
        <p:nvSpPr>
          <p:cNvPr id="32" name="Text 26"/>
          <p:cNvSpPr/>
          <p:nvPr/>
        </p:nvSpPr>
        <p:spPr>
          <a:xfrm>
            <a:off x="6848856" y="2450592"/>
            <a:ext cx="16916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SIS</a:t>
            </a:r>
            <a:endParaRPr lang="en-US" sz="1600" dirty="0"/>
          </a:p>
        </p:txBody>
      </p:sp>
      <p:sp>
        <p:nvSpPr>
          <p:cNvPr id="33" name="Text 27"/>
          <p:cNvSpPr/>
          <p:nvPr/>
        </p:nvSpPr>
        <p:spPr>
          <a:xfrm>
            <a:off x="6894576" y="2880360"/>
            <a:ext cx="1600200" cy="1554480"/>
          </a:xfrm>
          <a:prstGeom prst="rect">
            <a:avLst/>
          </a:prstGeom>
          <a:noFill/>
          <a:ln/>
        </p:spPr>
        <p:txBody>
          <a:bodyPr wrap="square" lIns="0" tIns="0" rIns="0" bIns="0" rtlCol="0" anchor="ctr"/>
          <a:lstStyle/>
          <a:p>
            <a:pPr marL="0" indent="0" algn="ctr">
              <a:lnSpc>
                <a:spcPct val="130000"/>
              </a:lnSpc>
              <a:buNone/>
            </a:pPr>
            <a:r>
              <a:rPr lang="en-US" sz="980" dirty="0">
                <a:solidFill>
                  <a:srgbClr val="C7D9EE"/>
                </a:solidFill>
                <a:latin typeface="Calibri" pitchFamily="34" charset="0"/>
                <a:ea typeface="Calibri" pitchFamily="34" charset="-122"/>
                <a:cs typeface="Calibri" pitchFamily="34" charset="-120"/>
              </a:rPr>
              <a:t>سامانه ایمنی ابزار دقیق؛ مستقل از کنترل اصلی برای توقف اضطراری.</a:t>
            </a:r>
            <a:endParaRPr lang="en-US" sz="980" dirty="0"/>
          </a:p>
        </p:txBody>
      </p:sp>
      <p:sp>
        <p:nvSpPr>
          <p:cNvPr id="34" name="Shape 28"/>
          <p:cNvSpPr/>
          <p:nvPr/>
        </p:nvSpPr>
        <p:spPr>
          <a:xfrm>
            <a:off x="640080" y="4754880"/>
            <a:ext cx="10911535" cy="0"/>
          </a:xfrm>
          <a:prstGeom prst="line">
            <a:avLst/>
          </a:prstGeom>
          <a:noFill/>
          <a:ln w="12700">
            <a:solidFill>
              <a:srgbClr val="E1E6E9"/>
            </a:solidFill>
            <a:prstDash val="solid"/>
          </a:ln>
        </p:spPr>
      </p:sp>
      <p:sp>
        <p:nvSpPr>
          <p:cNvPr id="35" name="Text 29"/>
          <p:cNvSpPr/>
          <p:nvPr/>
        </p:nvSpPr>
        <p:spPr>
          <a:xfrm>
            <a:off x="640080" y="4983480"/>
            <a:ext cx="10911535" cy="731520"/>
          </a:xfrm>
          <a:prstGeom prst="rect">
            <a:avLst/>
          </a:prstGeom>
          <a:noFill/>
          <a:ln/>
        </p:spPr>
        <p:txBody>
          <a:bodyPr wrap="square" lIns="0" tIns="0" rIns="0" bIns="0" rtlCol="0" anchor="ctr"/>
          <a:lstStyle/>
          <a:p>
            <a:pPr marL="0" indent="0" algn="r">
              <a:lnSpc>
                <a:spcPct val="140000"/>
              </a:lnSpc>
              <a:buNone/>
            </a:pPr>
            <a:r>
              <a:rPr lang="en-US" sz="1250" dirty="0">
                <a:solidFill>
                  <a:srgbClr val="5C6B73"/>
                </a:solidFill>
                <a:latin typeface="Calibri" pitchFamily="34" charset="0"/>
                <a:ea typeface="Calibri" pitchFamily="34" charset="-122"/>
                <a:cs typeface="Calibri" pitchFamily="34" charset="-120"/>
              </a:rPr>
              <a:t>استانداردهای کلیدی: کد ASME برای ظروف تحت فشار  ·  IEC 61511 برای سامانه‌های ایمنی ابزار دقیق  ·  ISA-5.1 برای نمادگذاری ابزار دقیق  ·  ISA-88 برای فرآیندهای ناپیوسته</a:t>
            </a:r>
            <a:endParaRPr lang="en-US" sz="1250" dirty="0"/>
          </a:p>
        </p:txBody>
      </p:sp>
      <p:sp>
        <p:nvSpPr>
          <p:cNvPr id="36" name="Text 30"/>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26</a:t>
            </a:r>
            <a:endParaRPr lang="en-US" sz="1000" dirty="0"/>
          </a:p>
        </p:txBody>
      </p:sp>
      <p:sp>
        <p:nvSpPr>
          <p:cNvPr id="37" name="Text 31"/>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144000" y="-1645920"/>
            <a:ext cx="5029200" cy="5029200"/>
          </a:xfrm>
          <a:prstGeom prst="ellipse">
            <a:avLst/>
          </a:prstGeom>
          <a:solidFill>
            <a:srgbClr val="112C52"/>
          </a:solidFill>
          <a:ln/>
        </p:spPr>
      </p:sp>
      <p:sp>
        <p:nvSpPr>
          <p:cNvPr id="3" name="Shape 1"/>
          <p:cNvSpPr/>
          <p:nvPr/>
        </p:nvSpPr>
        <p:spPr>
          <a:xfrm>
            <a:off x="-1828800" y="4572000"/>
            <a:ext cx="3657600" cy="3657600"/>
          </a:xfrm>
          <a:prstGeom prst="ellipse">
            <a:avLst/>
          </a:prstGeom>
          <a:solidFill>
            <a:srgbClr val="16396B"/>
          </a:solidFill>
          <a:ln/>
        </p:spPr>
      </p:sp>
      <p:sp>
        <p:nvSpPr>
          <p:cNvPr id="4" name="Text 2"/>
          <p:cNvSpPr/>
          <p:nvPr/>
        </p:nvSpPr>
        <p:spPr>
          <a:xfrm>
            <a:off x="822960" y="2011680"/>
            <a:ext cx="5486400" cy="457200"/>
          </a:xfrm>
          <a:prstGeom prst="rect">
            <a:avLst/>
          </a:prstGeom>
          <a:noFill/>
          <a:ln/>
        </p:spPr>
        <p:txBody>
          <a:bodyPr wrap="square" lIns="0" tIns="0" rIns="0" bIns="0" rtlCol="0" anchor="ctr"/>
          <a:lstStyle/>
          <a:p>
            <a:pPr marL="0" indent="0" algn="r">
              <a:buNone/>
            </a:pPr>
            <a:r>
              <a:rPr lang="en-US" sz="1600" b="1" kern="0" spc="100" dirty="0">
                <a:solidFill>
                  <a:srgbClr val="D98E3F"/>
                </a:solidFill>
                <a:latin typeface="Calibri" pitchFamily="34" charset="0"/>
                <a:ea typeface="Calibri" pitchFamily="34" charset="-122"/>
                <a:cs typeface="Calibri" pitchFamily="34" charset="-120"/>
              </a:rPr>
              <a:t>فصل نهم</a:t>
            </a:r>
            <a:endParaRPr lang="en-US" sz="1600" dirty="0"/>
          </a:p>
        </p:txBody>
      </p:sp>
      <p:sp>
        <p:nvSpPr>
          <p:cNvPr id="5" name="Text 3"/>
          <p:cNvSpPr/>
          <p:nvPr/>
        </p:nvSpPr>
        <p:spPr>
          <a:xfrm>
            <a:off x="822960" y="2468880"/>
            <a:ext cx="9875520" cy="1097280"/>
          </a:xfrm>
          <a:prstGeom prst="rect">
            <a:avLst/>
          </a:prstGeom>
          <a:noFill/>
          <a:ln/>
        </p:spPr>
        <p:txBody>
          <a:bodyPr wrap="square" lIns="0" tIns="0" rIns="0" bIns="0" rtlCol="0" anchor="ctr"/>
          <a:lstStyle/>
          <a:p>
            <a:pPr marL="0" indent="0" algn="r">
              <a:buNone/>
            </a:pPr>
            <a:r>
              <a:rPr lang="en-US" sz="3800" b="1" dirty="0">
                <a:solidFill>
                  <a:srgbClr val="FFFFFF"/>
                </a:solidFill>
                <a:latin typeface="Calibri" pitchFamily="34" charset="0"/>
                <a:ea typeface="Calibri" pitchFamily="34" charset="-122"/>
                <a:cs typeface="Calibri" pitchFamily="34" charset="-120"/>
              </a:rPr>
              <a:t>کاربرد انواع راکتورها در صنعت</a:t>
            </a:r>
            <a:endParaRPr lang="en-US" sz="3800" dirty="0"/>
          </a:p>
        </p:txBody>
      </p:sp>
      <p:sp>
        <p:nvSpPr>
          <p:cNvPr id="6" name="Text 4"/>
          <p:cNvSpPr/>
          <p:nvPr/>
        </p:nvSpPr>
        <p:spPr>
          <a:xfrm>
            <a:off x="822960" y="3429000"/>
            <a:ext cx="8686800" cy="548640"/>
          </a:xfrm>
          <a:prstGeom prst="rect">
            <a:avLst/>
          </a:prstGeom>
          <a:noFill/>
          <a:ln/>
        </p:spPr>
        <p:txBody>
          <a:bodyPr wrap="square" lIns="0" tIns="0" rIns="0" bIns="0" rtlCol="0" anchor="ctr"/>
          <a:lstStyle/>
          <a:p>
            <a:pPr marL="0" indent="0" algn="r">
              <a:buNone/>
            </a:pPr>
            <a:r>
              <a:rPr lang="en-US" sz="1600" dirty="0">
                <a:solidFill>
                  <a:srgbClr val="C7D9EE"/>
                </a:solidFill>
                <a:latin typeface="Calibri" pitchFamily="34" charset="0"/>
                <a:ea typeface="Calibri" pitchFamily="34" charset="-122"/>
                <a:cs typeface="Calibri" pitchFamily="34" charset="-120"/>
              </a:rPr>
              <a:t>از پتروشیمی تا داروسازی، غذایی، زیستی و محیط‌زیست</a:t>
            </a:r>
            <a:endParaRPr lang="en-US" sz="1600" dirty="0"/>
          </a:p>
        </p:txBody>
      </p:sp>
      <p:pic>
        <p:nvPicPr>
          <p:cNvPr id="7" name="Image 0" descr="/home/claude/reactor_pptx/icons/industry_teal.png"/>
          <p:cNvPicPr>
            <a:picLocks noChangeAspect="1"/>
          </p:cNvPicPr>
          <p:nvPr/>
        </p:nvPicPr>
        <p:blipFill>
          <a:blip r:embed="rId3"/>
          <a:stretch>
            <a:fillRect/>
          </a:stretch>
        </p:blipFill>
        <p:spPr>
          <a:xfrm>
            <a:off x="9814255" y="4297680"/>
            <a:ext cx="1188720" cy="1188720"/>
          </a:xfrm>
          <a:prstGeom prst="rect">
            <a:avLst/>
          </a:prstGeom>
        </p:spPr>
      </p:pic>
      <p:sp>
        <p:nvSpPr>
          <p:cNvPr id="8" name="Text 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8096B0"/>
                </a:solidFill>
                <a:latin typeface="Calibri" pitchFamily="34" charset="0"/>
                <a:ea typeface="Calibri" pitchFamily="34" charset="-122"/>
                <a:cs typeface="Calibri" pitchFamily="34" charset="-120"/>
              </a:rPr>
              <a:t>27</a:t>
            </a:r>
            <a:endParaRPr lang="en-US" sz="1000" dirty="0"/>
          </a:p>
        </p:txBody>
      </p:sp>
      <p:sp>
        <p:nvSpPr>
          <p:cNvPr id="9" name="Text 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8096B0"/>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645920" cy="457200"/>
          </a:xfrm>
          <a:prstGeom prst="rect">
            <a:avLst/>
          </a:prstGeom>
          <a:noFill/>
          <a:ln/>
        </p:spPr>
        <p:txBody>
          <a:bodyPr wrap="square" lIns="0" tIns="0" rIns="0" bIns="0" rtlCol="0" anchor="ctr"/>
          <a:lstStyle/>
          <a:p>
            <a:pPr marL="0" indent="0" algn="r">
              <a:buNone/>
            </a:pPr>
            <a:r>
              <a:rPr lang="en-US" sz="1600" b="1" dirty="0">
                <a:solidFill>
                  <a:srgbClr val="0E7C7B"/>
                </a:solidFill>
                <a:latin typeface="Calibri" pitchFamily="34" charset="0"/>
                <a:ea typeface="Calibri" pitchFamily="34" charset="-122"/>
                <a:cs typeface="Calibri" pitchFamily="34" charset="-120"/>
              </a:rPr>
              <a:t>۹-۱ تا ۹-۹</a:t>
            </a:r>
            <a:endParaRPr lang="en-US" sz="1600" dirty="0"/>
          </a:p>
        </p:txBody>
      </p:sp>
      <p:sp>
        <p:nvSpPr>
          <p:cNvPr id="3" name="Text 1"/>
          <p:cNvSpPr/>
          <p:nvPr/>
        </p:nvSpPr>
        <p:spPr>
          <a:xfrm>
            <a:off x="1554480" y="502920"/>
            <a:ext cx="999713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هشت حوزه کاربرد صنعتی</a:t>
            </a:r>
            <a:endParaRPr lang="en-US" sz="1300" dirty="0"/>
          </a:p>
        </p:txBody>
      </p:sp>
      <p:sp>
        <p:nvSpPr>
          <p:cNvPr id="4" name="Text 2"/>
          <p:cNvSpPr/>
          <p:nvPr/>
        </p:nvSpPr>
        <p:spPr>
          <a:xfrm>
            <a:off x="1554480" y="841248"/>
            <a:ext cx="999713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از پتروشیمی تا محیط‌زیست</a:t>
            </a:r>
            <a:endParaRPr lang="en-US" sz="2800" dirty="0"/>
          </a:p>
        </p:txBody>
      </p:sp>
      <p:sp>
        <p:nvSpPr>
          <p:cNvPr id="5" name="Shape 3"/>
          <p:cNvSpPr/>
          <p:nvPr/>
        </p:nvSpPr>
        <p:spPr>
          <a:xfrm>
            <a:off x="8995181" y="1783080"/>
            <a:ext cx="2556434" cy="1783080"/>
          </a:xfrm>
          <a:prstGeom prst="roundRect">
            <a:avLst>
              <a:gd name="adj" fmla="val 4103"/>
            </a:avLst>
          </a:prstGeom>
          <a:solidFill>
            <a:srgbClr val="F7F9FA"/>
          </a:solidFill>
          <a:ln/>
        </p:spPr>
      </p:sp>
      <p:sp>
        <p:nvSpPr>
          <p:cNvPr id="6" name="Shape 4"/>
          <p:cNvSpPr/>
          <p:nvPr/>
        </p:nvSpPr>
        <p:spPr>
          <a:xfrm>
            <a:off x="9196349" y="1984248"/>
            <a:ext cx="420624" cy="420624"/>
          </a:xfrm>
          <a:prstGeom prst="ellipse">
            <a:avLst/>
          </a:prstGeom>
          <a:solidFill>
            <a:srgbClr val="0E7C7B"/>
          </a:solidFill>
          <a:ln/>
        </p:spPr>
      </p:sp>
      <p:pic>
        <p:nvPicPr>
          <p:cNvPr id="7" name="Image 0" descr="/home/claude/reactor_pptx/icons/industry_white.png"/>
          <p:cNvPicPr>
            <a:picLocks noChangeAspect="1"/>
          </p:cNvPicPr>
          <p:nvPr/>
        </p:nvPicPr>
        <p:blipFill>
          <a:blip r:embed="rId3"/>
          <a:stretch>
            <a:fillRect/>
          </a:stretch>
        </p:blipFill>
        <p:spPr>
          <a:xfrm>
            <a:off x="9296933" y="2084832"/>
            <a:ext cx="219456" cy="219456"/>
          </a:xfrm>
          <a:prstGeom prst="rect">
            <a:avLst/>
          </a:prstGeom>
        </p:spPr>
      </p:pic>
      <p:sp>
        <p:nvSpPr>
          <p:cNvPr id="8" name="Text 5"/>
          <p:cNvSpPr/>
          <p:nvPr/>
        </p:nvSpPr>
        <p:spPr>
          <a:xfrm>
            <a:off x="9178061" y="2532888"/>
            <a:ext cx="2190674" cy="320040"/>
          </a:xfrm>
          <a:prstGeom prst="rect">
            <a:avLst/>
          </a:prstGeom>
          <a:noFill/>
          <a:ln/>
        </p:spPr>
        <p:txBody>
          <a:bodyPr wrap="square" lIns="0" tIns="0" rIns="0" bIns="0" rtlCol="0" anchor="ctr"/>
          <a:lstStyle/>
          <a:p>
            <a:pPr marL="0" indent="0" algn="r">
              <a:buNone/>
            </a:pPr>
            <a:r>
              <a:rPr lang="en-US" sz="1300" b="1" dirty="0">
                <a:solidFill>
                  <a:srgbClr val="1A2433"/>
                </a:solidFill>
                <a:latin typeface="Calibri" pitchFamily="34" charset="0"/>
                <a:ea typeface="Calibri" pitchFamily="34" charset="-122"/>
                <a:cs typeface="Calibri" pitchFamily="34" charset="-120"/>
              </a:rPr>
              <a:t>پتروشیمی</a:t>
            </a:r>
            <a:endParaRPr lang="en-US" sz="1300" dirty="0"/>
          </a:p>
        </p:txBody>
      </p:sp>
      <p:sp>
        <p:nvSpPr>
          <p:cNvPr id="9" name="Text 6"/>
          <p:cNvSpPr/>
          <p:nvPr/>
        </p:nvSpPr>
        <p:spPr>
          <a:xfrm>
            <a:off x="9178061" y="2862072"/>
            <a:ext cx="2190674" cy="594360"/>
          </a:xfrm>
          <a:prstGeom prst="rect">
            <a:avLst/>
          </a:prstGeom>
          <a:noFill/>
          <a:ln/>
        </p:spPr>
        <p:txBody>
          <a:bodyPr wrap="square" lIns="0" tIns="0" rIns="0" bIns="0" rtlCol="0" anchor="ctr"/>
          <a:lstStyle/>
          <a:p>
            <a:pPr marL="0" indent="0" algn="r">
              <a:lnSpc>
                <a:spcPct val="125000"/>
              </a:lnSpc>
              <a:buNone/>
            </a:pPr>
            <a:r>
              <a:rPr lang="en-US" sz="980" dirty="0">
                <a:solidFill>
                  <a:srgbClr val="5C6B73"/>
                </a:solidFill>
                <a:latin typeface="Calibri" pitchFamily="34" charset="0"/>
                <a:ea typeface="Calibri" pitchFamily="34" charset="-122"/>
                <a:cs typeface="Calibri" pitchFamily="34" charset="-120"/>
              </a:rPr>
              <a:t>لوله‌ای، بستر سیال — کراکینگ اتیلن</a:t>
            </a:r>
            <a:endParaRPr lang="en-US" sz="980" dirty="0"/>
          </a:p>
        </p:txBody>
      </p:sp>
      <p:sp>
        <p:nvSpPr>
          <p:cNvPr id="10" name="Shape 7"/>
          <p:cNvSpPr/>
          <p:nvPr/>
        </p:nvSpPr>
        <p:spPr>
          <a:xfrm>
            <a:off x="6210148" y="1783080"/>
            <a:ext cx="2556434" cy="1783080"/>
          </a:xfrm>
          <a:prstGeom prst="roundRect">
            <a:avLst>
              <a:gd name="adj" fmla="val 4103"/>
            </a:avLst>
          </a:prstGeom>
          <a:solidFill>
            <a:srgbClr val="F7F9FA"/>
          </a:solidFill>
          <a:ln/>
        </p:spPr>
      </p:sp>
      <p:sp>
        <p:nvSpPr>
          <p:cNvPr id="11" name="Shape 8"/>
          <p:cNvSpPr/>
          <p:nvPr/>
        </p:nvSpPr>
        <p:spPr>
          <a:xfrm>
            <a:off x="6411316" y="1984248"/>
            <a:ext cx="420624" cy="420624"/>
          </a:xfrm>
          <a:prstGeom prst="ellipse">
            <a:avLst/>
          </a:prstGeom>
          <a:solidFill>
            <a:srgbClr val="0E7C7B"/>
          </a:solidFill>
          <a:ln/>
        </p:spPr>
      </p:sp>
      <p:pic>
        <p:nvPicPr>
          <p:cNvPr id="12" name="Image 1" descr="/home/claude/reactor_pptx/icons/fire_white.png"/>
          <p:cNvPicPr>
            <a:picLocks noChangeAspect="1"/>
          </p:cNvPicPr>
          <p:nvPr/>
        </p:nvPicPr>
        <p:blipFill>
          <a:blip r:embed="rId4"/>
          <a:stretch>
            <a:fillRect/>
          </a:stretch>
        </p:blipFill>
        <p:spPr>
          <a:xfrm>
            <a:off x="6511900" y="2084832"/>
            <a:ext cx="219456" cy="219456"/>
          </a:xfrm>
          <a:prstGeom prst="rect">
            <a:avLst/>
          </a:prstGeom>
        </p:spPr>
      </p:pic>
      <p:sp>
        <p:nvSpPr>
          <p:cNvPr id="13" name="Text 9"/>
          <p:cNvSpPr/>
          <p:nvPr/>
        </p:nvSpPr>
        <p:spPr>
          <a:xfrm>
            <a:off x="6393028" y="2532888"/>
            <a:ext cx="2190674" cy="320040"/>
          </a:xfrm>
          <a:prstGeom prst="rect">
            <a:avLst/>
          </a:prstGeom>
          <a:noFill/>
          <a:ln/>
        </p:spPr>
        <p:txBody>
          <a:bodyPr wrap="square" lIns="0" tIns="0" rIns="0" bIns="0" rtlCol="0" anchor="ctr"/>
          <a:lstStyle/>
          <a:p>
            <a:pPr marL="0" indent="0" algn="r">
              <a:buNone/>
            </a:pPr>
            <a:r>
              <a:rPr lang="en-US" sz="1300" b="1" dirty="0">
                <a:solidFill>
                  <a:srgbClr val="1A2433"/>
                </a:solidFill>
                <a:latin typeface="Calibri" pitchFamily="34" charset="0"/>
                <a:ea typeface="Calibri" pitchFamily="34" charset="-122"/>
                <a:cs typeface="Calibri" pitchFamily="34" charset="-120"/>
              </a:rPr>
              <a:t>نفت و گاز</a:t>
            </a:r>
            <a:endParaRPr lang="en-US" sz="1300" dirty="0"/>
          </a:p>
        </p:txBody>
      </p:sp>
      <p:sp>
        <p:nvSpPr>
          <p:cNvPr id="14" name="Text 10"/>
          <p:cNvSpPr/>
          <p:nvPr/>
        </p:nvSpPr>
        <p:spPr>
          <a:xfrm>
            <a:off x="6393028" y="2862072"/>
            <a:ext cx="2190674" cy="594360"/>
          </a:xfrm>
          <a:prstGeom prst="rect">
            <a:avLst/>
          </a:prstGeom>
          <a:noFill/>
          <a:ln/>
        </p:spPr>
        <p:txBody>
          <a:bodyPr wrap="square" lIns="0" tIns="0" rIns="0" bIns="0" rtlCol="0" anchor="ctr"/>
          <a:lstStyle/>
          <a:p>
            <a:pPr marL="0" indent="0" algn="r">
              <a:lnSpc>
                <a:spcPct val="125000"/>
              </a:lnSpc>
              <a:buNone/>
            </a:pPr>
            <a:r>
              <a:rPr lang="en-US" sz="980" dirty="0">
                <a:solidFill>
                  <a:srgbClr val="5C6B73"/>
                </a:solidFill>
                <a:latin typeface="Calibri" pitchFamily="34" charset="0"/>
                <a:ea typeface="Calibri" pitchFamily="34" charset="-122"/>
                <a:cs typeface="Calibri" pitchFamily="34" charset="-120"/>
              </a:rPr>
              <a:t>بستر ثابت، دوغابی — هیدروتریتینگ</a:t>
            </a:r>
            <a:endParaRPr lang="en-US" sz="980" dirty="0"/>
          </a:p>
        </p:txBody>
      </p:sp>
      <p:sp>
        <p:nvSpPr>
          <p:cNvPr id="15" name="Shape 11"/>
          <p:cNvSpPr/>
          <p:nvPr/>
        </p:nvSpPr>
        <p:spPr>
          <a:xfrm>
            <a:off x="3425114" y="1783080"/>
            <a:ext cx="2556434" cy="1783080"/>
          </a:xfrm>
          <a:prstGeom prst="roundRect">
            <a:avLst>
              <a:gd name="adj" fmla="val 4103"/>
            </a:avLst>
          </a:prstGeom>
          <a:solidFill>
            <a:srgbClr val="F7F9FA"/>
          </a:solidFill>
          <a:ln/>
        </p:spPr>
      </p:sp>
      <p:sp>
        <p:nvSpPr>
          <p:cNvPr id="16" name="Shape 12"/>
          <p:cNvSpPr/>
          <p:nvPr/>
        </p:nvSpPr>
        <p:spPr>
          <a:xfrm>
            <a:off x="3626282" y="1984248"/>
            <a:ext cx="420624" cy="420624"/>
          </a:xfrm>
          <a:prstGeom prst="ellipse">
            <a:avLst/>
          </a:prstGeom>
          <a:solidFill>
            <a:srgbClr val="0E7C7B"/>
          </a:solidFill>
          <a:ln/>
        </p:spPr>
      </p:sp>
      <p:pic>
        <p:nvPicPr>
          <p:cNvPr id="17" name="Image 2" descr="/home/claude/reactor_pptx/icons/layergroup_white.png"/>
          <p:cNvPicPr>
            <a:picLocks noChangeAspect="1"/>
          </p:cNvPicPr>
          <p:nvPr/>
        </p:nvPicPr>
        <p:blipFill>
          <a:blip r:embed="rId5"/>
          <a:stretch>
            <a:fillRect/>
          </a:stretch>
        </p:blipFill>
        <p:spPr>
          <a:xfrm>
            <a:off x="3726866" y="2084832"/>
            <a:ext cx="219456" cy="219456"/>
          </a:xfrm>
          <a:prstGeom prst="rect">
            <a:avLst/>
          </a:prstGeom>
        </p:spPr>
      </p:pic>
      <p:sp>
        <p:nvSpPr>
          <p:cNvPr id="18" name="Text 13"/>
          <p:cNvSpPr/>
          <p:nvPr/>
        </p:nvSpPr>
        <p:spPr>
          <a:xfrm>
            <a:off x="3607994" y="2532888"/>
            <a:ext cx="2190674" cy="320040"/>
          </a:xfrm>
          <a:prstGeom prst="rect">
            <a:avLst/>
          </a:prstGeom>
          <a:noFill/>
          <a:ln/>
        </p:spPr>
        <p:txBody>
          <a:bodyPr wrap="square" lIns="0" tIns="0" rIns="0" bIns="0" rtlCol="0" anchor="ctr"/>
          <a:lstStyle/>
          <a:p>
            <a:pPr marL="0" indent="0" algn="r">
              <a:buNone/>
            </a:pPr>
            <a:r>
              <a:rPr lang="en-US" sz="1300" b="1" dirty="0">
                <a:solidFill>
                  <a:srgbClr val="1A2433"/>
                </a:solidFill>
                <a:latin typeface="Calibri" pitchFamily="34" charset="0"/>
                <a:ea typeface="Calibri" pitchFamily="34" charset="-122"/>
                <a:cs typeface="Calibri" pitchFamily="34" charset="-120"/>
              </a:rPr>
              <a:t>پلیمر</a:t>
            </a:r>
            <a:endParaRPr lang="en-US" sz="1300" dirty="0"/>
          </a:p>
        </p:txBody>
      </p:sp>
      <p:sp>
        <p:nvSpPr>
          <p:cNvPr id="19" name="Text 14"/>
          <p:cNvSpPr/>
          <p:nvPr/>
        </p:nvSpPr>
        <p:spPr>
          <a:xfrm>
            <a:off x="3607994" y="2862072"/>
            <a:ext cx="2190674" cy="594360"/>
          </a:xfrm>
          <a:prstGeom prst="rect">
            <a:avLst/>
          </a:prstGeom>
          <a:noFill/>
          <a:ln/>
        </p:spPr>
        <p:txBody>
          <a:bodyPr wrap="square" lIns="0" tIns="0" rIns="0" bIns="0" rtlCol="0" anchor="ctr"/>
          <a:lstStyle/>
          <a:p>
            <a:pPr marL="0" indent="0" algn="r">
              <a:lnSpc>
                <a:spcPct val="125000"/>
              </a:lnSpc>
              <a:buNone/>
            </a:pPr>
            <a:r>
              <a:rPr lang="en-US" sz="980" dirty="0">
                <a:solidFill>
                  <a:srgbClr val="5C6B73"/>
                </a:solidFill>
                <a:latin typeface="Calibri" pitchFamily="34" charset="0"/>
                <a:ea typeface="Calibri" pitchFamily="34" charset="-122"/>
                <a:cs typeface="Calibri" pitchFamily="34" charset="-120"/>
              </a:rPr>
              <a:t>CSTR، لوله‌ای — پلیمریزاسیون</a:t>
            </a:r>
            <a:endParaRPr lang="en-US" sz="980" dirty="0"/>
          </a:p>
        </p:txBody>
      </p:sp>
      <p:sp>
        <p:nvSpPr>
          <p:cNvPr id="20" name="Shape 15"/>
          <p:cNvSpPr/>
          <p:nvPr/>
        </p:nvSpPr>
        <p:spPr>
          <a:xfrm>
            <a:off x="640080" y="1783080"/>
            <a:ext cx="2556434" cy="1783080"/>
          </a:xfrm>
          <a:prstGeom prst="roundRect">
            <a:avLst>
              <a:gd name="adj" fmla="val 4103"/>
            </a:avLst>
          </a:prstGeom>
          <a:solidFill>
            <a:srgbClr val="F7F9FA"/>
          </a:solidFill>
          <a:ln/>
        </p:spPr>
      </p:sp>
      <p:sp>
        <p:nvSpPr>
          <p:cNvPr id="21" name="Shape 16"/>
          <p:cNvSpPr/>
          <p:nvPr/>
        </p:nvSpPr>
        <p:spPr>
          <a:xfrm>
            <a:off x="841248" y="1984248"/>
            <a:ext cx="420624" cy="420624"/>
          </a:xfrm>
          <a:prstGeom prst="ellipse">
            <a:avLst/>
          </a:prstGeom>
          <a:solidFill>
            <a:srgbClr val="0E7C7B"/>
          </a:solidFill>
          <a:ln/>
        </p:spPr>
      </p:sp>
      <p:pic>
        <p:nvPicPr>
          <p:cNvPr id="22" name="Image 3" descr="/home/claude/reactor_pptx/icons/vial_white.png"/>
          <p:cNvPicPr>
            <a:picLocks noChangeAspect="1"/>
          </p:cNvPicPr>
          <p:nvPr/>
        </p:nvPicPr>
        <p:blipFill>
          <a:blip r:embed="rId6"/>
          <a:stretch>
            <a:fillRect/>
          </a:stretch>
        </p:blipFill>
        <p:spPr>
          <a:xfrm>
            <a:off x="941832" y="2084832"/>
            <a:ext cx="219456" cy="219456"/>
          </a:xfrm>
          <a:prstGeom prst="rect">
            <a:avLst/>
          </a:prstGeom>
        </p:spPr>
      </p:pic>
      <p:sp>
        <p:nvSpPr>
          <p:cNvPr id="23" name="Text 17"/>
          <p:cNvSpPr/>
          <p:nvPr/>
        </p:nvSpPr>
        <p:spPr>
          <a:xfrm>
            <a:off x="822960" y="2532888"/>
            <a:ext cx="2190674" cy="320040"/>
          </a:xfrm>
          <a:prstGeom prst="rect">
            <a:avLst/>
          </a:prstGeom>
          <a:noFill/>
          <a:ln/>
        </p:spPr>
        <p:txBody>
          <a:bodyPr wrap="square" lIns="0" tIns="0" rIns="0" bIns="0" rtlCol="0" anchor="ctr"/>
          <a:lstStyle/>
          <a:p>
            <a:pPr marL="0" indent="0" algn="r">
              <a:buNone/>
            </a:pPr>
            <a:r>
              <a:rPr lang="en-US" sz="1300" b="1" dirty="0">
                <a:solidFill>
                  <a:srgbClr val="1A2433"/>
                </a:solidFill>
                <a:latin typeface="Calibri" pitchFamily="34" charset="0"/>
                <a:ea typeface="Calibri" pitchFamily="34" charset="-122"/>
                <a:cs typeface="Calibri" pitchFamily="34" charset="-120"/>
              </a:rPr>
              <a:t>داروسازی</a:t>
            </a:r>
            <a:endParaRPr lang="en-US" sz="1300" dirty="0"/>
          </a:p>
        </p:txBody>
      </p:sp>
      <p:sp>
        <p:nvSpPr>
          <p:cNvPr id="24" name="Text 18"/>
          <p:cNvSpPr/>
          <p:nvPr/>
        </p:nvSpPr>
        <p:spPr>
          <a:xfrm>
            <a:off x="822960" y="2862072"/>
            <a:ext cx="2190674" cy="594360"/>
          </a:xfrm>
          <a:prstGeom prst="rect">
            <a:avLst/>
          </a:prstGeom>
          <a:noFill/>
          <a:ln/>
        </p:spPr>
        <p:txBody>
          <a:bodyPr wrap="square" lIns="0" tIns="0" rIns="0" bIns="0" rtlCol="0" anchor="ctr"/>
          <a:lstStyle/>
          <a:p>
            <a:pPr marL="0" indent="0" algn="r">
              <a:lnSpc>
                <a:spcPct val="125000"/>
              </a:lnSpc>
              <a:buNone/>
            </a:pPr>
            <a:r>
              <a:rPr lang="en-US" sz="980" dirty="0">
                <a:solidFill>
                  <a:srgbClr val="5C6B73"/>
                </a:solidFill>
                <a:latin typeface="Calibri" pitchFamily="34" charset="0"/>
                <a:ea typeface="Calibri" pitchFamily="34" charset="-122"/>
                <a:cs typeface="Calibri" pitchFamily="34" charset="-120"/>
              </a:rPr>
              <a:t>ناپیوسته، نیمه‌پیوسته — سنتز دارویی</a:t>
            </a:r>
            <a:endParaRPr lang="en-US" sz="980" dirty="0"/>
          </a:p>
        </p:txBody>
      </p:sp>
      <p:sp>
        <p:nvSpPr>
          <p:cNvPr id="25" name="Shape 19"/>
          <p:cNvSpPr/>
          <p:nvPr/>
        </p:nvSpPr>
        <p:spPr>
          <a:xfrm>
            <a:off x="8995181" y="3794760"/>
            <a:ext cx="2556434" cy="1783080"/>
          </a:xfrm>
          <a:prstGeom prst="roundRect">
            <a:avLst>
              <a:gd name="adj" fmla="val 4103"/>
            </a:avLst>
          </a:prstGeom>
          <a:solidFill>
            <a:srgbClr val="F7F9FA"/>
          </a:solidFill>
          <a:ln/>
        </p:spPr>
      </p:sp>
      <p:sp>
        <p:nvSpPr>
          <p:cNvPr id="26" name="Shape 20"/>
          <p:cNvSpPr/>
          <p:nvPr/>
        </p:nvSpPr>
        <p:spPr>
          <a:xfrm>
            <a:off x="9196349" y="3995928"/>
            <a:ext cx="420624" cy="420624"/>
          </a:xfrm>
          <a:prstGeom prst="ellipse">
            <a:avLst/>
          </a:prstGeom>
          <a:solidFill>
            <a:srgbClr val="0E7C7B"/>
          </a:solidFill>
          <a:ln/>
        </p:spPr>
      </p:sp>
      <p:pic>
        <p:nvPicPr>
          <p:cNvPr id="27" name="Image 4" descr="/home/claude/reactor_pptx/icons/tint_white.png"/>
          <p:cNvPicPr>
            <a:picLocks noChangeAspect="1"/>
          </p:cNvPicPr>
          <p:nvPr/>
        </p:nvPicPr>
        <p:blipFill>
          <a:blip r:embed="rId7"/>
          <a:stretch>
            <a:fillRect/>
          </a:stretch>
        </p:blipFill>
        <p:spPr>
          <a:xfrm>
            <a:off x="9296933" y="4096512"/>
            <a:ext cx="219456" cy="219456"/>
          </a:xfrm>
          <a:prstGeom prst="rect">
            <a:avLst/>
          </a:prstGeom>
        </p:spPr>
      </p:pic>
      <p:sp>
        <p:nvSpPr>
          <p:cNvPr id="28" name="Text 21"/>
          <p:cNvSpPr/>
          <p:nvPr/>
        </p:nvSpPr>
        <p:spPr>
          <a:xfrm>
            <a:off x="9178061" y="4544568"/>
            <a:ext cx="2190674" cy="320040"/>
          </a:xfrm>
          <a:prstGeom prst="rect">
            <a:avLst/>
          </a:prstGeom>
          <a:noFill/>
          <a:ln/>
        </p:spPr>
        <p:txBody>
          <a:bodyPr wrap="square" lIns="0" tIns="0" rIns="0" bIns="0" rtlCol="0" anchor="ctr"/>
          <a:lstStyle/>
          <a:p>
            <a:pPr marL="0" indent="0" algn="r">
              <a:buNone/>
            </a:pPr>
            <a:r>
              <a:rPr lang="en-US" sz="1300" b="1" dirty="0">
                <a:solidFill>
                  <a:srgbClr val="1A2433"/>
                </a:solidFill>
                <a:latin typeface="Calibri" pitchFamily="34" charset="0"/>
                <a:ea typeface="Calibri" pitchFamily="34" charset="-122"/>
                <a:cs typeface="Calibri" pitchFamily="34" charset="-120"/>
              </a:rPr>
              <a:t>غذایی</a:t>
            </a:r>
            <a:endParaRPr lang="en-US" sz="1300" dirty="0"/>
          </a:p>
        </p:txBody>
      </p:sp>
      <p:sp>
        <p:nvSpPr>
          <p:cNvPr id="29" name="Text 22"/>
          <p:cNvSpPr/>
          <p:nvPr/>
        </p:nvSpPr>
        <p:spPr>
          <a:xfrm>
            <a:off x="9178061" y="4873752"/>
            <a:ext cx="2190674" cy="594360"/>
          </a:xfrm>
          <a:prstGeom prst="rect">
            <a:avLst/>
          </a:prstGeom>
          <a:noFill/>
          <a:ln/>
        </p:spPr>
        <p:txBody>
          <a:bodyPr wrap="square" lIns="0" tIns="0" rIns="0" bIns="0" rtlCol="0" anchor="ctr"/>
          <a:lstStyle/>
          <a:p>
            <a:pPr marL="0" indent="0" algn="r">
              <a:lnSpc>
                <a:spcPct val="125000"/>
              </a:lnSpc>
              <a:buNone/>
            </a:pPr>
            <a:r>
              <a:rPr lang="en-US" sz="980" dirty="0">
                <a:solidFill>
                  <a:srgbClr val="5C6B73"/>
                </a:solidFill>
                <a:latin typeface="Calibri" pitchFamily="34" charset="0"/>
                <a:ea typeface="Calibri" pitchFamily="34" charset="-122"/>
                <a:cs typeface="Calibri" pitchFamily="34" charset="-120"/>
              </a:rPr>
              <a:t>ناپیوسته، دوغابی — تخمیر و هیدروژناسیون</a:t>
            </a:r>
            <a:endParaRPr lang="en-US" sz="980" dirty="0"/>
          </a:p>
        </p:txBody>
      </p:sp>
      <p:sp>
        <p:nvSpPr>
          <p:cNvPr id="30" name="Shape 23"/>
          <p:cNvSpPr/>
          <p:nvPr/>
        </p:nvSpPr>
        <p:spPr>
          <a:xfrm>
            <a:off x="6210148" y="3794760"/>
            <a:ext cx="2556434" cy="1783080"/>
          </a:xfrm>
          <a:prstGeom prst="roundRect">
            <a:avLst>
              <a:gd name="adj" fmla="val 4103"/>
            </a:avLst>
          </a:prstGeom>
          <a:solidFill>
            <a:srgbClr val="F7F9FA"/>
          </a:solidFill>
          <a:ln/>
        </p:spPr>
      </p:sp>
      <p:sp>
        <p:nvSpPr>
          <p:cNvPr id="31" name="Shape 24"/>
          <p:cNvSpPr/>
          <p:nvPr/>
        </p:nvSpPr>
        <p:spPr>
          <a:xfrm>
            <a:off x="6411316" y="3995928"/>
            <a:ext cx="420624" cy="420624"/>
          </a:xfrm>
          <a:prstGeom prst="ellipse">
            <a:avLst/>
          </a:prstGeom>
          <a:solidFill>
            <a:srgbClr val="0E7C7B"/>
          </a:solidFill>
          <a:ln/>
        </p:spPr>
      </p:sp>
      <p:pic>
        <p:nvPicPr>
          <p:cNvPr id="32" name="Image 5" descr="/home/claude/reactor_pptx/icons/atom_white.png"/>
          <p:cNvPicPr>
            <a:picLocks noChangeAspect="1"/>
          </p:cNvPicPr>
          <p:nvPr/>
        </p:nvPicPr>
        <p:blipFill>
          <a:blip r:embed="rId8"/>
          <a:stretch>
            <a:fillRect/>
          </a:stretch>
        </p:blipFill>
        <p:spPr>
          <a:xfrm>
            <a:off x="6511900" y="4096512"/>
            <a:ext cx="219456" cy="219456"/>
          </a:xfrm>
          <a:prstGeom prst="rect">
            <a:avLst/>
          </a:prstGeom>
        </p:spPr>
      </p:pic>
      <p:sp>
        <p:nvSpPr>
          <p:cNvPr id="33" name="Text 25"/>
          <p:cNvSpPr/>
          <p:nvPr/>
        </p:nvSpPr>
        <p:spPr>
          <a:xfrm>
            <a:off x="6393028" y="4544568"/>
            <a:ext cx="2190674" cy="320040"/>
          </a:xfrm>
          <a:prstGeom prst="rect">
            <a:avLst/>
          </a:prstGeom>
          <a:noFill/>
          <a:ln/>
        </p:spPr>
        <p:txBody>
          <a:bodyPr wrap="square" lIns="0" tIns="0" rIns="0" bIns="0" rtlCol="0" anchor="ctr"/>
          <a:lstStyle/>
          <a:p>
            <a:pPr marL="0" indent="0" algn="r">
              <a:buNone/>
            </a:pPr>
            <a:r>
              <a:rPr lang="en-US" sz="1300" b="1" dirty="0">
                <a:solidFill>
                  <a:srgbClr val="1A2433"/>
                </a:solidFill>
                <a:latin typeface="Calibri" pitchFamily="34" charset="0"/>
                <a:ea typeface="Calibri" pitchFamily="34" charset="-122"/>
                <a:cs typeface="Calibri" pitchFamily="34" charset="-120"/>
              </a:rPr>
              <a:t>زیستی</a:t>
            </a:r>
            <a:endParaRPr lang="en-US" sz="1300" dirty="0"/>
          </a:p>
        </p:txBody>
      </p:sp>
      <p:sp>
        <p:nvSpPr>
          <p:cNvPr id="34" name="Text 26"/>
          <p:cNvSpPr/>
          <p:nvPr/>
        </p:nvSpPr>
        <p:spPr>
          <a:xfrm>
            <a:off x="6393028" y="4873752"/>
            <a:ext cx="2190674" cy="594360"/>
          </a:xfrm>
          <a:prstGeom prst="rect">
            <a:avLst/>
          </a:prstGeom>
          <a:noFill/>
          <a:ln/>
        </p:spPr>
        <p:txBody>
          <a:bodyPr wrap="square" lIns="0" tIns="0" rIns="0" bIns="0" rtlCol="0" anchor="ctr"/>
          <a:lstStyle/>
          <a:p>
            <a:pPr marL="0" indent="0" algn="r">
              <a:lnSpc>
                <a:spcPct val="125000"/>
              </a:lnSpc>
              <a:buNone/>
            </a:pPr>
            <a:r>
              <a:rPr lang="en-US" sz="980" dirty="0">
                <a:solidFill>
                  <a:srgbClr val="5C6B73"/>
                </a:solidFill>
                <a:latin typeface="Calibri" pitchFamily="34" charset="0"/>
                <a:ea typeface="Calibri" pitchFamily="34" charset="-122"/>
                <a:cs typeface="Calibri" pitchFamily="34" charset="-120"/>
              </a:rPr>
              <a:t>بیوراکتور همزن‌دار — آنتی‌بیوتیک و واکسن</a:t>
            </a:r>
            <a:endParaRPr lang="en-US" sz="980" dirty="0"/>
          </a:p>
        </p:txBody>
      </p:sp>
      <p:sp>
        <p:nvSpPr>
          <p:cNvPr id="35" name="Shape 27"/>
          <p:cNvSpPr/>
          <p:nvPr/>
        </p:nvSpPr>
        <p:spPr>
          <a:xfrm>
            <a:off x="3425114" y="3794760"/>
            <a:ext cx="2556434" cy="1783080"/>
          </a:xfrm>
          <a:prstGeom prst="roundRect">
            <a:avLst>
              <a:gd name="adj" fmla="val 4103"/>
            </a:avLst>
          </a:prstGeom>
          <a:solidFill>
            <a:srgbClr val="F7F9FA"/>
          </a:solidFill>
          <a:ln/>
        </p:spPr>
      </p:sp>
      <p:sp>
        <p:nvSpPr>
          <p:cNvPr id="36" name="Shape 28"/>
          <p:cNvSpPr/>
          <p:nvPr/>
        </p:nvSpPr>
        <p:spPr>
          <a:xfrm>
            <a:off x="3626282" y="3995928"/>
            <a:ext cx="420624" cy="420624"/>
          </a:xfrm>
          <a:prstGeom prst="ellipse">
            <a:avLst/>
          </a:prstGeom>
          <a:solidFill>
            <a:srgbClr val="0E7C7B"/>
          </a:solidFill>
          <a:ln/>
        </p:spPr>
      </p:sp>
      <p:pic>
        <p:nvPicPr>
          <p:cNvPr id="37" name="Image 6" descr="/home/claude/reactor_pptx/icons/cubes_white.png"/>
          <p:cNvPicPr>
            <a:picLocks noChangeAspect="1"/>
          </p:cNvPicPr>
          <p:nvPr/>
        </p:nvPicPr>
        <p:blipFill>
          <a:blip r:embed="rId9"/>
          <a:stretch>
            <a:fillRect/>
          </a:stretch>
        </p:blipFill>
        <p:spPr>
          <a:xfrm>
            <a:off x="3726866" y="4096512"/>
            <a:ext cx="219456" cy="219456"/>
          </a:xfrm>
          <a:prstGeom prst="rect">
            <a:avLst/>
          </a:prstGeom>
        </p:spPr>
      </p:pic>
      <p:sp>
        <p:nvSpPr>
          <p:cNvPr id="38" name="Text 29"/>
          <p:cNvSpPr/>
          <p:nvPr/>
        </p:nvSpPr>
        <p:spPr>
          <a:xfrm>
            <a:off x="3607994" y="4544568"/>
            <a:ext cx="2190674" cy="320040"/>
          </a:xfrm>
          <a:prstGeom prst="rect">
            <a:avLst/>
          </a:prstGeom>
          <a:noFill/>
          <a:ln/>
        </p:spPr>
        <p:txBody>
          <a:bodyPr wrap="square" lIns="0" tIns="0" rIns="0" bIns="0" rtlCol="0" anchor="ctr"/>
          <a:lstStyle/>
          <a:p>
            <a:pPr marL="0" indent="0" algn="r">
              <a:buNone/>
            </a:pPr>
            <a:r>
              <a:rPr lang="en-US" sz="1300" b="1" dirty="0">
                <a:solidFill>
                  <a:srgbClr val="1A2433"/>
                </a:solidFill>
                <a:latin typeface="Calibri" pitchFamily="34" charset="0"/>
                <a:ea typeface="Calibri" pitchFamily="34" charset="-122"/>
                <a:cs typeface="Calibri" pitchFamily="34" charset="-120"/>
              </a:rPr>
              <a:t>کود شیمیایی</a:t>
            </a:r>
            <a:endParaRPr lang="en-US" sz="1300" dirty="0"/>
          </a:p>
        </p:txBody>
      </p:sp>
      <p:sp>
        <p:nvSpPr>
          <p:cNvPr id="39" name="Text 30"/>
          <p:cNvSpPr/>
          <p:nvPr/>
        </p:nvSpPr>
        <p:spPr>
          <a:xfrm>
            <a:off x="3607994" y="4873752"/>
            <a:ext cx="2190674" cy="594360"/>
          </a:xfrm>
          <a:prstGeom prst="rect">
            <a:avLst/>
          </a:prstGeom>
          <a:noFill/>
          <a:ln/>
        </p:spPr>
        <p:txBody>
          <a:bodyPr wrap="square" lIns="0" tIns="0" rIns="0" bIns="0" rtlCol="0" anchor="ctr"/>
          <a:lstStyle/>
          <a:p>
            <a:pPr marL="0" indent="0" algn="r">
              <a:lnSpc>
                <a:spcPct val="125000"/>
              </a:lnSpc>
              <a:buNone/>
            </a:pPr>
            <a:r>
              <a:rPr lang="en-US" sz="980" dirty="0">
                <a:solidFill>
                  <a:srgbClr val="5C6B73"/>
                </a:solidFill>
                <a:latin typeface="Calibri" pitchFamily="34" charset="0"/>
                <a:ea typeface="Calibri" pitchFamily="34" charset="-122"/>
                <a:cs typeface="Calibri" pitchFamily="34" charset="-120"/>
              </a:rPr>
              <a:t>بستر ثابت چندمرحله‌ای — سنتز آمونیاک</a:t>
            </a:r>
            <a:endParaRPr lang="en-US" sz="980" dirty="0"/>
          </a:p>
        </p:txBody>
      </p:sp>
      <p:sp>
        <p:nvSpPr>
          <p:cNvPr id="40" name="Shape 31"/>
          <p:cNvSpPr/>
          <p:nvPr/>
        </p:nvSpPr>
        <p:spPr>
          <a:xfrm>
            <a:off x="640080" y="3794760"/>
            <a:ext cx="2556434" cy="1783080"/>
          </a:xfrm>
          <a:prstGeom prst="roundRect">
            <a:avLst>
              <a:gd name="adj" fmla="val 4103"/>
            </a:avLst>
          </a:prstGeom>
          <a:solidFill>
            <a:srgbClr val="F7F9FA"/>
          </a:solidFill>
          <a:ln/>
        </p:spPr>
      </p:sp>
      <p:sp>
        <p:nvSpPr>
          <p:cNvPr id="41" name="Shape 32"/>
          <p:cNvSpPr/>
          <p:nvPr/>
        </p:nvSpPr>
        <p:spPr>
          <a:xfrm>
            <a:off x="841248" y="3995928"/>
            <a:ext cx="420624" cy="420624"/>
          </a:xfrm>
          <a:prstGeom prst="ellipse">
            <a:avLst/>
          </a:prstGeom>
          <a:solidFill>
            <a:srgbClr val="0E7C7B"/>
          </a:solidFill>
          <a:ln/>
        </p:spPr>
      </p:sp>
      <p:pic>
        <p:nvPicPr>
          <p:cNvPr id="42" name="Image 7" descr="/home/claude/reactor_pptx/icons/recycle_white.png"/>
          <p:cNvPicPr>
            <a:picLocks noChangeAspect="1"/>
          </p:cNvPicPr>
          <p:nvPr/>
        </p:nvPicPr>
        <p:blipFill>
          <a:blip r:embed="rId10"/>
          <a:stretch>
            <a:fillRect/>
          </a:stretch>
        </p:blipFill>
        <p:spPr>
          <a:xfrm>
            <a:off x="941832" y="4096512"/>
            <a:ext cx="219456" cy="219456"/>
          </a:xfrm>
          <a:prstGeom prst="rect">
            <a:avLst/>
          </a:prstGeom>
        </p:spPr>
      </p:pic>
      <p:sp>
        <p:nvSpPr>
          <p:cNvPr id="43" name="Text 33"/>
          <p:cNvSpPr/>
          <p:nvPr/>
        </p:nvSpPr>
        <p:spPr>
          <a:xfrm>
            <a:off x="822960" y="4544568"/>
            <a:ext cx="2190674" cy="320040"/>
          </a:xfrm>
          <a:prstGeom prst="rect">
            <a:avLst/>
          </a:prstGeom>
          <a:noFill/>
          <a:ln/>
        </p:spPr>
        <p:txBody>
          <a:bodyPr wrap="square" lIns="0" tIns="0" rIns="0" bIns="0" rtlCol="0" anchor="ctr"/>
          <a:lstStyle/>
          <a:p>
            <a:pPr marL="0" indent="0" algn="r">
              <a:buNone/>
            </a:pPr>
            <a:r>
              <a:rPr lang="en-US" sz="1300" b="1" dirty="0">
                <a:solidFill>
                  <a:srgbClr val="1A2433"/>
                </a:solidFill>
                <a:latin typeface="Calibri" pitchFamily="34" charset="0"/>
                <a:ea typeface="Calibri" pitchFamily="34" charset="-122"/>
                <a:cs typeface="Calibri" pitchFamily="34" charset="-120"/>
              </a:rPr>
              <a:t>محیط‌زیست</a:t>
            </a:r>
            <a:endParaRPr lang="en-US" sz="1300" dirty="0"/>
          </a:p>
        </p:txBody>
      </p:sp>
      <p:sp>
        <p:nvSpPr>
          <p:cNvPr id="44" name="Text 34"/>
          <p:cNvSpPr/>
          <p:nvPr/>
        </p:nvSpPr>
        <p:spPr>
          <a:xfrm>
            <a:off x="822960" y="4873752"/>
            <a:ext cx="2190674" cy="594360"/>
          </a:xfrm>
          <a:prstGeom prst="rect">
            <a:avLst/>
          </a:prstGeom>
          <a:noFill/>
          <a:ln/>
        </p:spPr>
        <p:txBody>
          <a:bodyPr wrap="square" lIns="0" tIns="0" rIns="0" bIns="0" rtlCol="0" anchor="ctr"/>
          <a:lstStyle/>
          <a:p>
            <a:pPr marL="0" indent="0" algn="r">
              <a:lnSpc>
                <a:spcPct val="125000"/>
              </a:lnSpc>
              <a:buNone/>
            </a:pPr>
            <a:r>
              <a:rPr lang="en-US" sz="980" dirty="0">
                <a:solidFill>
                  <a:srgbClr val="5C6B73"/>
                </a:solidFill>
                <a:latin typeface="Calibri" pitchFamily="34" charset="0"/>
                <a:ea typeface="Calibri" pitchFamily="34" charset="-122"/>
                <a:cs typeface="Calibri" pitchFamily="34" charset="-120"/>
              </a:rPr>
              <a:t>بیولوژیکی، بستر ثابت — تصفیه پساب</a:t>
            </a:r>
            <a:endParaRPr lang="en-US" sz="980" dirty="0"/>
          </a:p>
        </p:txBody>
      </p:sp>
      <p:sp>
        <p:nvSpPr>
          <p:cNvPr id="45" name="Text 35"/>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28</a:t>
            </a:r>
            <a:endParaRPr lang="en-US" sz="1000" dirty="0"/>
          </a:p>
        </p:txBody>
      </p:sp>
      <p:sp>
        <p:nvSpPr>
          <p:cNvPr id="46" name="Text 36"/>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11535" cy="320040"/>
          </a:xfrm>
          <a:prstGeom prst="rect">
            <a:avLst/>
          </a:prstGeom>
          <a:noFill/>
          <a:ln/>
        </p:spPr>
        <p:txBody>
          <a:bodyPr wrap="square" lIns="0" tIns="0" rIns="0" bIns="0" rtlCol="0" anchor="ctr"/>
          <a:lstStyle/>
          <a:p>
            <a:pPr marL="0" indent="0" algn="r">
              <a:buNone/>
            </a:pPr>
            <a:r>
              <a:rPr lang="en-US" sz="1300" b="1" kern="0" spc="75" dirty="0">
                <a:solidFill>
                  <a:srgbClr val="0E7C7B"/>
                </a:solidFill>
                <a:latin typeface="Calibri" pitchFamily="34" charset="0"/>
                <a:ea typeface="Calibri" pitchFamily="34" charset="-122"/>
                <a:cs typeface="Calibri" pitchFamily="34" charset="-120"/>
              </a:rPr>
              <a:t>جمع‌بندی نهایی</a:t>
            </a:r>
            <a:endParaRPr lang="en-US" sz="1300" dirty="0"/>
          </a:p>
        </p:txBody>
      </p:sp>
      <p:sp>
        <p:nvSpPr>
          <p:cNvPr id="3" name="Text 1"/>
          <p:cNvSpPr/>
          <p:nvPr/>
        </p:nvSpPr>
        <p:spPr>
          <a:xfrm>
            <a:off x="640080" y="841248"/>
            <a:ext cx="10911535" cy="731520"/>
          </a:xfrm>
          <a:prstGeom prst="rect">
            <a:avLst/>
          </a:prstGeom>
          <a:noFill/>
          <a:ln/>
        </p:spPr>
        <p:txBody>
          <a:bodyPr wrap="square" lIns="0" tIns="0" rIns="0" bIns="0" rtlCol="0" anchor="ctr"/>
          <a:lstStyle/>
          <a:p>
            <a:pPr marL="0" indent="0" algn="r">
              <a:buNone/>
            </a:pPr>
            <a:r>
              <a:rPr lang="en-US" sz="2800" b="1" dirty="0">
                <a:solidFill>
                  <a:srgbClr val="1A2433"/>
                </a:solidFill>
                <a:latin typeface="Calibri" pitchFamily="34" charset="0"/>
                <a:ea typeface="Calibri" pitchFamily="34" charset="-122"/>
                <a:cs typeface="Calibri" pitchFamily="34" charset="-120"/>
              </a:rPr>
              <a:t>هیچ راکتوری به‌طور مطلق برتر نیست</a:t>
            </a:r>
            <a:endParaRPr lang="en-US" sz="2800" dirty="0"/>
          </a:p>
        </p:txBody>
      </p:sp>
      <p:sp>
        <p:nvSpPr>
          <p:cNvPr id="4" name="Text 2"/>
          <p:cNvSpPr/>
          <p:nvPr/>
        </p:nvSpPr>
        <p:spPr>
          <a:xfrm>
            <a:off x="640080" y="1691640"/>
            <a:ext cx="10911535" cy="822960"/>
          </a:xfrm>
          <a:prstGeom prst="rect">
            <a:avLst/>
          </a:prstGeom>
          <a:noFill/>
          <a:ln/>
        </p:spPr>
        <p:txBody>
          <a:bodyPr wrap="square" lIns="0" tIns="0" rIns="0" bIns="0" rtlCol="0" anchor="ctr"/>
          <a:lstStyle/>
          <a:p>
            <a:pPr marL="0" indent="0" algn="r">
              <a:lnSpc>
                <a:spcPct val="135000"/>
              </a:lnSpc>
              <a:buNone/>
            </a:pPr>
            <a:r>
              <a:rPr lang="en-US" sz="1450" dirty="0">
                <a:solidFill>
                  <a:srgbClr val="5C6B73"/>
                </a:solidFill>
                <a:latin typeface="Calibri" pitchFamily="34" charset="0"/>
                <a:ea typeface="Calibri" pitchFamily="34" charset="-122"/>
                <a:cs typeface="Calibri" pitchFamily="34" charset="-120"/>
              </a:rPr>
              <a:t>انتخاب بهینه راکتور همواره یک تصمیم مهندسی چندبعدی است که باید به‌طور هم‌زمان ماهیت سینتیکی واکنش، مقیاس تولید، الزامات کیفی محصول، مالحظات ایمنی و محدودیت‌های اقتصادی را در نظر بگیرد.</a:t>
            </a:r>
            <a:endParaRPr lang="en-US" sz="1450" dirty="0"/>
          </a:p>
        </p:txBody>
      </p:sp>
      <p:sp>
        <p:nvSpPr>
          <p:cNvPr id="5" name="Shape 3"/>
          <p:cNvSpPr/>
          <p:nvPr/>
        </p:nvSpPr>
        <p:spPr>
          <a:xfrm>
            <a:off x="8995181" y="2743200"/>
            <a:ext cx="2556434" cy="1965960"/>
          </a:xfrm>
          <a:prstGeom prst="roundRect">
            <a:avLst>
              <a:gd name="adj" fmla="val 3721"/>
            </a:avLst>
          </a:prstGeom>
          <a:solidFill>
            <a:srgbClr val="F7F9FA"/>
          </a:solidFill>
          <a:ln/>
        </p:spPr>
      </p:sp>
      <p:pic>
        <p:nvPicPr>
          <p:cNvPr id="6" name="Image 0" descr="/home/claude/reactor_pptx/icons/balance_navy.png"/>
          <p:cNvPicPr>
            <a:picLocks noChangeAspect="1"/>
          </p:cNvPicPr>
          <p:nvPr/>
        </p:nvPicPr>
        <p:blipFill>
          <a:blip r:embed="rId3"/>
          <a:stretch>
            <a:fillRect/>
          </a:stretch>
        </p:blipFill>
        <p:spPr>
          <a:xfrm>
            <a:off x="9196349" y="2944368"/>
            <a:ext cx="274320" cy="274320"/>
          </a:xfrm>
          <a:prstGeom prst="rect">
            <a:avLst/>
          </a:prstGeom>
        </p:spPr>
      </p:pic>
      <p:sp>
        <p:nvSpPr>
          <p:cNvPr id="7" name="Text 4"/>
          <p:cNvSpPr/>
          <p:nvPr/>
        </p:nvSpPr>
        <p:spPr>
          <a:xfrm>
            <a:off x="9178061" y="3310128"/>
            <a:ext cx="2190674" cy="502920"/>
          </a:xfrm>
          <a:prstGeom prst="rect">
            <a:avLst/>
          </a:prstGeom>
          <a:noFill/>
          <a:ln/>
        </p:spPr>
        <p:txBody>
          <a:bodyPr wrap="square" lIns="0" tIns="0" rIns="0" bIns="0" rtlCol="0" anchor="t"/>
          <a:lstStyle/>
          <a:p>
            <a:pPr marL="0" indent="0" algn="r">
              <a:buNone/>
            </a:pPr>
            <a:r>
              <a:rPr lang="en-US" sz="1200" b="1" dirty="0">
                <a:solidFill>
                  <a:srgbClr val="1A2433"/>
                </a:solidFill>
                <a:latin typeface="Calibri" pitchFamily="34" charset="0"/>
                <a:ea typeface="Calibri" pitchFamily="34" charset="-122"/>
                <a:cs typeface="Calibri" pitchFamily="34" charset="-120"/>
              </a:rPr>
              <a:t>انتخاب راکتور</a:t>
            </a:r>
            <a:endParaRPr lang="en-US" sz="1200" dirty="0"/>
          </a:p>
        </p:txBody>
      </p:sp>
      <p:sp>
        <p:nvSpPr>
          <p:cNvPr id="8" name="Text 5"/>
          <p:cNvSpPr/>
          <p:nvPr/>
        </p:nvSpPr>
        <p:spPr>
          <a:xfrm>
            <a:off x="9178061" y="3822192"/>
            <a:ext cx="2190674" cy="822960"/>
          </a:xfrm>
          <a:prstGeom prst="rect">
            <a:avLst/>
          </a:prstGeom>
          <a:noFill/>
          <a:ln/>
        </p:spPr>
        <p:txBody>
          <a:bodyPr wrap="square" lIns="0" tIns="0" rIns="0" bIns="0" rtlCol="0" anchor="ctr"/>
          <a:lstStyle/>
          <a:p>
            <a:pPr marL="0" indent="0" algn="r">
              <a:lnSpc>
                <a:spcPct val="125000"/>
              </a:lnSpc>
              <a:buNone/>
            </a:pPr>
            <a:r>
              <a:rPr lang="en-US" sz="1000" dirty="0">
                <a:solidFill>
                  <a:srgbClr val="5C6B73"/>
                </a:solidFill>
                <a:latin typeface="Calibri" pitchFamily="34" charset="0"/>
                <a:ea typeface="Calibri" pitchFamily="34" charset="-122"/>
                <a:cs typeface="Calibri" pitchFamily="34" charset="-120"/>
              </a:rPr>
              <a:t>تعامل هم‌زمان شیمی واکنش، مقیاس، ایمنی و اقتصاد</a:t>
            </a:r>
            <a:endParaRPr lang="en-US" sz="1000" dirty="0"/>
          </a:p>
        </p:txBody>
      </p:sp>
      <p:sp>
        <p:nvSpPr>
          <p:cNvPr id="9" name="Shape 6"/>
          <p:cNvSpPr/>
          <p:nvPr/>
        </p:nvSpPr>
        <p:spPr>
          <a:xfrm>
            <a:off x="6210148" y="2743200"/>
            <a:ext cx="2556434" cy="1965960"/>
          </a:xfrm>
          <a:prstGeom prst="roundRect">
            <a:avLst>
              <a:gd name="adj" fmla="val 3721"/>
            </a:avLst>
          </a:prstGeom>
          <a:solidFill>
            <a:srgbClr val="F7F9FA"/>
          </a:solidFill>
          <a:ln/>
        </p:spPr>
      </p:sp>
      <p:pic>
        <p:nvPicPr>
          <p:cNvPr id="10" name="Image 1" descr="/home/claude/reactor_pptx/icons/atom_navy.png"/>
          <p:cNvPicPr>
            <a:picLocks noChangeAspect="1"/>
          </p:cNvPicPr>
          <p:nvPr/>
        </p:nvPicPr>
        <p:blipFill>
          <a:blip r:embed="rId4"/>
          <a:stretch>
            <a:fillRect/>
          </a:stretch>
        </p:blipFill>
        <p:spPr>
          <a:xfrm>
            <a:off x="6411316" y="2944368"/>
            <a:ext cx="274320" cy="274320"/>
          </a:xfrm>
          <a:prstGeom prst="rect">
            <a:avLst/>
          </a:prstGeom>
        </p:spPr>
      </p:pic>
      <p:sp>
        <p:nvSpPr>
          <p:cNvPr id="11" name="Text 7"/>
          <p:cNvSpPr/>
          <p:nvPr/>
        </p:nvSpPr>
        <p:spPr>
          <a:xfrm>
            <a:off x="6393028" y="3310128"/>
            <a:ext cx="2190674" cy="502920"/>
          </a:xfrm>
          <a:prstGeom prst="rect">
            <a:avLst/>
          </a:prstGeom>
          <a:noFill/>
          <a:ln/>
        </p:spPr>
        <p:txBody>
          <a:bodyPr wrap="square" lIns="0" tIns="0" rIns="0" bIns="0" rtlCol="0" anchor="t"/>
          <a:lstStyle/>
          <a:p>
            <a:pPr marL="0" indent="0" algn="r">
              <a:buNone/>
            </a:pPr>
            <a:r>
              <a:rPr lang="en-US" sz="1200" b="1" dirty="0">
                <a:solidFill>
                  <a:srgbClr val="1A2433"/>
                </a:solidFill>
                <a:latin typeface="Calibri" pitchFamily="34" charset="0"/>
                <a:ea typeface="Calibri" pitchFamily="34" charset="-122"/>
                <a:cs typeface="Calibri" pitchFamily="34" charset="-120"/>
              </a:rPr>
              <a:t>راکتورهای کاتالیستی</a:t>
            </a:r>
            <a:endParaRPr lang="en-US" sz="1200" dirty="0"/>
          </a:p>
        </p:txBody>
      </p:sp>
      <p:sp>
        <p:nvSpPr>
          <p:cNvPr id="12" name="Text 8"/>
          <p:cNvSpPr/>
          <p:nvPr/>
        </p:nvSpPr>
        <p:spPr>
          <a:xfrm>
            <a:off x="6393028" y="3822192"/>
            <a:ext cx="2190674" cy="822960"/>
          </a:xfrm>
          <a:prstGeom prst="rect">
            <a:avLst/>
          </a:prstGeom>
          <a:noFill/>
          <a:ln/>
        </p:spPr>
        <p:txBody>
          <a:bodyPr wrap="square" lIns="0" tIns="0" rIns="0" bIns="0" rtlCol="0" anchor="ctr"/>
          <a:lstStyle/>
          <a:p>
            <a:pPr marL="0" indent="0" algn="r">
              <a:lnSpc>
                <a:spcPct val="125000"/>
              </a:lnSpc>
              <a:buNone/>
            </a:pPr>
            <a:r>
              <a:rPr lang="en-US" sz="1000" dirty="0">
                <a:solidFill>
                  <a:srgbClr val="5C6B73"/>
                </a:solidFill>
                <a:latin typeface="Calibri" pitchFamily="34" charset="0"/>
                <a:ea typeface="Calibri" pitchFamily="34" charset="-122"/>
                <a:cs typeface="Calibri" pitchFamily="34" charset="-120"/>
              </a:rPr>
              <a:t>بیش از نیمی از فرآیندهای صنعتی به کاتالیست وابسته‌اند</a:t>
            </a:r>
            <a:endParaRPr lang="en-US" sz="1000" dirty="0"/>
          </a:p>
        </p:txBody>
      </p:sp>
      <p:sp>
        <p:nvSpPr>
          <p:cNvPr id="13" name="Shape 9"/>
          <p:cNvSpPr/>
          <p:nvPr/>
        </p:nvSpPr>
        <p:spPr>
          <a:xfrm>
            <a:off x="3425114" y="2743200"/>
            <a:ext cx="2556434" cy="1965960"/>
          </a:xfrm>
          <a:prstGeom prst="roundRect">
            <a:avLst>
              <a:gd name="adj" fmla="val 3721"/>
            </a:avLst>
          </a:prstGeom>
          <a:solidFill>
            <a:srgbClr val="F7F9FA"/>
          </a:solidFill>
          <a:ln/>
        </p:spPr>
      </p:sp>
      <p:pic>
        <p:nvPicPr>
          <p:cNvPr id="14" name="Image 2" descr="/home/claude/reactor_pptx/icons/chartline_navy.png"/>
          <p:cNvPicPr>
            <a:picLocks noChangeAspect="1"/>
          </p:cNvPicPr>
          <p:nvPr/>
        </p:nvPicPr>
        <p:blipFill>
          <a:blip r:embed="rId5"/>
          <a:stretch>
            <a:fillRect/>
          </a:stretch>
        </p:blipFill>
        <p:spPr>
          <a:xfrm>
            <a:off x="3626282" y="2944368"/>
            <a:ext cx="274320" cy="274320"/>
          </a:xfrm>
          <a:prstGeom prst="rect">
            <a:avLst/>
          </a:prstGeom>
        </p:spPr>
      </p:pic>
      <p:sp>
        <p:nvSpPr>
          <p:cNvPr id="15" name="Text 10"/>
          <p:cNvSpPr/>
          <p:nvPr/>
        </p:nvSpPr>
        <p:spPr>
          <a:xfrm>
            <a:off x="3607994" y="3310128"/>
            <a:ext cx="2190674" cy="502920"/>
          </a:xfrm>
          <a:prstGeom prst="rect">
            <a:avLst/>
          </a:prstGeom>
          <a:noFill/>
          <a:ln/>
        </p:spPr>
        <p:txBody>
          <a:bodyPr wrap="square" lIns="0" tIns="0" rIns="0" bIns="0" rtlCol="0" anchor="t"/>
          <a:lstStyle/>
          <a:p>
            <a:pPr marL="0" indent="0" algn="r">
              <a:buNone/>
            </a:pPr>
            <a:r>
              <a:rPr lang="en-US" sz="1200" b="1" dirty="0">
                <a:solidFill>
                  <a:srgbClr val="1A2433"/>
                </a:solidFill>
                <a:latin typeface="Calibri" pitchFamily="34" charset="0"/>
                <a:ea typeface="Calibri" pitchFamily="34" charset="-122"/>
                <a:cs typeface="Calibri" pitchFamily="34" charset="-120"/>
              </a:rPr>
              <a:t>رفتار غیرایده‌آل</a:t>
            </a:r>
            <a:endParaRPr lang="en-US" sz="1200" dirty="0"/>
          </a:p>
        </p:txBody>
      </p:sp>
      <p:sp>
        <p:nvSpPr>
          <p:cNvPr id="16" name="Text 11"/>
          <p:cNvSpPr/>
          <p:nvPr/>
        </p:nvSpPr>
        <p:spPr>
          <a:xfrm>
            <a:off x="3607994" y="3822192"/>
            <a:ext cx="2190674" cy="822960"/>
          </a:xfrm>
          <a:prstGeom prst="rect">
            <a:avLst/>
          </a:prstGeom>
          <a:noFill/>
          <a:ln/>
        </p:spPr>
        <p:txBody>
          <a:bodyPr wrap="square" lIns="0" tIns="0" rIns="0" bIns="0" rtlCol="0" anchor="ctr"/>
          <a:lstStyle/>
          <a:p>
            <a:pPr marL="0" indent="0" algn="r">
              <a:lnSpc>
                <a:spcPct val="125000"/>
              </a:lnSpc>
              <a:buNone/>
            </a:pPr>
            <a:r>
              <a:rPr lang="en-US" sz="1000" dirty="0">
                <a:solidFill>
                  <a:srgbClr val="5C6B73"/>
                </a:solidFill>
                <a:latin typeface="Calibri" pitchFamily="34" charset="0"/>
                <a:ea typeface="Calibri" pitchFamily="34" charset="-122"/>
                <a:cs typeface="Calibri" pitchFamily="34" charset="-120"/>
              </a:rPr>
              <a:t>ابزارهایی نظیر RTD برای طراحی دقیق صنعتی ضروری‌اند</a:t>
            </a:r>
            <a:endParaRPr lang="en-US" sz="1000" dirty="0"/>
          </a:p>
        </p:txBody>
      </p:sp>
      <p:sp>
        <p:nvSpPr>
          <p:cNvPr id="17" name="Shape 12"/>
          <p:cNvSpPr/>
          <p:nvPr/>
        </p:nvSpPr>
        <p:spPr>
          <a:xfrm>
            <a:off x="640080" y="2743200"/>
            <a:ext cx="2556434" cy="1965960"/>
          </a:xfrm>
          <a:prstGeom prst="roundRect">
            <a:avLst>
              <a:gd name="adj" fmla="val 3721"/>
            </a:avLst>
          </a:prstGeom>
          <a:solidFill>
            <a:srgbClr val="F7F9FA"/>
          </a:solidFill>
          <a:ln/>
        </p:spPr>
      </p:sp>
      <p:pic>
        <p:nvPicPr>
          <p:cNvPr id="18" name="Image 3" descr="/home/claude/reactor_pptx/icons/cogs_navy.png"/>
          <p:cNvPicPr>
            <a:picLocks noChangeAspect="1"/>
          </p:cNvPicPr>
          <p:nvPr/>
        </p:nvPicPr>
        <p:blipFill>
          <a:blip r:embed="rId6"/>
          <a:stretch>
            <a:fillRect/>
          </a:stretch>
        </p:blipFill>
        <p:spPr>
          <a:xfrm>
            <a:off x="841248" y="2944368"/>
            <a:ext cx="274320" cy="274320"/>
          </a:xfrm>
          <a:prstGeom prst="rect">
            <a:avLst/>
          </a:prstGeom>
        </p:spPr>
      </p:pic>
      <p:sp>
        <p:nvSpPr>
          <p:cNvPr id="19" name="Text 13"/>
          <p:cNvSpPr/>
          <p:nvPr/>
        </p:nvSpPr>
        <p:spPr>
          <a:xfrm>
            <a:off x="822960" y="3310128"/>
            <a:ext cx="2190674" cy="502920"/>
          </a:xfrm>
          <a:prstGeom prst="rect">
            <a:avLst/>
          </a:prstGeom>
          <a:noFill/>
          <a:ln/>
        </p:spPr>
        <p:txBody>
          <a:bodyPr wrap="square" lIns="0" tIns="0" rIns="0" bIns="0" rtlCol="0" anchor="t"/>
          <a:lstStyle/>
          <a:p>
            <a:pPr marL="0" indent="0" algn="r">
              <a:buNone/>
            </a:pPr>
            <a:r>
              <a:rPr lang="en-US" sz="1200" b="1" dirty="0">
                <a:solidFill>
                  <a:srgbClr val="1A2433"/>
                </a:solidFill>
                <a:latin typeface="Calibri" pitchFamily="34" charset="0"/>
                <a:ea typeface="Calibri" pitchFamily="34" charset="-122"/>
                <a:cs typeface="Calibri" pitchFamily="34" charset="-120"/>
              </a:rPr>
              <a:t>اجزا و مواد سازنده</a:t>
            </a:r>
            <a:endParaRPr lang="en-US" sz="1200" dirty="0"/>
          </a:p>
        </p:txBody>
      </p:sp>
      <p:sp>
        <p:nvSpPr>
          <p:cNvPr id="20" name="Text 14"/>
          <p:cNvSpPr/>
          <p:nvPr/>
        </p:nvSpPr>
        <p:spPr>
          <a:xfrm>
            <a:off x="822960" y="3822192"/>
            <a:ext cx="2190674" cy="822960"/>
          </a:xfrm>
          <a:prstGeom prst="rect">
            <a:avLst/>
          </a:prstGeom>
          <a:noFill/>
          <a:ln/>
        </p:spPr>
        <p:txBody>
          <a:bodyPr wrap="square" lIns="0" tIns="0" rIns="0" bIns="0" rtlCol="0" anchor="ctr"/>
          <a:lstStyle/>
          <a:p>
            <a:pPr marL="0" indent="0" algn="r">
              <a:lnSpc>
                <a:spcPct val="125000"/>
              </a:lnSpc>
              <a:buNone/>
            </a:pPr>
            <a:r>
              <a:rPr lang="en-US" sz="1000" dirty="0">
                <a:solidFill>
                  <a:srgbClr val="5C6B73"/>
                </a:solidFill>
                <a:latin typeface="Calibri" pitchFamily="34" charset="0"/>
                <a:ea typeface="Calibri" pitchFamily="34" charset="-122"/>
                <a:cs typeface="Calibri" pitchFamily="34" charset="-120"/>
              </a:rPr>
              <a:t>اهمیتی معادل طراحی نظری فرآیند دارند</a:t>
            </a:r>
            <a:endParaRPr lang="en-US" sz="1000" dirty="0"/>
          </a:p>
        </p:txBody>
      </p:sp>
      <p:sp>
        <p:nvSpPr>
          <p:cNvPr id="21" name="Shape 15"/>
          <p:cNvSpPr/>
          <p:nvPr/>
        </p:nvSpPr>
        <p:spPr>
          <a:xfrm>
            <a:off x="640080" y="5074920"/>
            <a:ext cx="10911535" cy="868680"/>
          </a:xfrm>
          <a:prstGeom prst="roundRect">
            <a:avLst>
              <a:gd name="adj" fmla="val 8421"/>
            </a:avLst>
          </a:prstGeom>
          <a:solidFill>
            <a:srgbClr val="0B2545"/>
          </a:solidFill>
          <a:ln/>
        </p:spPr>
      </p:sp>
      <p:sp>
        <p:nvSpPr>
          <p:cNvPr id="22" name="Text 16"/>
          <p:cNvSpPr/>
          <p:nvPr/>
        </p:nvSpPr>
        <p:spPr>
          <a:xfrm>
            <a:off x="914400" y="5074920"/>
            <a:ext cx="10362895" cy="868680"/>
          </a:xfrm>
          <a:prstGeom prst="rect">
            <a:avLst/>
          </a:prstGeom>
          <a:noFill/>
          <a:ln/>
        </p:spPr>
        <p:txBody>
          <a:bodyPr wrap="square" lIns="0" tIns="0" rIns="0" bIns="0" rtlCol="0" anchor="ctr"/>
          <a:lstStyle/>
          <a:p>
            <a:pPr marL="0" indent="0" algn="r">
              <a:lnSpc>
                <a:spcPct val="130000"/>
              </a:lnSpc>
              <a:buNone/>
            </a:pPr>
            <a:r>
              <a:rPr lang="en-US" sz="1250" i="1" dirty="0">
                <a:solidFill>
                  <a:srgbClr val="C7D9EE"/>
                </a:solidFill>
                <a:latin typeface="Calibri" pitchFamily="34" charset="0"/>
                <a:ea typeface="Calibri" pitchFamily="34" charset="-122"/>
                <a:cs typeface="Calibri" pitchFamily="34" charset="-120"/>
              </a:rPr>
              <a:t>این گزارش می‌تواند به‌عنوان مرجعی آموزشی برای دانشجویان مهندسی شیمی و راهنمایی کاربردی برای مهندسان فرآیند در صنعت مورد استفاده قرار گیرد.</a:t>
            </a:r>
            <a:endParaRPr lang="en-US" sz="1250" dirty="0"/>
          </a:p>
        </p:txBody>
      </p:sp>
      <p:sp>
        <p:nvSpPr>
          <p:cNvPr id="23" name="Text 17"/>
          <p:cNvSpPr/>
          <p:nvPr/>
        </p:nvSpPr>
        <p:spPr>
          <a:xfrm>
            <a:off x="11323015" y="6419088"/>
            <a:ext cx="548640" cy="274320"/>
          </a:xfrm>
          <a:prstGeom prst="rect">
            <a:avLst/>
          </a:prstGeom>
          <a:noFill/>
          <a:ln/>
        </p:spPr>
        <p:txBody>
          <a:bodyPr wrap="square" lIns="0" tIns="0" rIns="0" bIns="0" rtlCol="0" anchor="ctr"/>
          <a:lstStyle/>
          <a:p>
            <a:pPr marL="0" indent="0" algn="l">
              <a:buNone/>
            </a:pPr>
            <a:r>
              <a:rPr lang="en-US" sz="1000" dirty="0">
                <a:solidFill>
                  <a:srgbClr val="A3AFB8"/>
                </a:solidFill>
                <a:latin typeface="Calibri" pitchFamily="34" charset="0"/>
                <a:ea typeface="Calibri" pitchFamily="34" charset="-122"/>
                <a:cs typeface="Calibri" pitchFamily="34" charset="-120"/>
              </a:rPr>
              <a:t>29</a:t>
            </a:r>
            <a:endParaRPr lang="en-US" sz="1000" dirty="0"/>
          </a:p>
        </p:txBody>
      </p:sp>
      <p:sp>
        <p:nvSpPr>
          <p:cNvPr id="24" name="Text 18"/>
          <p:cNvSpPr/>
          <p:nvPr/>
        </p:nvSpPr>
        <p:spPr>
          <a:xfrm>
            <a:off x="548640" y="6419088"/>
            <a:ext cx="4572000" cy="274320"/>
          </a:xfrm>
          <a:prstGeom prst="rect">
            <a:avLst/>
          </a:prstGeom>
          <a:noFill/>
          <a:ln/>
        </p:spPr>
        <p:txBody>
          <a:bodyPr wrap="square" lIns="0" tIns="0" rIns="0" bIns="0" rtlCol="0" anchor="ctr"/>
          <a:lstStyle/>
          <a:p>
            <a:pPr marL="0" indent="0" algn="r">
              <a:buNone/>
            </a:pPr>
            <a:r>
              <a:rPr lang="en-US" sz="1000" dirty="0">
                <a:solidFill>
                  <a:srgbClr val="A3AFB8"/>
                </a:solidFill>
                <a:latin typeface="Calibri" pitchFamily="34" charset="0"/>
                <a:ea typeface="Calibri" pitchFamily="34" charset="-122"/>
                <a:cs typeface="Calibri" pitchFamily="34" charset="-120"/>
              </a:rPr>
              <a:t>راکتورهای شیمیایی  ·  دانشگاه سمنان</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2103120" y="-2286000"/>
            <a:ext cx="4937760" cy="4937760"/>
          </a:xfrm>
          <a:prstGeom prst="ellipse">
            <a:avLst/>
          </a:prstGeom>
          <a:solidFill>
            <a:srgbClr val="112C52"/>
          </a:solidFill>
          <a:ln/>
        </p:spPr>
      </p:sp>
      <p:sp>
        <p:nvSpPr>
          <p:cNvPr id="3" name="Shape 1"/>
          <p:cNvSpPr/>
          <p:nvPr/>
        </p:nvSpPr>
        <p:spPr>
          <a:xfrm>
            <a:off x="9875520" y="4114800"/>
            <a:ext cx="4572000" cy="4572000"/>
          </a:xfrm>
          <a:prstGeom prst="ellipse">
            <a:avLst/>
          </a:prstGeom>
          <a:solidFill>
            <a:srgbClr val="112C52"/>
          </a:solidFill>
          <a:ln/>
        </p:spPr>
      </p:sp>
      <p:sp>
        <p:nvSpPr>
          <p:cNvPr id="4" name="Shape 2"/>
          <p:cNvSpPr/>
          <p:nvPr/>
        </p:nvSpPr>
        <p:spPr>
          <a:xfrm>
            <a:off x="10607040" y="4846320"/>
            <a:ext cx="2194560" cy="2194560"/>
          </a:xfrm>
          <a:prstGeom prst="ellipse">
            <a:avLst/>
          </a:prstGeom>
          <a:solidFill>
            <a:srgbClr val="0E7C7B"/>
          </a:solidFill>
          <a:ln/>
        </p:spPr>
      </p:sp>
      <p:pic>
        <p:nvPicPr>
          <p:cNvPr id="5" name="Image 0" descr="/home/claude/reactor_pptx/icons/flask_teal.png"/>
          <p:cNvPicPr>
            <a:picLocks noChangeAspect="1"/>
          </p:cNvPicPr>
          <p:nvPr/>
        </p:nvPicPr>
        <p:blipFill>
          <a:blip r:embed="rId3"/>
          <a:stretch>
            <a:fillRect/>
          </a:stretch>
        </p:blipFill>
        <p:spPr>
          <a:xfrm>
            <a:off x="5730088" y="1828800"/>
            <a:ext cx="731520" cy="731520"/>
          </a:xfrm>
          <a:prstGeom prst="rect">
            <a:avLst/>
          </a:prstGeom>
        </p:spPr>
      </p:pic>
      <p:sp>
        <p:nvSpPr>
          <p:cNvPr id="6" name="Text 3"/>
          <p:cNvSpPr/>
          <p:nvPr/>
        </p:nvSpPr>
        <p:spPr>
          <a:xfrm>
            <a:off x="822960" y="2788920"/>
            <a:ext cx="10515600" cy="82296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با سپاس از توجه شما</a:t>
            </a:r>
            <a:endParaRPr lang="en-US" sz="3600" dirty="0"/>
          </a:p>
        </p:txBody>
      </p:sp>
      <p:sp>
        <p:nvSpPr>
          <p:cNvPr id="7" name="Text 4"/>
          <p:cNvSpPr/>
          <p:nvPr/>
        </p:nvSpPr>
        <p:spPr>
          <a:xfrm>
            <a:off x="822960" y="3611880"/>
            <a:ext cx="10515600" cy="457200"/>
          </a:xfrm>
          <a:prstGeom prst="rect">
            <a:avLst/>
          </a:prstGeom>
          <a:noFill/>
          <a:ln/>
        </p:spPr>
        <p:txBody>
          <a:bodyPr wrap="square" lIns="0" tIns="0" rIns="0" bIns="0" rtlCol="0" anchor="ctr"/>
          <a:lstStyle/>
          <a:p>
            <a:pPr marL="0" indent="0" algn="ctr">
              <a:buNone/>
            </a:pPr>
            <a:r>
              <a:rPr lang="en-US" sz="1600" dirty="0">
                <a:solidFill>
                  <a:srgbClr val="C7D9EE"/>
                </a:solidFill>
                <a:latin typeface="Calibri" pitchFamily="34" charset="0"/>
                <a:ea typeface="Calibri" pitchFamily="34" charset="-122"/>
                <a:cs typeface="Calibri" pitchFamily="34" charset="-120"/>
              </a:rPr>
              <a:t>بررسی جامع انواع راکتورهای شیمیایی  ·  پرسش و پاسخ</a:t>
            </a:r>
            <a:endParaRPr lang="en-US" sz="1600" dirty="0"/>
          </a:p>
        </p:txBody>
      </p:sp>
      <p:sp>
        <p:nvSpPr>
          <p:cNvPr id="8" name="Text 5"/>
          <p:cNvSpPr/>
          <p:nvPr/>
        </p:nvSpPr>
        <p:spPr>
          <a:xfrm>
            <a:off x="822960" y="4937760"/>
            <a:ext cx="10515600" cy="1005840"/>
          </a:xfrm>
          <a:prstGeom prst="rect">
            <a:avLst/>
          </a:prstGeom>
          <a:noFill/>
          <a:ln/>
        </p:spPr>
        <p:txBody>
          <a:bodyPr wrap="square" lIns="0" tIns="0" rIns="0" bIns="0" rtlCol="0" anchor="ctr"/>
          <a:lstStyle/>
          <a:p>
            <a:pPr marL="0" indent="0" algn="ctr">
              <a:lnSpc>
                <a:spcPct val="140000"/>
              </a:lnSpc>
              <a:buNone/>
            </a:pPr>
            <a:r>
              <a:rPr lang="en-US" sz="1300" b="1" dirty="0">
                <a:solidFill>
                  <a:srgbClr val="9FB3C8"/>
                </a:solidFill>
                <a:latin typeface="Calibri" pitchFamily="34" charset="0"/>
                <a:ea typeface="Calibri" pitchFamily="34" charset="-122"/>
                <a:cs typeface="Calibri" pitchFamily="34" charset="-120"/>
              </a:rPr>
              <a:t>محمد حسن ربیعی</a:t>
            </a:r>
            <a:endParaRPr lang="en-US" sz="1300" dirty="0"/>
          </a:p>
          <a:p>
            <a:pPr marL="0" indent="0" algn="ctr">
              <a:lnSpc>
                <a:spcPct val="140000"/>
              </a:lnSpc>
              <a:buNone/>
            </a:pPr>
            <a:r>
              <a:rPr lang="en-US" sz="1300" dirty="0">
                <a:solidFill>
                  <a:srgbClr val="9FB3C8"/>
                </a:solidFill>
                <a:latin typeface="Calibri" pitchFamily="34" charset="0"/>
                <a:ea typeface="Calibri" pitchFamily="34" charset="-122"/>
                <a:cs typeface="Calibri" pitchFamily="34" charset="-120"/>
              </a:rPr>
              <a:t>استاد راهنما: دکتر محمد نادر لطف‌الهی</a:t>
            </a:r>
            <a:endParaRPr lang="en-US" sz="1300" dirty="0"/>
          </a:p>
          <a:p>
            <a:pPr marL="0" indent="0" algn="ctr">
              <a:lnSpc>
                <a:spcPct val="140000"/>
              </a:lnSpc>
              <a:buNone/>
            </a:pPr>
            <a:r>
              <a:rPr lang="en-US" sz="1300" dirty="0">
                <a:solidFill>
                  <a:srgbClr val="9FB3C8"/>
                </a:solidFill>
                <a:latin typeface="Calibri" pitchFamily="34" charset="0"/>
                <a:ea typeface="Calibri" pitchFamily="34" charset="-122"/>
                <a:cs typeface="Calibri" pitchFamily="34" charset="-120"/>
              </a:rPr>
              <a:t>دانشکده شیمی و نفت و گاز  ·  دانشگاه سمنان  ·  خرداد ۱۴۰۵</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2377</Words>
  <Application>Microsoft Office PowerPoint</Application>
  <PresentationFormat>Widescreen</PresentationFormat>
  <Paragraphs>465</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بررسی جامع انواع راکتورهای شیمیایی</dc:title>
  <dc:subject>PptxGenJS Presentation</dc:subject>
  <dc:creator>محمد حسن ربیعی</dc:creator>
  <cp:lastModifiedBy>989024045026</cp:lastModifiedBy>
  <cp:revision>1</cp:revision>
  <dcterms:created xsi:type="dcterms:W3CDTF">2026-06-20T17:15:19Z</dcterms:created>
  <dcterms:modified xsi:type="dcterms:W3CDTF">2026-06-20T17:19:47Z</dcterms:modified>
</cp:coreProperties>
</file>